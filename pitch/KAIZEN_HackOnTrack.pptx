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6" Type="http://schemas.openxmlformats.org/officeDocument/2006/relationships/hyperlink" Target="https://arxiv.org/abs/2310.06770" TargetMode="External"/><Relationship Id="rId17" Type="http://schemas.openxmlformats.org/officeDocument/2006/relationships/hyperlink" Target="https://arxiv.org/abs/2404.05427" TargetMode="External"/><Relationship Id="rId18" Type="http://schemas.openxmlformats.org/officeDocument/2006/relationships/hyperlink" Target="https://arxiv.org/abs/2112.02125" TargetMode="External"/><Relationship Id="rId19" Type="http://schemas.openxmlformats.org/officeDocument/2006/relationships/hyperlink" Target="https://cwe.mitre.org/top25/"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slideLayout" Target="../slideLayouts/slideLayout1.xml"/><Relationship Id="rId2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1_x7_-245_-228_1882x1038.png">    </p:cNvPr>
          <p:cNvPicPr>
            <a:picLocks noChangeAspect="1"/>
          </p:cNvPicPr>
          <p:nvPr/>
        </p:nvPicPr>
        <p:blipFill>
          <a:blip r:embed="rId1"/>
          <a:stretch>
            <a:fillRect/>
          </a:stretch>
        </p:blipFill>
        <p:spPr>
          <a:xfrm>
            <a:off x="-3108960" y="-2898648"/>
            <a:ext cx="23902416" cy="13185648"/>
          </a:xfrm>
          <a:prstGeom prst="rect">
            <a:avLst/>
          </a:prstGeom>
        </p:spPr>
      </p:pic>
      <p:pic>
        <p:nvPicPr>
          <p:cNvPr id="3" name="Image 1" descr="C:\Users\Admin\AppData\Local\Temp\claude\C--Users-Admin-Documents-Projects-HackOnTrack\4c97a385-1eae-4d0d-a267-e15be26504cc\scratchpad\deck\img\p1_x38_20_23_121x119.png">    </p:cNvPr>
          <p:cNvPicPr>
            <a:picLocks noChangeAspect="1"/>
          </p:cNvPicPr>
          <p:nvPr/>
        </p:nvPicPr>
        <p:blipFill>
          <a:blip r:embed="rId2"/>
          <a:stretch>
            <a:fillRect/>
          </a:stretch>
        </p:blipFill>
        <p:spPr>
          <a:xfrm>
            <a:off x="256032" y="292608"/>
            <a:ext cx="1536192" cy="1508760"/>
          </a:xfrm>
          <a:prstGeom prst="rect">
            <a:avLst/>
          </a:prstGeom>
        </p:spPr>
      </p:pic>
      <p:pic>
        <p:nvPicPr>
          <p:cNvPr id="4" name="Image 2" descr="C:\Users\Admin\AppData\Local\Temp\claude\C--Users-Admin-Documents-Projects-HackOnTrack\4c97a385-1eae-4d0d-a267-e15be26504cc\scratchpad\deck\img\p1_x36_1299_22_119x119.png">    </p:cNvPr>
          <p:cNvPicPr>
            <a:picLocks noChangeAspect="1"/>
          </p:cNvPicPr>
          <p:nvPr/>
        </p:nvPicPr>
        <p:blipFill>
          <a:blip r:embed="rId3"/>
          <a:stretch>
            <a:fillRect/>
          </a:stretch>
        </p:blipFill>
        <p:spPr>
          <a:xfrm>
            <a:off x="16495776" y="274320"/>
            <a:ext cx="1508760" cy="1508760"/>
          </a:xfrm>
          <a:prstGeom prst="rect">
            <a:avLst/>
          </a:prstGeom>
        </p:spPr>
      </p:pic>
      <p:pic>
        <p:nvPicPr>
          <p:cNvPr id="5" name="Image 3" descr="C:\Users\Admin\AppData\Local\Temp\claude\C--Users-Admin-Documents-Projects-HackOnTrack\4c97a385-1eae-4d0d-a267-e15be26504cc\scratchpad\deck\img\p1_x16_299_-7_840x279.png">    </p:cNvPr>
          <p:cNvPicPr>
            <a:picLocks noChangeAspect="1"/>
          </p:cNvPicPr>
          <p:nvPr/>
        </p:nvPicPr>
        <p:blipFill>
          <a:blip r:embed="rId4"/>
          <a:stretch>
            <a:fillRect/>
          </a:stretch>
        </p:blipFill>
        <p:spPr>
          <a:xfrm>
            <a:off x="3794760" y="-91440"/>
            <a:ext cx="10671048" cy="3543300"/>
          </a:xfrm>
          <a:prstGeom prst="rect">
            <a:avLst/>
          </a:prstGeom>
        </p:spPr>
      </p:pic>
      <p:sp>
        <p:nvSpPr>
          <p:cNvPr id="6" name="Shape 0"/>
          <p:cNvSpPr/>
          <p:nvPr/>
        </p:nvSpPr>
        <p:spPr>
          <a:xfrm>
            <a:off x="1033272" y="3401568"/>
            <a:ext cx="7680960" cy="2176272"/>
          </a:xfrm>
          <a:prstGeom prst="roundRect">
            <a:avLst>
              <a:gd name="adj" fmla="val 5882"/>
            </a:avLst>
          </a:prstGeom>
          <a:solidFill>
            <a:srgbClr val="1B2440">
              <a:alpha val="78000"/>
            </a:srgbClr>
          </a:solidFill>
          <a:ln/>
        </p:spPr>
      </p:sp>
      <p:sp>
        <p:nvSpPr>
          <p:cNvPr id="7" name="Text 1"/>
          <p:cNvSpPr txBox="1"/>
          <p:nvPr/>
        </p:nvSpPr>
        <p:spPr>
          <a:xfrm>
            <a:off x="1325880" y="3639312"/>
            <a:ext cx="7132320" cy="64008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Team Name : </a:t>
            </a:r>
            <a:pPr indent="0" marL="0">
              <a:buNone/>
            </a:pPr>
            <a:r>
              <a:rPr lang="en-US" sz="3000" b="1" dirty="0">
                <a:solidFill>
                  <a:srgbClr val="FFC21A"/>
                </a:solidFill>
                <a:latin typeface="Calibri" pitchFamily="34" charset="0"/>
                <a:ea typeface="Calibri" pitchFamily="34" charset="-122"/>
                <a:cs typeface="Calibri" pitchFamily="34" charset="-120"/>
              </a:rPr>
              <a:t>KAIZEN</a:t>
            </a:r>
            <a:endParaRPr lang="en-US" sz="3000" dirty="0"/>
          </a:p>
        </p:txBody>
      </p:sp>
      <p:sp>
        <p:nvSpPr>
          <p:cNvPr id="8" name="Text 2"/>
          <p:cNvSpPr txBox="1"/>
          <p:nvPr/>
        </p:nvSpPr>
        <p:spPr>
          <a:xfrm>
            <a:off x="1325880" y="4681728"/>
            <a:ext cx="7132320" cy="64008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Domain : </a:t>
            </a:r>
            <a:pPr indent="0" marL="0">
              <a:buNone/>
            </a:pPr>
            <a:r>
              <a:rPr lang="en-US" sz="3000" b="1" dirty="0">
                <a:solidFill>
                  <a:srgbClr val="FFC21A"/>
                </a:solidFill>
                <a:latin typeface="Calibri" pitchFamily="34" charset="0"/>
                <a:ea typeface="Calibri" pitchFamily="34" charset="-122"/>
                <a:cs typeface="Calibri" pitchFamily="34" charset="-120"/>
              </a:rPr>
              <a:t>Cyber Security</a:t>
            </a:r>
            <a:endParaRPr lang="en-US" sz="3000" dirty="0"/>
          </a:p>
        </p:txBody>
      </p:sp>
      <p:sp>
        <p:nvSpPr>
          <p:cNvPr id="9" name="Shape 3"/>
          <p:cNvSpPr/>
          <p:nvPr/>
        </p:nvSpPr>
        <p:spPr>
          <a:xfrm>
            <a:off x="1033272" y="5779008"/>
            <a:ext cx="7680960" cy="2697480"/>
          </a:xfrm>
          <a:prstGeom prst="roundRect">
            <a:avLst>
              <a:gd name="adj" fmla="val 4746"/>
            </a:avLst>
          </a:prstGeom>
          <a:solidFill>
            <a:srgbClr val="1B2440">
              <a:alpha val="78000"/>
            </a:srgbClr>
          </a:solidFill>
          <a:ln/>
        </p:spPr>
      </p:sp>
      <p:sp>
        <p:nvSpPr>
          <p:cNvPr id="10" name="Text 4"/>
          <p:cNvSpPr txBox="1"/>
          <p:nvPr/>
        </p:nvSpPr>
        <p:spPr>
          <a:xfrm>
            <a:off x="1325880" y="5989320"/>
            <a:ext cx="713232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Problem Statement Title:</a:t>
            </a:r>
            <a:endParaRPr lang="en-US" sz="2800" dirty="0"/>
          </a:p>
        </p:txBody>
      </p:sp>
      <p:sp>
        <p:nvSpPr>
          <p:cNvPr id="11" name="Text 5"/>
          <p:cNvSpPr txBox="1"/>
          <p:nvPr/>
        </p:nvSpPr>
        <p:spPr>
          <a:xfrm>
            <a:off x="1325880" y="6629400"/>
            <a:ext cx="7178040" cy="1691640"/>
          </a:xfrm>
          <a:prstGeom prst="rect">
            <a:avLst/>
          </a:prstGeom>
          <a:noFill/>
          <a:ln/>
        </p:spPr>
        <p:txBody>
          <a:bodyPr wrap="square" lIns="0" tIns="0" rIns="0" bIns="0" rtlCol="0" anchor="t"/>
          <a:lstStyle/>
          <a:p>
            <a:pPr indent="0" marL="0">
              <a:buNone/>
            </a:pPr>
            <a:r>
              <a:rPr lang="en-US" sz="1900" dirty="0">
                <a:solidFill>
                  <a:srgbClr val="FFC21A"/>
                </a:solidFill>
                <a:latin typeface="Calibri" pitchFamily="34" charset="0"/>
                <a:ea typeface="Calibri" pitchFamily="34" charset="-122"/>
                <a:cs typeface="Calibri" pitchFamily="34" charset="-120"/>
              </a:rPr>
              <a:t>Given a vulnerable open-source repository, build an AI agent that locates the security bug, writes a patch, and proves the fix does not break the existing test suite.</a:t>
            </a:r>
            <a:endParaRPr lang="en-US" sz="1900" dirty="0"/>
          </a:p>
        </p:txBody>
      </p:sp>
      <p:sp>
        <p:nvSpPr>
          <p:cNvPr id="12" name="Shape 6"/>
          <p:cNvSpPr/>
          <p:nvPr/>
        </p:nvSpPr>
        <p:spPr>
          <a:xfrm>
            <a:off x="9555480" y="3401568"/>
            <a:ext cx="7699248" cy="5074920"/>
          </a:xfrm>
          <a:prstGeom prst="roundRect">
            <a:avLst>
              <a:gd name="adj" fmla="val 2523"/>
            </a:avLst>
          </a:prstGeom>
          <a:solidFill>
            <a:srgbClr val="1B2440">
              <a:alpha val="78000"/>
            </a:srgbClr>
          </a:solidFill>
          <a:ln/>
        </p:spPr>
      </p:sp>
      <p:sp>
        <p:nvSpPr>
          <p:cNvPr id="13" name="Text 7"/>
          <p:cNvSpPr txBox="1"/>
          <p:nvPr/>
        </p:nvSpPr>
        <p:spPr>
          <a:xfrm>
            <a:off x="9875520" y="3584448"/>
            <a:ext cx="713232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Abstract :</a:t>
            </a:r>
            <a:endParaRPr lang="en-US" sz="2800" dirty="0"/>
          </a:p>
        </p:txBody>
      </p:sp>
      <p:sp>
        <p:nvSpPr>
          <p:cNvPr id="14" name="Text 8"/>
          <p:cNvSpPr txBox="1"/>
          <p:nvPr/>
        </p:nvSpPr>
        <p:spPr>
          <a:xfrm>
            <a:off x="9875520" y="4160520"/>
            <a:ext cx="7178040" cy="2377440"/>
          </a:xfrm>
          <a:prstGeom prst="rect">
            <a:avLst/>
          </a:prstGeom>
          <a:noFill/>
          <a:ln/>
        </p:spPr>
        <p:txBody>
          <a:bodyPr wrap="square" lIns="0" tIns="0" rIns="0" bIns="0" rtlCol="0" anchor="t"/>
          <a:lstStyle/>
          <a:p>
            <a:pPr indent="0" marL="0">
              <a:buNone/>
            </a:pPr>
            <a:r>
              <a:rPr lang="en-US" sz="1650" b="1" dirty="0">
                <a:solidFill>
                  <a:srgbClr val="FFC21A"/>
                </a:solidFill>
                <a:latin typeface="Calibri" pitchFamily="34" charset="0"/>
                <a:ea typeface="Calibri" pitchFamily="34" charset="-122"/>
                <a:cs typeface="Calibri" pitchFamily="34" charset="-120"/>
              </a:rPr>
              <a:t>KAIZEN</a:t>
            </a:r>
            <a:pPr indent="0" marL="0">
              <a:buNone/>
            </a:pPr>
            <a:r>
              <a:rPr lang="en-US" sz="1650" dirty="0">
                <a:solidFill>
                  <a:srgbClr val="FFFFFF"/>
                </a:solidFill>
                <a:latin typeface="Calibri" pitchFamily="34" charset="0"/>
                <a:ea typeface="Calibri" pitchFamily="34" charset="-122"/>
                <a:cs typeface="Calibri" pitchFamily="34" charset="-120"/>
              </a:rPr>
              <a:t> is an autonomous security-repair agent for GitHub repositories. On every push it scans the code (own rules + Bandit + Semgrep + CodeQL), lets an LLM trace each finding to its root cause, writes an exploit test that must fail on the original code, patches the bug, and accepts the fix only when the exploit is blocked and the repository's own test suite shows no new failures. Verified fixes ship as a pull request with a hashed evidence package.</a:t>
            </a:r>
            <a:endParaRPr lang="en-US" sz="1650" dirty="0"/>
          </a:p>
        </p:txBody>
      </p:sp>
      <p:sp>
        <p:nvSpPr>
          <p:cNvPr id="15" name="Text 9"/>
          <p:cNvSpPr txBox="1"/>
          <p:nvPr/>
        </p:nvSpPr>
        <p:spPr>
          <a:xfrm>
            <a:off x="9875520" y="6473952"/>
            <a:ext cx="7132320" cy="45720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Results at a glance :</a:t>
            </a:r>
            <a:endParaRPr lang="en-US" sz="2100" dirty="0"/>
          </a:p>
        </p:txBody>
      </p:sp>
      <p:sp>
        <p:nvSpPr>
          <p:cNvPr id="16" name="Shape 10"/>
          <p:cNvSpPr/>
          <p:nvPr/>
        </p:nvSpPr>
        <p:spPr>
          <a:xfrm>
            <a:off x="9875520" y="6967728"/>
            <a:ext cx="1700784" cy="1298448"/>
          </a:xfrm>
          <a:prstGeom prst="roundRect">
            <a:avLst>
              <a:gd name="adj" fmla="val 7042"/>
            </a:avLst>
          </a:prstGeom>
          <a:solidFill>
            <a:srgbClr val="0F1630"/>
          </a:solidFill>
          <a:ln w="15875">
            <a:solidFill>
              <a:srgbClr val="3A4A8A"/>
            </a:solidFill>
            <a:prstDash val="solid"/>
          </a:ln>
        </p:spPr>
      </p:sp>
      <p:sp>
        <p:nvSpPr>
          <p:cNvPr id="17" name="Text 11"/>
          <p:cNvSpPr txBox="1"/>
          <p:nvPr/>
        </p:nvSpPr>
        <p:spPr>
          <a:xfrm>
            <a:off x="9875520" y="7040880"/>
            <a:ext cx="1700784" cy="548640"/>
          </a:xfrm>
          <a:prstGeom prst="rect">
            <a:avLst/>
          </a:prstGeom>
          <a:noFill/>
          <a:ln/>
        </p:spPr>
        <p:txBody>
          <a:bodyPr wrap="square" lIns="0" tIns="0" rIns="0" bIns="0" rtlCol="0" anchor="t"/>
          <a:lstStyle/>
          <a:p>
            <a:pPr algn="ctr" indent="0" marL="0">
              <a:buNone/>
            </a:pPr>
            <a:r>
              <a:rPr lang="en-US" sz="2400" b="1" dirty="0">
                <a:solidFill>
                  <a:srgbClr val="FFC21A"/>
                </a:solidFill>
                <a:latin typeface="Calibri" pitchFamily="34" charset="0"/>
                <a:ea typeface="Calibri" pitchFamily="34" charset="-122"/>
                <a:cs typeface="Calibri" pitchFamily="34" charset="-120"/>
              </a:rPr>
              <a:t>4 / 4</a:t>
            </a:r>
            <a:endParaRPr lang="en-US" sz="2400" dirty="0"/>
          </a:p>
        </p:txBody>
      </p:sp>
      <p:sp>
        <p:nvSpPr>
          <p:cNvPr id="18" name="Text 12"/>
          <p:cNvSpPr txBox="1"/>
          <p:nvPr/>
        </p:nvSpPr>
        <p:spPr>
          <a:xfrm>
            <a:off x="9948672" y="7589520"/>
            <a:ext cx="1554480" cy="640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bugs fixed + verified in 11 s</a:t>
            </a:r>
            <a:endParaRPr lang="en-US" sz="1150" dirty="0"/>
          </a:p>
        </p:txBody>
      </p:sp>
      <p:sp>
        <p:nvSpPr>
          <p:cNvPr id="19" name="Shape 13"/>
          <p:cNvSpPr/>
          <p:nvPr/>
        </p:nvSpPr>
        <p:spPr>
          <a:xfrm>
            <a:off x="11686032" y="6967728"/>
            <a:ext cx="1700784" cy="1298448"/>
          </a:xfrm>
          <a:prstGeom prst="roundRect">
            <a:avLst>
              <a:gd name="adj" fmla="val 7042"/>
            </a:avLst>
          </a:prstGeom>
          <a:solidFill>
            <a:srgbClr val="0F1630"/>
          </a:solidFill>
          <a:ln w="15875">
            <a:solidFill>
              <a:srgbClr val="3A4A8A"/>
            </a:solidFill>
            <a:prstDash val="solid"/>
          </a:ln>
        </p:spPr>
      </p:sp>
      <p:sp>
        <p:nvSpPr>
          <p:cNvPr id="20" name="Text 14"/>
          <p:cNvSpPr txBox="1"/>
          <p:nvPr/>
        </p:nvSpPr>
        <p:spPr>
          <a:xfrm>
            <a:off x="11686032" y="7040880"/>
            <a:ext cx="1700784" cy="548640"/>
          </a:xfrm>
          <a:prstGeom prst="rect">
            <a:avLst/>
          </a:prstGeom>
          <a:noFill/>
          <a:ln/>
        </p:spPr>
        <p:txBody>
          <a:bodyPr wrap="square" lIns="0" tIns="0" rIns="0" bIns="0" rtlCol="0" anchor="t"/>
          <a:lstStyle/>
          <a:p>
            <a:pPr algn="ctr" indent="0" marL="0">
              <a:buNone/>
            </a:pPr>
            <a:r>
              <a:rPr lang="en-US" sz="2400" b="1" dirty="0">
                <a:solidFill>
                  <a:srgbClr val="FFC21A"/>
                </a:solidFill>
                <a:latin typeface="Calibri" pitchFamily="34" charset="0"/>
                <a:ea typeface="Calibri" pitchFamily="34" charset="-122"/>
                <a:cs typeface="Calibri" pitchFamily="34" charset="-120"/>
              </a:rPr>
              <a:t>13</a:t>
            </a:r>
            <a:endParaRPr lang="en-US" sz="2400" dirty="0"/>
          </a:p>
        </p:txBody>
      </p:sp>
      <p:sp>
        <p:nvSpPr>
          <p:cNvPr id="21" name="Text 15"/>
          <p:cNvSpPr txBox="1"/>
          <p:nvPr/>
        </p:nvSpPr>
        <p:spPr>
          <a:xfrm>
            <a:off x="11759184" y="7589520"/>
            <a:ext cx="1554480" cy="640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CWE classes · Python, JS, TS</a:t>
            </a:r>
            <a:endParaRPr lang="en-US" sz="1150" dirty="0"/>
          </a:p>
        </p:txBody>
      </p:sp>
      <p:sp>
        <p:nvSpPr>
          <p:cNvPr id="22" name="Shape 16"/>
          <p:cNvSpPr/>
          <p:nvPr/>
        </p:nvSpPr>
        <p:spPr>
          <a:xfrm>
            <a:off x="13496544" y="6967728"/>
            <a:ext cx="1700784" cy="1298448"/>
          </a:xfrm>
          <a:prstGeom prst="roundRect">
            <a:avLst>
              <a:gd name="adj" fmla="val 7042"/>
            </a:avLst>
          </a:prstGeom>
          <a:solidFill>
            <a:srgbClr val="0F1630"/>
          </a:solidFill>
          <a:ln w="15875">
            <a:solidFill>
              <a:srgbClr val="3A4A8A"/>
            </a:solidFill>
            <a:prstDash val="solid"/>
          </a:ln>
        </p:spPr>
      </p:sp>
      <p:sp>
        <p:nvSpPr>
          <p:cNvPr id="23" name="Text 17"/>
          <p:cNvSpPr txBox="1"/>
          <p:nvPr/>
        </p:nvSpPr>
        <p:spPr>
          <a:xfrm>
            <a:off x="13496544" y="7040880"/>
            <a:ext cx="1700784" cy="548640"/>
          </a:xfrm>
          <a:prstGeom prst="rect">
            <a:avLst/>
          </a:prstGeom>
          <a:noFill/>
          <a:ln/>
        </p:spPr>
        <p:txBody>
          <a:bodyPr wrap="square" lIns="0" tIns="0" rIns="0" bIns="0" rtlCol="0" anchor="t"/>
          <a:lstStyle/>
          <a:p>
            <a:pPr algn="ctr" indent="0" marL="0">
              <a:buNone/>
            </a:pPr>
            <a:r>
              <a:rPr lang="en-US" sz="2400" b="1" dirty="0">
                <a:solidFill>
                  <a:srgbClr val="FFC21A"/>
                </a:solidFill>
                <a:latin typeface="Calibri" pitchFamily="34" charset="0"/>
                <a:ea typeface="Calibri" pitchFamily="34" charset="-122"/>
                <a:cs typeface="Calibri" pitchFamily="34" charset="-120"/>
              </a:rPr>
              <a:t>≤ 60 s</a:t>
            </a:r>
            <a:endParaRPr lang="en-US" sz="2400" dirty="0"/>
          </a:p>
        </p:txBody>
      </p:sp>
      <p:sp>
        <p:nvSpPr>
          <p:cNvPr id="24" name="Text 18"/>
          <p:cNvSpPr txBox="1"/>
          <p:nvPr/>
        </p:nvSpPr>
        <p:spPr>
          <a:xfrm>
            <a:off x="13569696" y="7589520"/>
            <a:ext cx="1554480" cy="640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push → flagged on dashboard</a:t>
            </a:r>
            <a:endParaRPr lang="en-US" sz="1150" dirty="0"/>
          </a:p>
        </p:txBody>
      </p:sp>
      <p:sp>
        <p:nvSpPr>
          <p:cNvPr id="25" name="Shape 19"/>
          <p:cNvSpPr/>
          <p:nvPr/>
        </p:nvSpPr>
        <p:spPr>
          <a:xfrm>
            <a:off x="15307056" y="6967728"/>
            <a:ext cx="1700784" cy="1298448"/>
          </a:xfrm>
          <a:prstGeom prst="roundRect">
            <a:avLst>
              <a:gd name="adj" fmla="val 7042"/>
            </a:avLst>
          </a:prstGeom>
          <a:solidFill>
            <a:srgbClr val="0F1630"/>
          </a:solidFill>
          <a:ln w="15875">
            <a:solidFill>
              <a:srgbClr val="3A4A8A"/>
            </a:solidFill>
            <a:prstDash val="solid"/>
          </a:ln>
        </p:spPr>
      </p:sp>
      <p:sp>
        <p:nvSpPr>
          <p:cNvPr id="26" name="Text 20"/>
          <p:cNvSpPr txBox="1"/>
          <p:nvPr/>
        </p:nvSpPr>
        <p:spPr>
          <a:xfrm>
            <a:off x="15307056" y="7040880"/>
            <a:ext cx="1700784" cy="548640"/>
          </a:xfrm>
          <a:prstGeom prst="rect">
            <a:avLst/>
          </a:prstGeom>
          <a:noFill/>
          <a:ln/>
        </p:spPr>
        <p:txBody>
          <a:bodyPr wrap="square" lIns="0" tIns="0" rIns="0" bIns="0" rtlCol="0" anchor="t"/>
          <a:lstStyle/>
          <a:p>
            <a:pPr algn="ctr" indent="0" marL="0">
              <a:buNone/>
            </a:pPr>
            <a:r>
              <a:rPr lang="en-US" sz="2400" b="1" dirty="0">
                <a:solidFill>
                  <a:srgbClr val="FFC21A"/>
                </a:solidFill>
                <a:latin typeface="Calibri" pitchFamily="34" charset="0"/>
                <a:ea typeface="Calibri" pitchFamily="34" charset="-122"/>
                <a:cs typeface="Calibri" pitchFamily="34" charset="-120"/>
              </a:rPr>
              <a:t>200+</a:t>
            </a:r>
            <a:endParaRPr lang="en-US" sz="2400" dirty="0"/>
          </a:p>
        </p:txBody>
      </p:sp>
      <p:sp>
        <p:nvSpPr>
          <p:cNvPr id="27" name="Text 21"/>
          <p:cNvSpPr txBox="1"/>
          <p:nvPr/>
        </p:nvSpPr>
        <p:spPr>
          <a:xfrm>
            <a:off x="15380208" y="7589520"/>
            <a:ext cx="1554480" cy="64008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automated tests on KAIZEN</a:t>
            </a:r>
            <a:endParaRPr lang="en-US" sz="1150" dirty="0"/>
          </a:p>
        </p:txBody>
      </p:sp>
      <p:pic>
        <p:nvPicPr>
          <p:cNvPr id="28" name="Image 4" descr="C:\Users\Admin\AppData\Local\Temp\claude\C--Users-Admin-Documents-Projects-HackOnTrack\4c97a385-1eae-4d0d-a267-e15be26504cc\scratchpad\deck\img\p1_x14_-38_684_200x150.png">    </p:cNvPr>
          <p:cNvPicPr>
            <a:picLocks noChangeAspect="1"/>
          </p:cNvPicPr>
          <p:nvPr/>
        </p:nvPicPr>
        <p:blipFill>
          <a:blip r:embed="rId5"/>
          <a:stretch>
            <a:fillRect/>
          </a:stretch>
        </p:blipFill>
        <p:spPr>
          <a:xfrm>
            <a:off x="-484632" y="8686800"/>
            <a:ext cx="2542032" cy="1901952"/>
          </a:xfrm>
          <a:prstGeom prst="rect">
            <a:avLst/>
          </a:prstGeom>
        </p:spPr>
      </p:pic>
      <p:pic>
        <p:nvPicPr>
          <p:cNvPr id="29" name="Image 5" descr="C:\Users\Admin\AppData\Local\Temp\claude\C--Users-Admin-Documents-Projects-HackOnTrack\4c97a385-1eae-4d0d-a267-e15be26504cc\scratchpad\deck\img\p1_x12_850_698_88x61.png">    </p:cNvPr>
          <p:cNvPicPr>
            <a:picLocks noChangeAspect="1"/>
          </p:cNvPicPr>
          <p:nvPr/>
        </p:nvPicPr>
        <p:blipFill>
          <a:blip r:embed="rId6"/>
          <a:stretch>
            <a:fillRect/>
          </a:stretch>
        </p:blipFill>
        <p:spPr>
          <a:xfrm rot="5400000">
            <a:off x="10972800" y="8686800"/>
            <a:ext cx="777240" cy="1115568"/>
          </a:xfrm>
          <a:prstGeom prst="rect">
            <a:avLst/>
          </a:prstGeom>
        </p:spPr>
      </p:pic>
      <p:pic>
        <p:nvPicPr>
          <p:cNvPr id="30" name="Image 6" descr="C:\Users\Admin\AppData\Local\Temp\claude\C--Users-Admin-Documents-Projects-HackOnTrack\4c97a385-1eae-4d0d-a267-e15be26504cc\scratchpad\deck\img\p1_x10_938_599_572x279.png">    </p:cNvPr>
          <p:cNvPicPr>
            <a:picLocks noChangeAspect="1"/>
          </p:cNvPicPr>
          <p:nvPr/>
        </p:nvPicPr>
        <p:blipFill>
          <a:blip r:embed="rId7"/>
          <a:stretch>
            <a:fillRect/>
          </a:stretch>
        </p:blipFill>
        <p:spPr>
          <a:xfrm>
            <a:off x="11914632" y="7607808"/>
            <a:ext cx="7260336" cy="3543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3_x108_0_0_1440x810.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C:\Users\Admin\AppData\Local\Temp\claude\C--Users-Admin-Documents-Projects-HackOnTrack\4c97a385-1eae-4d0d-a267-e15be26504cc\scratchpad\deck\img\p2_x117_21_9_121x119.png">    </p:cNvPr>
          <p:cNvPicPr>
            <a:picLocks noChangeAspect="1"/>
          </p:cNvPicPr>
          <p:nvPr/>
        </p:nvPicPr>
        <p:blipFill>
          <a:blip r:embed="rId2"/>
          <a:stretch>
            <a:fillRect/>
          </a:stretch>
        </p:blipFill>
        <p:spPr>
          <a:xfrm>
            <a:off x="256032" y="128016"/>
            <a:ext cx="1536192" cy="1508760"/>
          </a:xfrm>
          <a:prstGeom prst="rect">
            <a:avLst/>
          </a:prstGeom>
        </p:spPr>
      </p:pic>
      <p:pic>
        <p:nvPicPr>
          <p:cNvPr id="4" name="Image 2" descr="C:\Users\Admin\AppData\Local\Temp\claude\C--Users-Admin-Documents-Projects-HackOnTrack\4c97a385-1eae-4d0d-a267-e15be26504cc\scratchpad\deck\img\p2_x115_1297_9_119x119.png">    </p:cNvPr>
          <p:cNvPicPr>
            <a:picLocks noChangeAspect="1"/>
          </p:cNvPicPr>
          <p:nvPr/>
        </p:nvPicPr>
        <p:blipFill>
          <a:blip r:embed="rId3"/>
          <a:stretch>
            <a:fillRect/>
          </a:stretch>
        </p:blipFill>
        <p:spPr>
          <a:xfrm>
            <a:off x="16477488" y="128016"/>
            <a:ext cx="1508760" cy="1508760"/>
          </a:xfrm>
          <a:prstGeom prst="rect">
            <a:avLst/>
          </a:prstGeom>
        </p:spPr>
      </p:pic>
      <p:pic>
        <p:nvPicPr>
          <p:cNvPr id="5" name="Image 3" descr="C:\Users\Admin\AppData\Local\Temp\claude\C--Users-Admin-Documents-Projects-HackOnTrack\4c97a385-1eae-4d0d-a267-e15be26504cc\scratchpad\deck\img\title_r0_1.png">    </p:cNvPr>
          <p:cNvPicPr>
            <a:picLocks noChangeAspect="1"/>
          </p:cNvPicPr>
          <p:nvPr/>
        </p:nvPicPr>
        <p:blipFill>
          <a:blip r:embed="rId4"/>
          <a:stretch>
            <a:fillRect/>
          </a:stretch>
        </p:blipFill>
        <p:spPr>
          <a:xfrm>
            <a:off x="5139328" y="320040"/>
            <a:ext cx="8009343" cy="1097280"/>
          </a:xfrm>
          <a:prstGeom prst="rect">
            <a:avLst/>
          </a:prstGeom>
        </p:spPr>
      </p:pic>
      <p:sp>
        <p:nvSpPr>
          <p:cNvPr id="6" name="Shape 0"/>
          <p:cNvSpPr/>
          <p:nvPr/>
        </p:nvSpPr>
        <p:spPr>
          <a:xfrm>
            <a:off x="274320" y="1737360"/>
            <a:ext cx="8887968" cy="1874520"/>
          </a:xfrm>
          <a:prstGeom prst="roundRect">
            <a:avLst>
              <a:gd name="adj" fmla="val 6829"/>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7" name="Text 1"/>
          <p:cNvSpPr txBox="1"/>
          <p:nvPr/>
        </p:nvSpPr>
        <p:spPr>
          <a:xfrm>
            <a:off x="548640" y="1847088"/>
            <a:ext cx="5486400" cy="457200"/>
          </a:xfrm>
          <a:prstGeom prst="rect">
            <a:avLst/>
          </a:prstGeom>
          <a:noFill/>
          <a:ln/>
        </p:spPr>
        <p:txBody>
          <a:bodyPr wrap="square" lIns="0" tIns="0" rIns="0" bIns="0" rtlCol="0" anchor="t"/>
          <a:lstStyle/>
          <a:p>
            <a:pPr indent="0" marL="0">
              <a:buNone/>
            </a:pPr>
            <a:r>
              <a:rPr lang="en-US" sz="2400" b="1" dirty="0">
                <a:solidFill>
                  <a:srgbClr val="1B2A6B"/>
                </a:solidFill>
                <a:latin typeface="Calibri" pitchFamily="34" charset="0"/>
                <a:ea typeface="Calibri" pitchFamily="34" charset="-122"/>
                <a:cs typeface="Calibri" pitchFamily="34" charset="-120"/>
              </a:rPr>
              <a:t>PROBLEM:</a:t>
            </a:r>
            <a:endParaRPr lang="en-US" sz="2400" dirty="0"/>
          </a:p>
        </p:txBody>
      </p:sp>
      <p:sp>
        <p:nvSpPr>
          <p:cNvPr id="8" name="Text 2"/>
          <p:cNvSpPr txBox="1"/>
          <p:nvPr/>
        </p:nvSpPr>
        <p:spPr>
          <a:xfrm>
            <a:off x="548640" y="2331720"/>
            <a:ext cx="8412480" cy="1188720"/>
          </a:xfrm>
          <a:prstGeom prst="rect">
            <a:avLst/>
          </a:prstGeom>
          <a:noFill/>
          <a:ln/>
        </p:spPr>
        <p:txBody>
          <a:bodyPr wrap="square" lIns="0" tIns="0" rIns="0" bIns="0" rtlCol="0" anchor="t"/>
          <a:lstStyle/>
          <a:p>
            <a:pPr indent="0" marL="0">
              <a:buNone/>
            </a:pPr>
            <a:r>
              <a:rPr lang="en-US" sz="1600" dirty="0">
                <a:solidFill>
                  <a:srgbClr val="1E2230"/>
                </a:solidFill>
                <a:latin typeface="Calibri" pitchFamily="34" charset="0"/>
                <a:ea typeface="Calibri" pitchFamily="34" charset="-122"/>
                <a:cs typeface="Calibri" pitchFamily="34" charset="-120"/>
              </a:rPr>
              <a:t>Open-source repositories ship </a:t>
            </a:r>
            <a:pPr indent="0" marL="0">
              <a:buNone/>
            </a:pPr>
            <a:r>
              <a:rPr lang="en-US" sz="1600" b="1" dirty="0">
                <a:solidFill>
                  <a:srgbClr val="1E2230"/>
                </a:solidFill>
                <a:latin typeface="Calibri" pitchFamily="34" charset="0"/>
                <a:ea typeface="Calibri" pitchFamily="34" charset="-122"/>
                <a:cs typeface="Calibri" pitchFamily="34" charset="-120"/>
              </a:rPr>
              <a:t>known-vulnerable code</a:t>
            </a:r>
            <a:pPr indent="0" marL="0">
              <a:buNone/>
            </a:pPr>
            <a:r>
              <a:rPr lang="en-US" sz="1600" dirty="0">
                <a:solidFill>
                  <a:srgbClr val="1E2230"/>
                </a:solidFill>
                <a:latin typeface="Calibri" pitchFamily="34" charset="0"/>
                <a:ea typeface="Calibri" pitchFamily="34" charset="-122"/>
                <a:cs typeface="Calibri" pitchFamily="34" charset="-120"/>
              </a:rPr>
              <a:t> (SQL / command injection, path traversal, XSS, unsafe deserialization). Scanners such as CodeQL, Bandit and Semgrep only </a:t>
            </a:r>
            <a:pPr indent="0" marL="0">
              <a:buNone/>
            </a:pPr>
            <a:r>
              <a:rPr lang="en-US" sz="1600" b="1" dirty="0">
                <a:solidFill>
                  <a:srgbClr val="1E2230"/>
                </a:solidFill>
                <a:latin typeface="Calibri" pitchFamily="34" charset="0"/>
                <a:ea typeface="Calibri" pitchFamily="34" charset="-122"/>
                <a:cs typeface="Calibri" pitchFamily="34" charset="-120"/>
              </a:rPr>
              <a:t>flag candidates</a:t>
            </a:r>
            <a:pPr indent="0" marL="0">
              <a:buNone/>
            </a:pPr>
            <a:r>
              <a:rPr lang="en-US" sz="1600" dirty="0">
                <a:solidFill>
                  <a:srgbClr val="1E2230"/>
                </a:solidFill>
                <a:latin typeface="Calibri" pitchFamily="34" charset="0"/>
                <a:ea typeface="Calibri" pitchFamily="34" charset="-122"/>
                <a:cs typeface="Calibri" pitchFamily="34" charset="-120"/>
              </a:rPr>
              <a:t>: a human still has to confirm each one, write a patch and check that nothing else broke.</a:t>
            </a:r>
            <a:endParaRPr lang="en-US" sz="1600" dirty="0"/>
          </a:p>
        </p:txBody>
      </p:sp>
      <p:sp>
        <p:nvSpPr>
          <p:cNvPr id="9" name="Shape 3"/>
          <p:cNvSpPr/>
          <p:nvPr/>
        </p:nvSpPr>
        <p:spPr>
          <a:xfrm>
            <a:off x="274320" y="3794760"/>
            <a:ext cx="8887968" cy="6309360"/>
          </a:xfrm>
          <a:prstGeom prst="roundRect">
            <a:avLst>
              <a:gd name="adj" fmla="val 2029"/>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0" name="Text 4"/>
          <p:cNvSpPr txBox="1"/>
          <p:nvPr/>
        </p:nvSpPr>
        <p:spPr>
          <a:xfrm>
            <a:off x="548640" y="3904488"/>
            <a:ext cx="5486400" cy="457200"/>
          </a:xfrm>
          <a:prstGeom prst="rect">
            <a:avLst/>
          </a:prstGeom>
          <a:noFill/>
          <a:ln/>
        </p:spPr>
        <p:txBody>
          <a:bodyPr wrap="square" lIns="0" tIns="0" rIns="0" bIns="0" rtlCol="0" anchor="t"/>
          <a:lstStyle/>
          <a:p>
            <a:pPr indent="0" marL="0">
              <a:buNone/>
            </a:pPr>
            <a:r>
              <a:rPr lang="en-US" sz="2400" b="1" u="sng" dirty="0">
                <a:solidFill>
                  <a:srgbClr val="1B2A6B"/>
                </a:solidFill>
                <a:latin typeface="Calibri" pitchFamily="34" charset="0"/>
                <a:ea typeface="Calibri" pitchFamily="34" charset="-122"/>
                <a:cs typeface="Calibri" pitchFamily="34" charset="-120"/>
              </a:rPr>
              <a:t>PAIN POINTS:</a:t>
            </a:r>
            <a:endParaRPr lang="en-US" sz="2400" dirty="0"/>
          </a:p>
        </p:txBody>
      </p:sp>
      <p:sp>
        <p:nvSpPr>
          <p:cNvPr id="11" name="Text 5"/>
          <p:cNvSpPr txBox="1"/>
          <p:nvPr/>
        </p:nvSpPr>
        <p:spPr>
          <a:xfrm>
            <a:off x="548640" y="4434840"/>
            <a:ext cx="8412480" cy="2880360"/>
          </a:xfrm>
          <a:prstGeom prst="rect">
            <a:avLst/>
          </a:prstGeom>
          <a:noFill/>
          <a:ln/>
        </p:spPr>
        <p:txBody>
          <a:bodyPr wrap="square" lIns="0" tIns="0" rIns="0" bIns="0" rtlCol="0" anchor="t"/>
          <a:lstStyle/>
          <a:p>
            <a:pPr indent="0" marL="0">
              <a:spcAft>
                <a:spcPts val="600"/>
              </a:spcAft>
              <a:buNone/>
            </a:pPr>
            <a:r>
              <a:rPr lang="en-US" sz="1550" b="1" dirty="0">
                <a:solidFill>
                  <a:srgbClr val="D64545"/>
                </a:solidFill>
                <a:latin typeface="Calibri" pitchFamily="34" charset="0"/>
                <a:ea typeface="Calibri" pitchFamily="34" charset="-122"/>
                <a:cs typeface="Calibri" pitchFamily="34" charset="-120"/>
              </a:rPr>
              <a:t>✗  </a:t>
            </a:r>
            <a:pPr indent="0" marL="0">
              <a:spcAft>
                <a:spcPts val="600"/>
              </a:spcAft>
              <a:buNone/>
            </a:pPr>
            <a:r>
              <a:rPr lang="en-US" sz="1550" b="1" dirty="0">
                <a:solidFill>
                  <a:srgbClr val="1E2230"/>
                </a:solidFill>
                <a:latin typeface="Calibri" pitchFamily="34" charset="0"/>
                <a:ea typeface="Calibri" pitchFamily="34" charset="-122"/>
                <a:cs typeface="Calibri" pitchFamily="34" charset="-120"/>
              </a:rPr>
              <a:t>Alert fatigue: </a:t>
            </a:r>
            <a:pPr indent="0" marL="0">
              <a:spcAft>
                <a:spcPts val="600"/>
              </a:spcAft>
              <a:buNone/>
            </a:pPr>
            <a:r>
              <a:rPr lang="en-US" sz="1550" dirty="0">
                <a:solidFill>
                  <a:srgbClr val="1E2230"/>
                </a:solidFill>
                <a:latin typeface="Calibri" pitchFamily="34" charset="0"/>
                <a:ea typeface="Calibri" pitchFamily="34" charset="-122"/>
                <a:cs typeface="Calibri" pitchFamily="34" charset="-120"/>
              </a:rPr>
              <a:t>pattern scanners flag safe code. On one real student repo, 14 of 15 "critical" SQL alerts were parameterised queries.</a:t>
            </a:r>
            <a:endParaRPr lang="en-US" sz="1550" dirty="0"/>
          </a:p>
          <a:p>
            <a:pPr indent="0" marL="0">
              <a:spcAft>
                <a:spcPts val="600"/>
              </a:spcAft>
              <a:buNone/>
            </a:pPr>
            <a:r>
              <a:rPr lang="en-US" sz="1550" b="1" dirty="0">
                <a:solidFill>
                  <a:srgbClr val="D64545"/>
                </a:solidFill>
                <a:latin typeface="Calibri" pitchFamily="34" charset="0"/>
                <a:ea typeface="Calibri" pitchFamily="34" charset="-122"/>
                <a:cs typeface="Calibri" pitchFamily="34" charset="-120"/>
              </a:rPr>
              <a:t>✗  </a:t>
            </a:r>
            <a:pPr indent="0" marL="0">
              <a:spcAft>
                <a:spcPts val="600"/>
              </a:spcAft>
              <a:buNone/>
            </a:pPr>
            <a:r>
              <a:rPr lang="en-US" sz="1550" b="1" dirty="0">
                <a:solidFill>
                  <a:srgbClr val="1E2230"/>
                </a:solidFill>
                <a:latin typeface="Calibri" pitchFamily="34" charset="0"/>
                <a:ea typeface="Calibri" pitchFamily="34" charset="-122"/>
                <a:cs typeface="Calibri" pitchFamily="34" charset="-120"/>
              </a:rPr>
              <a:t>No proof: </a:t>
            </a:r>
            <a:pPr indent="0" marL="0">
              <a:spcAft>
                <a:spcPts val="600"/>
              </a:spcAft>
              <a:buNone/>
            </a:pPr>
            <a:r>
              <a:rPr lang="en-US" sz="1550" dirty="0">
                <a:solidFill>
                  <a:srgbClr val="1E2230"/>
                </a:solidFill>
                <a:latin typeface="Calibri" pitchFamily="34" charset="0"/>
                <a:ea typeface="Calibri" pitchFamily="34" charset="-122"/>
                <a:cs typeface="Calibri" pitchFamily="34" charset="-120"/>
              </a:rPr>
              <a:t>a patch that looks right may not block the exploit, or may silently break existing behaviour.</a:t>
            </a:r>
            <a:endParaRPr lang="en-US" sz="1550" dirty="0"/>
          </a:p>
          <a:p>
            <a:pPr indent="0" marL="0">
              <a:spcAft>
                <a:spcPts val="600"/>
              </a:spcAft>
              <a:buNone/>
            </a:pPr>
            <a:r>
              <a:rPr lang="en-US" sz="1550" b="1" dirty="0">
                <a:solidFill>
                  <a:srgbClr val="D64545"/>
                </a:solidFill>
                <a:latin typeface="Calibri" pitchFamily="34" charset="0"/>
                <a:ea typeface="Calibri" pitchFamily="34" charset="-122"/>
                <a:cs typeface="Calibri" pitchFamily="34" charset="-120"/>
              </a:rPr>
              <a:t>✗  </a:t>
            </a:r>
            <a:pPr indent="0" marL="0">
              <a:spcAft>
                <a:spcPts val="600"/>
              </a:spcAft>
              <a:buNone/>
            </a:pPr>
            <a:r>
              <a:rPr lang="en-US" sz="1550" b="1" dirty="0">
                <a:solidFill>
                  <a:srgbClr val="1E2230"/>
                </a:solidFill>
                <a:latin typeface="Calibri" pitchFamily="34" charset="0"/>
                <a:ea typeface="Calibri" pitchFamily="34" charset="-122"/>
                <a:cs typeface="Calibri" pitchFamily="34" charset="-120"/>
              </a:rPr>
              <a:t>Slow fix time: </a:t>
            </a:r>
            <a:pPr indent="0" marL="0">
              <a:spcAft>
                <a:spcPts val="600"/>
              </a:spcAft>
              <a:buNone/>
            </a:pPr>
            <a:r>
              <a:rPr lang="en-US" sz="1550" dirty="0">
                <a:solidFill>
                  <a:srgbClr val="1E2230"/>
                </a:solidFill>
                <a:latin typeface="Calibri" pitchFamily="34" charset="0"/>
                <a:ea typeface="Calibri" pitchFamily="34" charset="-122"/>
                <a:cs typeface="Calibri" pitchFamily="34" charset="-120"/>
              </a:rPr>
              <a:t>triage → patch → re-test → review takes days, while the vulnerable code stays deployed.</a:t>
            </a:r>
            <a:endParaRPr lang="en-US" sz="1550" dirty="0"/>
          </a:p>
          <a:p>
            <a:pPr indent="0" marL="0">
              <a:spcAft>
                <a:spcPts val="600"/>
              </a:spcAft>
              <a:buNone/>
            </a:pPr>
            <a:r>
              <a:rPr lang="en-US" sz="1550" b="1" dirty="0">
                <a:solidFill>
                  <a:srgbClr val="D64545"/>
                </a:solidFill>
                <a:latin typeface="Calibri" pitchFamily="34" charset="0"/>
                <a:ea typeface="Calibri" pitchFamily="34" charset="-122"/>
                <a:cs typeface="Calibri" pitchFamily="34" charset="-120"/>
              </a:rPr>
              <a:t>✗  </a:t>
            </a:r>
            <a:pPr indent="0" marL="0">
              <a:spcAft>
                <a:spcPts val="600"/>
              </a:spcAft>
              <a:buNone/>
            </a:pPr>
            <a:r>
              <a:rPr lang="en-US" sz="1550" b="1" dirty="0">
                <a:solidFill>
                  <a:srgbClr val="1E2230"/>
                </a:solidFill>
                <a:latin typeface="Calibri" pitchFamily="34" charset="0"/>
                <a:ea typeface="Calibri" pitchFamily="34" charset="-122"/>
                <a:cs typeface="Calibri" pitchFamily="34" charset="-120"/>
              </a:rPr>
              <a:t>Lost context: </a:t>
            </a:r>
            <a:pPr indent="0" marL="0">
              <a:spcAft>
                <a:spcPts val="600"/>
              </a:spcAft>
              <a:buNone/>
            </a:pPr>
            <a:r>
              <a:rPr lang="en-US" sz="1550" dirty="0">
                <a:solidFill>
                  <a:srgbClr val="1E2230"/>
                </a:solidFill>
                <a:latin typeface="Calibri" pitchFamily="34" charset="0"/>
                <a:ea typeface="Calibri" pitchFamily="34" charset="-122"/>
                <a:cs typeface="Calibri" pitchFamily="34" charset="-120"/>
              </a:rPr>
              <a:t>alerts arrive long after the commit that introduced the bug, and teach the author nothing.</a:t>
            </a:r>
            <a:endParaRPr lang="en-US" sz="1550" dirty="0"/>
          </a:p>
        </p:txBody>
      </p:sp>
      <p:sp>
        <p:nvSpPr>
          <p:cNvPr id="12" name="Text 6"/>
          <p:cNvSpPr txBox="1"/>
          <p:nvPr/>
        </p:nvSpPr>
        <p:spPr>
          <a:xfrm>
            <a:off x="548640" y="7388352"/>
            <a:ext cx="4572000" cy="365760"/>
          </a:xfrm>
          <a:prstGeom prst="rect">
            <a:avLst/>
          </a:prstGeom>
          <a:noFill/>
          <a:ln/>
        </p:spPr>
        <p:txBody>
          <a:bodyPr wrap="square" lIns="0" tIns="0" rIns="0" bIns="0" rtlCol="0" anchor="t"/>
          <a:lstStyle/>
          <a:p>
            <a:pPr indent="0" marL="0">
              <a:buNone/>
            </a:pPr>
            <a:r>
              <a:rPr lang="en-US" sz="1500" b="1" spc="200" kern="0" dirty="0">
                <a:solidFill>
                  <a:srgbClr val="4A5163"/>
                </a:solidFill>
                <a:latin typeface="Calibri" pitchFamily="34" charset="0"/>
                <a:ea typeface="Calibri" pitchFamily="34" charset="-122"/>
                <a:cs typeface="Calibri" pitchFamily="34" charset="-120"/>
              </a:rPr>
              <a:t>TODAY vs. KAIZEN</a:t>
            </a:r>
            <a:endParaRPr lang="en-US" sz="1500" dirty="0"/>
          </a:p>
        </p:txBody>
      </p:sp>
      <p:sp>
        <p:nvSpPr>
          <p:cNvPr id="13" name="Text 7"/>
          <p:cNvSpPr txBox="1"/>
          <p:nvPr/>
        </p:nvSpPr>
        <p:spPr>
          <a:xfrm>
            <a:off x="548640" y="7927848"/>
            <a:ext cx="1143000" cy="457200"/>
          </a:xfrm>
          <a:prstGeom prst="rect">
            <a:avLst/>
          </a:prstGeom>
          <a:noFill/>
          <a:ln/>
        </p:spPr>
        <p:txBody>
          <a:bodyPr wrap="square" lIns="0" tIns="0" rIns="0" bIns="0" rtlCol="0" anchor="t"/>
          <a:lstStyle/>
          <a:p>
            <a:pPr indent="0" marL="0">
              <a:buNone/>
            </a:pPr>
            <a:r>
              <a:rPr lang="en-US" sz="1400" b="1" dirty="0">
                <a:solidFill>
                  <a:srgbClr val="D64545"/>
                </a:solidFill>
                <a:latin typeface="Calibri" pitchFamily="34" charset="0"/>
                <a:ea typeface="Calibri" pitchFamily="34" charset="-122"/>
                <a:cs typeface="Calibri" pitchFamily="34" charset="-120"/>
              </a:rPr>
              <a:t>Today</a:t>
            </a:r>
            <a:endParaRPr lang="en-US" sz="1400" dirty="0"/>
          </a:p>
        </p:txBody>
      </p:sp>
      <p:sp>
        <p:nvSpPr>
          <p:cNvPr id="14" name="Shape 8"/>
          <p:cNvSpPr/>
          <p:nvPr/>
        </p:nvSpPr>
        <p:spPr>
          <a:xfrm>
            <a:off x="1737360" y="7818120"/>
            <a:ext cx="1188720" cy="676656"/>
          </a:xfrm>
          <a:prstGeom prst="roundRect">
            <a:avLst>
              <a:gd name="adj" fmla="val 10811"/>
            </a:avLst>
          </a:prstGeom>
          <a:solidFill>
            <a:srgbClr val="FBEDEE"/>
          </a:solidFill>
          <a:ln/>
        </p:spPr>
      </p:sp>
      <p:sp>
        <p:nvSpPr>
          <p:cNvPr id="15" name="Shape 9"/>
          <p:cNvSpPr/>
          <p:nvPr/>
        </p:nvSpPr>
        <p:spPr>
          <a:xfrm>
            <a:off x="1801368" y="7946136"/>
            <a:ext cx="420624" cy="420624"/>
          </a:xfrm>
          <a:prstGeom prst="ellipse">
            <a:avLst/>
          </a:prstGeom>
          <a:solidFill>
            <a:srgbClr val="D64545"/>
          </a:solidFill>
          <a:ln/>
        </p:spPr>
      </p:sp>
      <p:pic>
        <p:nvPicPr>
          <p:cNvPr id="16" name="Image 4" descr="preencoded.png">    </p:cNvPr>
          <p:cNvPicPr>
            <a:picLocks noChangeAspect="1"/>
          </p:cNvPicPr>
          <p:nvPr/>
        </p:nvPicPr>
        <p:blipFill>
          <a:blip r:embed="rId5"/>
          <a:stretch>
            <a:fillRect/>
          </a:stretch>
        </p:blipFill>
        <p:spPr>
          <a:xfrm>
            <a:off x="1893905" y="8038673"/>
            <a:ext cx="235549" cy="235549"/>
          </a:xfrm>
          <a:prstGeom prst="rect">
            <a:avLst/>
          </a:prstGeom>
        </p:spPr>
      </p:pic>
      <p:sp>
        <p:nvSpPr>
          <p:cNvPr id="17" name="Text 10"/>
          <p:cNvSpPr txBox="1"/>
          <p:nvPr/>
        </p:nvSpPr>
        <p:spPr>
          <a:xfrm>
            <a:off x="2249424" y="787298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Scanner alert</a:t>
            </a:r>
            <a:endParaRPr lang="en-US" sz="1050" dirty="0"/>
          </a:p>
        </p:txBody>
      </p:sp>
      <p:sp>
        <p:nvSpPr>
          <p:cNvPr id="18" name="Shape 11"/>
          <p:cNvSpPr/>
          <p:nvPr/>
        </p:nvSpPr>
        <p:spPr>
          <a:xfrm>
            <a:off x="2926080" y="8156448"/>
            <a:ext cx="182880" cy="914"/>
          </a:xfrm>
          <a:prstGeom prst="line">
            <a:avLst/>
          </a:prstGeom>
          <a:noFill/>
          <a:ln w="19050">
            <a:solidFill>
              <a:srgbClr val="D64545"/>
            </a:solidFill>
            <a:prstDash val="solid"/>
            <a:tailEnd type="triangle"/>
          </a:ln>
        </p:spPr>
      </p:sp>
      <p:sp>
        <p:nvSpPr>
          <p:cNvPr id="19" name="Shape 12"/>
          <p:cNvSpPr/>
          <p:nvPr/>
        </p:nvSpPr>
        <p:spPr>
          <a:xfrm>
            <a:off x="3108960" y="7818120"/>
            <a:ext cx="1188720" cy="676656"/>
          </a:xfrm>
          <a:prstGeom prst="roundRect">
            <a:avLst>
              <a:gd name="adj" fmla="val 10811"/>
            </a:avLst>
          </a:prstGeom>
          <a:solidFill>
            <a:srgbClr val="FBEDEE"/>
          </a:solidFill>
          <a:ln/>
        </p:spPr>
      </p:sp>
      <p:sp>
        <p:nvSpPr>
          <p:cNvPr id="20" name="Shape 13"/>
          <p:cNvSpPr/>
          <p:nvPr/>
        </p:nvSpPr>
        <p:spPr>
          <a:xfrm>
            <a:off x="3172968" y="7946136"/>
            <a:ext cx="420624" cy="420624"/>
          </a:xfrm>
          <a:prstGeom prst="ellipse">
            <a:avLst/>
          </a:prstGeom>
          <a:solidFill>
            <a:srgbClr val="D64545"/>
          </a:solidFill>
          <a:ln/>
        </p:spPr>
      </p:sp>
      <p:pic>
        <p:nvPicPr>
          <p:cNvPr id="21" name="Image 5" descr="preencoded.png">    </p:cNvPr>
          <p:cNvPicPr>
            <a:picLocks noChangeAspect="1"/>
          </p:cNvPicPr>
          <p:nvPr/>
        </p:nvPicPr>
        <p:blipFill>
          <a:blip r:embed="rId6"/>
          <a:stretch>
            <a:fillRect/>
          </a:stretch>
        </p:blipFill>
        <p:spPr>
          <a:xfrm>
            <a:off x="3265505" y="8038673"/>
            <a:ext cx="235549" cy="235549"/>
          </a:xfrm>
          <a:prstGeom prst="rect">
            <a:avLst/>
          </a:prstGeom>
        </p:spPr>
      </p:pic>
      <p:sp>
        <p:nvSpPr>
          <p:cNvPr id="22" name="Text 14"/>
          <p:cNvSpPr txBox="1"/>
          <p:nvPr/>
        </p:nvSpPr>
        <p:spPr>
          <a:xfrm>
            <a:off x="3621024" y="787298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Manual triage</a:t>
            </a:r>
            <a:endParaRPr lang="en-US" sz="1050" dirty="0"/>
          </a:p>
        </p:txBody>
      </p:sp>
      <p:sp>
        <p:nvSpPr>
          <p:cNvPr id="23" name="Shape 15"/>
          <p:cNvSpPr/>
          <p:nvPr/>
        </p:nvSpPr>
        <p:spPr>
          <a:xfrm>
            <a:off x="4297680" y="8156448"/>
            <a:ext cx="182880" cy="914"/>
          </a:xfrm>
          <a:prstGeom prst="line">
            <a:avLst/>
          </a:prstGeom>
          <a:noFill/>
          <a:ln w="19050">
            <a:solidFill>
              <a:srgbClr val="D64545"/>
            </a:solidFill>
            <a:prstDash val="solid"/>
            <a:tailEnd type="triangle"/>
          </a:ln>
        </p:spPr>
      </p:sp>
      <p:sp>
        <p:nvSpPr>
          <p:cNvPr id="24" name="Shape 16"/>
          <p:cNvSpPr/>
          <p:nvPr/>
        </p:nvSpPr>
        <p:spPr>
          <a:xfrm>
            <a:off x="4480560" y="7818120"/>
            <a:ext cx="1188720" cy="676656"/>
          </a:xfrm>
          <a:prstGeom prst="roundRect">
            <a:avLst>
              <a:gd name="adj" fmla="val 10811"/>
            </a:avLst>
          </a:prstGeom>
          <a:solidFill>
            <a:srgbClr val="FBEDEE"/>
          </a:solidFill>
          <a:ln/>
        </p:spPr>
      </p:sp>
      <p:sp>
        <p:nvSpPr>
          <p:cNvPr id="25" name="Shape 17"/>
          <p:cNvSpPr/>
          <p:nvPr/>
        </p:nvSpPr>
        <p:spPr>
          <a:xfrm>
            <a:off x="4544568" y="7946136"/>
            <a:ext cx="420624" cy="420624"/>
          </a:xfrm>
          <a:prstGeom prst="ellipse">
            <a:avLst/>
          </a:prstGeom>
          <a:solidFill>
            <a:srgbClr val="D64545"/>
          </a:solidFill>
          <a:ln/>
        </p:spPr>
      </p:sp>
      <p:pic>
        <p:nvPicPr>
          <p:cNvPr id="26" name="Image 6" descr="preencoded.png">    </p:cNvPr>
          <p:cNvPicPr>
            <a:picLocks noChangeAspect="1"/>
          </p:cNvPicPr>
          <p:nvPr/>
        </p:nvPicPr>
        <p:blipFill>
          <a:blip r:embed="rId7"/>
          <a:stretch>
            <a:fillRect/>
          </a:stretch>
        </p:blipFill>
        <p:spPr>
          <a:xfrm>
            <a:off x="4637105" y="8038673"/>
            <a:ext cx="235549" cy="235549"/>
          </a:xfrm>
          <a:prstGeom prst="rect">
            <a:avLst/>
          </a:prstGeom>
        </p:spPr>
      </p:pic>
      <p:sp>
        <p:nvSpPr>
          <p:cNvPr id="27" name="Text 18"/>
          <p:cNvSpPr txBox="1"/>
          <p:nvPr/>
        </p:nvSpPr>
        <p:spPr>
          <a:xfrm>
            <a:off x="4992624" y="787298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Hand-written patch</a:t>
            </a:r>
            <a:endParaRPr lang="en-US" sz="1050" dirty="0"/>
          </a:p>
        </p:txBody>
      </p:sp>
      <p:sp>
        <p:nvSpPr>
          <p:cNvPr id="28" name="Shape 19"/>
          <p:cNvSpPr/>
          <p:nvPr/>
        </p:nvSpPr>
        <p:spPr>
          <a:xfrm>
            <a:off x="5669280" y="8156448"/>
            <a:ext cx="182880" cy="914"/>
          </a:xfrm>
          <a:prstGeom prst="line">
            <a:avLst/>
          </a:prstGeom>
          <a:noFill/>
          <a:ln w="19050">
            <a:solidFill>
              <a:srgbClr val="D64545"/>
            </a:solidFill>
            <a:prstDash val="solid"/>
            <a:tailEnd type="triangle"/>
          </a:ln>
        </p:spPr>
      </p:sp>
      <p:sp>
        <p:nvSpPr>
          <p:cNvPr id="29" name="Shape 20"/>
          <p:cNvSpPr/>
          <p:nvPr/>
        </p:nvSpPr>
        <p:spPr>
          <a:xfrm>
            <a:off x="5852160" y="7818120"/>
            <a:ext cx="1188720" cy="676656"/>
          </a:xfrm>
          <a:prstGeom prst="roundRect">
            <a:avLst>
              <a:gd name="adj" fmla="val 10811"/>
            </a:avLst>
          </a:prstGeom>
          <a:solidFill>
            <a:srgbClr val="FBEDEE"/>
          </a:solidFill>
          <a:ln/>
        </p:spPr>
      </p:sp>
      <p:sp>
        <p:nvSpPr>
          <p:cNvPr id="30" name="Shape 21"/>
          <p:cNvSpPr/>
          <p:nvPr/>
        </p:nvSpPr>
        <p:spPr>
          <a:xfrm>
            <a:off x="5916168" y="7946136"/>
            <a:ext cx="420624" cy="420624"/>
          </a:xfrm>
          <a:prstGeom prst="ellipse">
            <a:avLst/>
          </a:prstGeom>
          <a:solidFill>
            <a:srgbClr val="D64545"/>
          </a:solidFill>
          <a:ln/>
        </p:spPr>
      </p:sp>
      <p:pic>
        <p:nvPicPr>
          <p:cNvPr id="31" name="Image 7" descr="preencoded.png">    </p:cNvPr>
          <p:cNvPicPr>
            <a:picLocks noChangeAspect="1"/>
          </p:cNvPicPr>
          <p:nvPr/>
        </p:nvPicPr>
        <p:blipFill>
          <a:blip r:embed="rId8"/>
          <a:stretch>
            <a:fillRect/>
          </a:stretch>
        </p:blipFill>
        <p:spPr>
          <a:xfrm>
            <a:off x="6008705" y="8038673"/>
            <a:ext cx="235549" cy="235549"/>
          </a:xfrm>
          <a:prstGeom prst="rect">
            <a:avLst/>
          </a:prstGeom>
        </p:spPr>
      </p:pic>
      <p:sp>
        <p:nvSpPr>
          <p:cNvPr id="32" name="Text 22"/>
          <p:cNvSpPr txBox="1"/>
          <p:nvPr/>
        </p:nvSpPr>
        <p:spPr>
          <a:xfrm>
            <a:off x="6364224" y="787298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Re-test + review</a:t>
            </a:r>
            <a:endParaRPr lang="en-US" sz="1050" dirty="0"/>
          </a:p>
        </p:txBody>
      </p:sp>
      <p:sp>
        <p:nvSpPr>
          <p:cNvPr id="33" name="Shape 23"/>
          <p:cNvSpPr/>
          <p:nvPr/>
        </p:nvSpPr>
        <p:spPr>
          <a:xfrm>
            <a:off x="7040880" y="8156448"/>
            <a:ext cx="182880" cy="914"/>
          </a:xfrm>
          <a:prstGeom prst="line">
            <a:avLst/>
          </a:prstGeom>
          <a:noFill/>
          <a:ln w="19050">
            <a:solidFill>
              <a:srgbClr val="D64545"/>
            </a:solidFill>
            <a:prstDash val="solid"/>
            <a:tailEnd type="triangle"/>
          </a:ln>
        </p:spPr>
      </p:sp>
      <p:sp>
        <p:nvSpPr>
          <p:cNvPr id="34" name="Shape 24"/>
          <p:cNvSpPr/>
          <p:nvPr/>
        </p:nvSpPr>
        <p:spPr>
          <a:xfrm>
            <a:off x="7223760" y="7818120"/>
            <a:ext cx="1188720" cy="676656"/>
          </a:xfrm>
          <a:prstGeom prst="roundRect">
            <a:avLst>
              <a:gd name="adj" fmla="val 10811"/>
            </a:avLst>
          </a:prstGeom>
          <a:solidFill>
            <a:srgbClr val="FBEDEE"/>
          </a:solidFill>
          <a:ln/>
        </p:spPr>
      </p:sp>
      <p:sp>
        <p:nvSpPr>
          <p:cNvPr id="35" name="Shape 25"/>
          <p:cNvSpPr/>
          <p:nvPr/>
        </p:nvSpPr>
        <p:spPr>
          <a:xfrm>
            <a:off x="7287768" y="7946136"/>
            <a:ext cx="420624" cy="420624"/>
          </a:xfrm>
          <a:prstGeom prst="ellipse">
            <a:avLst/>
          </a:prstGeom>
          <a:solidFill>
            <a:srgbClr val="D64545"/>
          </a:solidFill>
          <a:ln/>
        </p:spPr>
      </p:sp>
      <p:pic>
        <p:nvPicPr>
          <p:cNvPr id="36" name="Image 8" descr="preencoded.png">    </p:cNvPr>
          <p:cNvPicPr>
            <a:picLocks noChangeAspect="1"/>
          </p:cNvPicPr>
          <p:nvPr/>
        </p:nvPicPr>
        <p:blipFill>
          <a:blip r:embed="rId9"/>
          <a:stretch>
            <a:fillRect/>
          </a:stretch>
        </p:blipFill>
        <p:spPr>
          <a:xfrm>
            <a:off x="7380305" y="8038673"/>
            <a:ext cx="235549" cy="235549"/>
          </a:xfrm>
          <a:prstGeom prst="rect">
            <a:avLst/>
          </a:prstGeom>
        </p:spPr>
      </p:pic>
      <p:sp>
        <p:nvSpPr>
          <p:cNvPr id="37" name="Text 26"/>
          <p:cNvSpPr txBox="1"/>
          <p:nvPr/>
        </p:nvSpPr>
        <p:spPr>
          <a:xfrm>
            <a:off x="7735824" y="787298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Hope nothing broke</a:t>
            </a:r>
            <a:endParaRPr lang="en-US" sz="1050" dirty="0"/>
          </a:p>
        </p:txBody>
      </p:sp>
      <p:sp>
        <p:nvSpPr>
          <p:cNvPr id="38" name="Shape 27"/>
          <p:cNvSpPr/>
          <p:nvPr/>
        </p:nvSpPr>
        <p:spPr>
          <a:xfrm>
            <a:off x="8577072" y="7882128"/>
            <a:ext cx="621792" cy="548640"/>
          </a:xfrm>
          <a:prstGeom prst="roundRect">
            <a:avLst>
              <a:gd name="adj" fmla="val 50000"/>
            </a:avLst>
          </a:prstGeom>
          <a:solidFill>
            <a:srgbClr val="D64545"/>
          </a:solidFill>
          <a:ln/>
        </p:spPr>
      </p:sp>
      <p:sp>
        <p:nvSpPr>
          <p:cNvPr id="39" name="Text 28"/>
          <p:cNvSpPr txBox="1"/>
          <p:nvPr/>
        </p:nvSpPr>
        <p:spPr>
          <a:xfrm>
            <a:off x="8577072" y="7882128"/>
            <a:ext cx="62179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days</a:t>
            </a:r>
            <a:endParaRPr lang="en-US" sz="1200" dirty="0"/>
          </a:p>
        </p:txBody>
      </p:sp>
      <p:sp>
        <p:nvSpPr>
          <p:cNvPr id="40" name="Text 29"/>
          <p:cNvSpPr txBox="1"/>
          <p:nvPr/>
        </p:nvSpPr>
        <p:spPr>
          <a:xfrm>
            <a:off x="548640" y="8887968"/>
            <a:ext cx="1143000" cy="457200"/>
          </a:xfrm>
          <a:prstGeom prst="rect">
            <a:avLst/>
          </a:prstGeom>
          <a:noFill/>
          <a:ln/>
        </p:spPr>
        <p:txBody>
          <a:bodyPr wrap="square" lIns="0" tIns="0" rIns="0" bIns="0" rtlCol="0" anchor="t"/>
          <a:lstStyle/>
          <a:p>
            <a:pPr indent="0" marL="0">
              <a:buNone/>
            </a:pPr>
            <a:r>
              <a:rPr lang="en-US" sz="1400" b="1" dirty="0">
                <a:solidFill>
                  <a:srgbClr val="1F9D55"/>
                </a:solidFill>
                <a:latin typeface="Calibri" pitchFamily="34" charset="0"/>
                <a:ea typeface="Calibri" pitchFamily="34" charset="-122"/>
                <a:cs typeface="Calibri" pitchFamily="34" charset="-120"/>
              </a:rPr>
              <a:t>KAIZEN</a:t>
            </a:r>
            <a:endParaRPr lang="en-US" sz="1400" dirty="0"/>
          </a:p>
        </p:txBody>
      </p:sp>
      <p:sp>
        <p:nvSpPr>
          <p:cNvPr id="41" name="Shape 30"/>
          <p:cNvSpPr/>
          <p:nvPr/>
        </p:nvSpPr>
        <p:spPr>
          <a:xfrm>
            <a:off x="1737360" y="8778240"/>
            <a:ext cx="1188720" cy="676656"/>
          </a:xfrm>
          <a:prstGeom prst="roundRect">
            <a:avLst>
              <a:gd name="adj" fmla="val 10811"/>
            </a:avLst>
          </a:prstGeom>
          <a:solidFill>
            <a:srgbClr val="EAF7F0"/>
          </a:solidFill>
          <a:ln/>
        </p:spPr>
      </p:sp>
      <p:sp>
        <p:nvSpPr>
          <p:cNvPr id="42" name="Shape 31"/>
          <p:cNvSpPr/>
          <p:nvPr/>
        </p:nvSpPr>
        <p:spPr>
          <a:xfrm>
            <a:off x="1801368" y="8906256"/>
            <a:ext cx="420624" cy="420624"/>
          </a:xfrm>
          <a:prstGeom prst="ellipse">
            <a:avLst/>
          </a:prstGeom>
          <a:solidFill>
            <a:srgbClr val="1F9D55"/>
          </a:solidFill>
          <a:ln/>
        </p:spPr>
      </p:sp>
      <p:pic>
        <p:nvPicPr>
          <p:cNvPr id="43" name="Image 9" descr="preencoded.png">    </p:cNvPr>
          <p:cNvPicPr>
            <a:picLocks noChangeAspect="1"/>
          </p:cNvPicPr>
          <p:nvPr/>
        </p:nvPicPr>
        <p:blipFill>
          <a:blip r:embed="rId10"/>
          <a:stretch>
            <a:fillRect/>
          </a:stretch>
        </p:blipFill>
        <p:spPr>
          <a:xfrm>
            <a:off x="1893905" y="8998793"/>
            <a:ext cx="235549" cy="235549"/>
          </a:xfrm>
          <a:prstGeom prst="rect">
            <a:avLst/>
          </a:prstGeom>
        </p:spPr>
      </p:pic>
      <p:sp>
        <p:nvSpPr>
          <p:cNvPr id="44" name="Text 32"/>
          <p:cNvSpPr txBox="1"/>
          <p:nvPr/>
        </p:nvSpPr>
        <p:spPr>
          <a:xfrm>
            <a:off x="2249424" y="883310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Push detected</a:t>
            </a:r>
            <a:endParaRPr lang="en-US" sz="1050" dirty="0"/>
          </a:p>
        </p:txBody>
      </p:sp>
      <p:sp>
        <p:nvSpPr>
          <p:cNvPr id="45" name="Shape 33"/>
          <p:cNvSpPr/>
          <p:nvPr/>
        </p:nvSpPr>
        <p:spPr>
          <a:xfrm>
            <a:off x="2926080" y="9116568"/>
            <a:ext cx="182880" cy="914"/>
          </a:xfrm>
          <a:prstGeom prst="line">
            <a:avLst/>
          </a:prstGeom>
          <a:noFill/>
          <a:ln w="19050">
            <a:solidFill>
              <a:srgbClr val="1F9D55"/>
            </a:solidFill>
            <a:prstDash val="solid"/>
            <a:tailEnd type="triangle"/>
          </a:ln>
        </p:spPr>
      </p:sp>
      <p:sp>
        <p:nvSpPr>
          <p:cNvPr id="46" name="Shape 34"/>
          <p:cNvSpPr/>
          <p:nvPr/>
        </p:nvSpPr>
        <p:spPr>
          <a:xfrm>
            <a:off x="3108960" y="8778240"/>
            <a:ext cx="1188720" cy="676656"/>
          </a:xfrm>
          <a:prstGeom prst="roundRect">
            <a:avLst>
              <a:gd name="adj" fmla="val 10811"/>
            </a:avLst>
          </a:prstGeom>
          <a:solidFill>
            <a:srgbClr val="EAF7F0"/>
          </a:solidFill>
          <a:ln/>
        </p:spPr>
      </p:sp>
      <p:sp>
        <p:nvSpPr>
          <p:cNvPr id="47" name="Shape 35"/>
          <p:cNvSpPr/>
          <p:nvPr/>
        </p:nvSpPr>
        <p:spPr>
          <a:xfrm>
            <a:off x="3172968" y="8906256"/>
            <a:ext cx="420624" cy="420624"/>
          </a:xfrm>
          <a:prstGeom prst="ellipse">
            <a:avLst/>
          </a:prstGeom>
          <a:solidFill>
            <a:srgbClr val="1F9D55"/>
          </a:solidFill>
          <a:ln/>
        </p:spPr>
      </p:sp>
      <p:pic>
        <p:nvPicPr>
          <p:cNvPr id="48" name="Image 10" descr="preencoded.png">    </p:cNvPr>
          <p:cNvPicPr>
            <a:picLocks noChangeAspect="1"/>
          </p:cNvPicPr>
          <p:nvPr/>
        </p:nvPicPr>
        <p:blipFill>
          <a:blip r:embed="rId11"/>
          <a:stretch>
            <a:fillRect/>
          </a:stretch>
        </p:blipFill>
        <p:spPr>
          <a:xfrm>
            <a:off x="3265505" y="8998793"/>
            <a:ext cx="235549" cy="235549"/>
          </a:xfrm>
          <a:prstGeom prst="rect">
            <a:avLst/>
          </a:prstGeom>
        </p:spPr>
      </p:pic>
      <p:sp>
        <p:nvSpPr>
          <p:cNvPr id="49" name="Text 36"/>
          <p:cNvSpPr txBox="1"/>
          <p:nvPr/>
        </p:nvSpPr>
        <p:spPr>
          <a:xfrm>
            <a:off x="3621024" y="883310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Agent triage</a:t>
            </a:r>
            <a:endParaRPr lang="en-US" sz="1050" dirty="0"/>
          </a:p>
        </p:txBody>
      </p:sp>
      <p:sp>
        <p:nvSpPr>
          <p:cNvPr id="50" name="Shape 37"/>
          <p:cNvSpPr/>
          <p:nvPr/>
        </p:nvSpPr>
        <p:spPr>
          <a:xfrm>
            <a:off x="4297680" y="9116568"/>
            <a:ext cx="182880" cy="914"/>
          </a:xfrm>
          <a:prstGeom prst="line">
            <a:avLst/>
          </a:prstGeom>
          <a:noFill/>
          <a:ln w="19050">
            <a:solidFill>
              <a:srgbClr val="1F9D55"/>
            </a:solidFill>
            <a:prstDash val="solid"/>
            <a:tailEnd type="triangle"/>
          </a:ln>
        </p:spPr>
      </p:sp>
      <p:sp>
        <p:nvSpPr>
          <p:cNvPr id="51" name="Shape 38"/>
          <p:cNvSpPr/>
          <p:nvPr/>
        </p:nvSpPr>
        <p:spPr>
          <a:xfrm>
            <a:off x="4480560" y="8778240"/>
            <a:ext cx="1188720" cy="676656"/>
          </a:xfrm>
          <a:prstGeom prst="roundRect">
            <a:avLst>
              <a:gd name="adj" fmla="val 10811"/>
            </a:avLst>
          </a:prstGeom>
          <a:solidFill>
            <a:srgbClr val="EAF7F0"/>
          </a:solidFill>
          <a:ln/>
        </p:spPr>
      </p:sp>
      <p:sp>
        <p:nvSpPr>
          <p:cNvPr id="52" name="Shape 39"/>
          <p:cNvSpPr/>
          <p:nvPr/>
        </p:nvSpPr>
        <p:spPr>
          <a:xfrm>
            <a:off x="4544568" y="8906256"/>
            <a:ext cx="420624" cy="420624"/>
          </a:xfrm>
          <a:prstGeom prst="ellipse">
            <a:avLst/>
          </a:prstGeom>
          <a:solidFill>
            <a:srgbClr val="1F9D55"/>
          </a:solidFill>
          <a:ln/>
        </p:spPr>
      </p:sp>
      <p:pic>
        <p:nvPicPr>
          <p:cNvPr id="53" name="Image 11" descr="preencoded.png">    </p:cNvPr>
          <p:cNvPicPr>
            <a:picLocks noChangeAspect="1"/>
          </p:cNvPicPr>
          <p:nvPr/>
        </p:nvPicPr>
        <p:blipFill>
          <a:blip r:embed="rId12"/>
          <a:stretch>
            <a:fillRect/>
          </a:stretch>
        </p:blipFill>
        <p:spPr>
          <a:xfrm>
            <a:off x="4637105" y="8998793"/>
            <a:ext cx="235549" cy="235549"/>
          </a:xfrm>
          <a:prstGeom prst="rect">
            <a:avLst/>
          </a:prstGeom>
        </p:spPr>
      </p:pic>
      <p:sp>
        <p:nvSpPr>
          <p:cNvPr id="54" name="Text 40"/>
          <p:cNvSpPr txBox="1"/>
          <p:nvPr/>
        </p:nvSpPr>
        <p:spPr>
          <a:xfrm>
            <a:off x="4992624" y="883310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Exploit + patch</a:t>
            </a:r>
            <a:endParaRPr lang="en-US" sz="1050" dirty="0"/>
          </a:p>
        </p:txBody>
      </p:sp>
      <p:sp>
        <p:nvSpPr>
          <p:cNvPr id="55" name="Shape 41"/>
          <p:cNvSpPr/>
          <p:nvPr/>
        </p:nvSpPr>
        <p:spPr>
          <a:xfrm>
            <a:off x="5669280" y="9116568"/>
            <a:ext cx="182880" cy="914"/>
          </a:xfrm>
          <a:prstGeom prst="line">
            <a:avLst/>
          </a:prstGeom>
          <a:noFill/>
          <a:ln w="19050">
            <a:solidFill>
              <a:srgbClr val="1F9D55"/>
            </a:solidFill>
            <a:prstDash val="solid"/>
            <a:tailEnd type="triangle"/>
          </a:ln>
        </p:spPr>
      </p:sp>
      <p:sp>
        <p:nvSpPr>
          <p:cNvPr id="56" name="Shape 42"/>
          <p:cNvSpPr/>
          <p:nvPr/>
        </p:nvSpPr>
        <p:spPr>
          <a:xfrm>
            <a:off x="5852160" y="8778240"/>
            <a:ext cx="1188720" cy="676656"/>
          </a:xfrm>
          <a:prstGeom prst="roundRect">
            <a:avLst>
              <a:gd name="adj" fmla="val 10811"/>
            </a:avLst>
          </a:prstGeom>
          <a:solidFill>
            <a:srgbClr val="EAF7F0"/>
          </a:solidFill>
          <a:ln/>
        </p:spPr>
      </p:sp>
      <p:sp>
        <p:nvSpPr>
          <p:cNvPr id="57" name="Shape 43"/>
          <p:cNvSpPr/>
          <p:nvPr/>
        </p:nvSpPr>
        <p:spPr>
          <a:xfrm>
            <a:off x="5916168" y="8906256"/>
            <a:ext cx="420624" cy="420624"/>
          </a:xfrm>
          <a:prstGeom prst="ellipse">
            <a:avLst/>
          </a:prstGeom>
          <a:solidFill>
            <a:srgbClr val="1F9D55"/>
          </a:solidFill>
          <a:ln/>
        </p:spPr>
      </p:sp>
      <p:pic>
        <p:nvPicPr>
          <p:cNvPr id="58" name="Image 12" descr="preencoded.png">    </p:cNvPr>
          <p:cNvPicPr>
            <a:picLocks noChangeAspect="1"/>
          </p:cNvPicPr>
          <p:nvPr/>
        </p:nvPicPr>
        <p:blipFill>
          <a:blip r:embed="rId13"/>
          <a:stretch>
            <a:fillRect/>
          </a:stretch>
        </p:blipFill>
        <p:spPr>
          <a:xfrm>
            <a:off x="6008705" y="8998793"/>
            <a:ext cx="235549" cy="235549"/>
          </a:xfrm>
          <a:prstGeom prst="rect">
            <a:avLst/>
          </a:prstGeom>
        </p:spPr>
      </p:pic>
      <p:sp>
        <p:nvSpPr>
          <p:cNvPr id="59" name="Text 44"/>
          <p:cNvSpPr txBox="1"/>
          <p:nvPr/>
        </p:nvSpPr>
        <p:spPr>
          <a:xfrm>
            <a:off x="6364224" y="883310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Proof gates</a:t>
            </a:r>
            <a:endParaRPr lang="en-US" sz="1050" dirty="0"/>
          </a:p>
        </p:txBody>
      </p:sp>
      <p:sp>
        <p:nvSpPr>
          <p:cNvPr id="60" name="Shape 45"/>
          <p:cNvSpPr/>
          <p:nvPr/>
        </p:nvSpPr>
        <p:spPr>
          <a:xfrm>
            <a:off x="7040880" y="9116568"/>
            <a:ext cx="182880" cy="914"/>
          </a:xfrm>
          <a:prstGeom prst="line">
            <a:avLst/>
          </a:prstGeom>
          <a:noFill/>
          <a:ln w="19050">
            <a:solidFill>
              <a:srgbClr val="1F9D55"/>
            </a:solidFill>
            <a:prstDash val="solid"/>
            <a:tailEnd type="triangle"/>
          </a:ln>
        </p:spPr>
      </p:sp>
      <p:sp>
        <p:nvSpPr>
          <p:cNvPr id="61" name="Shape 46"/>
          <p:cNvSpPr/>
          <p:nvPr/>
        </p:nvSpPr>
        <p:spPr>
          <a:xfrm>
            <a:off x="7223760" y="8778240"/>
            <a:ext cx="1188720" cy="676656"/>
          </a:xfrm>
          <a:prstGeom prst="roundRect">
            <a:avLst>
              <a:gd name="adj" fmla="val 10811"/>
            </a:avLst>
          </a:prstGeom>
          <a:solidFill>
            <a:srgbClr val="EAF7F0"/>
          </a:solidFill>
          <a:ln/>
        </p:spPr>
      </p:sp>
      <p:sp>
        <p:nvSpPr>
          <p:cNvPr id="62" name="Shape 47"/>
          <p:cNvSpPr/>
          <p:nvPr/>
        </p:nvSpPr>
        <p:spPr>
          <a:xfrm>
            <a:off x="7287768" y="8906256"/>
            <a:ext cx="420624" cy="420624"/>
          </a:xfrm>
          <a:prstGeom prst="ellipse">
            <a:avLst/>
          </a:prstGeom>
          <a:solidFill>
            <a:srgbClr val="1F9D55"/>
          </a:solidFill>
          <a:ln/>
        </p:spPr>
      </p:sp>
      <p:pic>
        <p:nvPicPr>
          <p:cNvPr id="63" name="Image 13" descr="preencoded.png">    </p:cNvPr>
          <p:cNvPicPr>
            <a:picLocks noChangeAspect="1"/>
          </p:cNvPicPr>
          <p:nvPr/>
        </p:nvPicPr>
        <p:blipFill>
          <a:blip r:embed="rId14"/>
          <a:stretch>
            <a:fillRect/>
          </a:stretch>
        </p:blipFill>
        <p:spPr>
          <a:xfrm>
            <a:off x="7380305" y="8998793"/>
            <a:ext cx="235549" cy="235549"/>
          </a:xfrm>
          <a:prstGeom prst="rect">
            <a:avLst/>
          </a:prstGeom>
        </p:spPr>
      </p:pic>
      <p:sp>
        <p:nvSpPr>
          <p:cNvPr id="64" name="Text 48"/>
          <p:cNvSpPr txBox="1"/>
          <p:nvPr/>
        </p:nvSpPr>
        <p:spPr>
          <a:xfrm>
            <a:off x="7735824" y="8833104"/>
            <a:ext cx="676656" cy="566928"/>
          </a:xfrm>
          <a:prstGeom prst="rect">
            <a:avLst/>
          </a:prstGeom>
          <a:noFill/>
          <a:ln/>
        </p:spPr>
        <p:txBody>
          <a:bodyPr wrap="square" lIns="0" tIns="0" rIns="0" bIns="0" rtlCol="0" anchor="ctr"/>
          <a:lstStyle/>
          <a:p>
            <a:pPr indent="0" marL="0">
              <a:buNone/>
            </a:pPr>
            <a:r>
              <a:rPr lang="en-US" sz="1050" b="1" dirty="0">
                <a:solidFill>
                  <a:srgbClr val="1E2230"/>
                </a:solidFill>
                <a:latin typeface="Calibri" pitchFamily="34" charset="0"/>
                <a:ea typeface="Calibri" pitchFamily="34" charset="-122"/>
                <a:cs typeface="Calibri" pitchFamily="34" charset="-120"/>
              </a:rPr>
              <a:t>Verified PR</a:t>
            </a:r>
            <a:endParaRPr lang="en-US" sz="1050" dirty="0"/>
          </a:p>
        </p:txBody>
      </p:sp>
      <p:sp>
        <p:nvSpPr>
          <p:cNvPr id="65" name="Shape 49"/>
          <p:cNvSpPr/>
          <p:nvPr/>
        </p:nvSpPr>
        <p:spPr>
          <a:xfrm>
            <a:off x="8577072" y="8842248"/>
            <a:ext cx="621792" cy="548640"/>
          </a:xfrm>
          <a:prstGeom prst="roundRect">
            <a:avLst>
              <a:gd name="adj" fmla="val 50000"/>
            </a:avLst>
          </a:prstGeom>
          <a:solidFill>
            <a:srgbClr val="1F9D55"/>
          </a:solidFill>
          <a:ln/>
        </p:spPr>
      </p:sp>
      <p:sp>
        <p:nvSpPr>
          <p:cNvPr id="66" name="Text 50"/>
          <p:cNvSpPr txBox="1"/>
          <p:nvPr/>
        </p:nvSpPr>
        <p:spPr>
          <a:xfrm>
            <a:off x="8577072" y="8842248"/>
            <a:ext cx="62179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secs</a:t>
            </a:r>
            <a:endParaRPr lang="en-US" sz="1200" dirty="0"/>
          </a:p>
        </p:txBody>
      </p:sp>
      <p:sp>
        <p:nvSpPr>
          <p:cNvPr id="67" name="Shape 51"/>
          <p:cNvSpPr/>
          <p:nvPr/>
        </p:nvSpPr>
        <p:spPr>
          <a:xfrm>
            <a:off x="9345168" y="1737360"/>
            <a:ext cx="8686800" cy="1874520"/>
          </a:xfrm>
          <a:prstGeom prst="roundRect">
            <a:avLst>
              <a:gd name="adj" fmla="val 6829"/>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68" name="Shape 52"/>
          <p:cNvSpPr/>
          <p:nvPr/>
        </p:nvSpPr>
        <p:spPr>
          <a:xfrm>
            <a:off x="9582912" y="1938528"/>
            <a:ext cx="713232" cy="713232"/>
          </a:xfrm>
          <a:prstGeom prst="ellipse">
            <a:avLst/>
          </a:prstGeom>
          <a:solidFill>
            <a:srgbClr val="1B2A6B"/>
          </a:solidFill>
          <a:ln/>
        </p:spPr>
      </p:sp>
      <p:pic>
        <p:nvPicPr>
          <p:cNvPr id="69" name="Image 14" descr="preencoded.png">    </p:cNvPr>
          <p:cNvPicPr>
            <a:picLocks noChangeAspect="1"/>
          </p:cNvPicPr>
          <p:nvPr/>
        </p:nvPicPr>
        <p:blipFill>
          <a:blip r:embed="rId15"/>
          <a:stretch>
            <a:fillRect/>
          </a:stretch>
        </p:blipFill>
        <p:spPr>
          <a:xfrm>
            <a:off x="9739823" y="2095439"/>
            <a:ext cx="399410" cy="399410"/>
          </a:xfrm>
          <a:prstGeom prst="rect">
            <a:avLst/>
          </a:prstGeom>
        </p:spPr>
      </p:pic>
      <p:sp>
        <p:nvSpPr>
          <p:cNvPr id="70" name="Text 53"/>
          <p:cNvSpPr txBox="1"/>
          <p:nvPr/>
        </p:nvSpPr>
        <p:spPr>
          <a:xfrm>
            <a:off x="9464040" y="2697480"/>
            <a:ext cx="1463040" cy="822960"/>
          </a:xfrm>
          <a:prstGeom prst="rect">
            <a:avLst/>
          </a:prstGeom>
          <a:noFill/>
          <a:ln/>
        </p:spPr>
        <p:txBody>
          <a:bodyPr wrap="square" lIns="0" tIns="0" rIns="0" bIns="0" rtlCol="0" anchor="t"/>
          <a:lstStyle/>
          <a:p>
            <a:pPr algn="ctr" indent="0" marL="0">
              <a:buNone/>
            </a:pPr>
            <a:r>
              <a:rPr lang="en-US" sz="1700" b="1" dirty="0">
                <a:solidFill>
                  <a:srgbClr val="1E2230"/>
                </a:solidFill>
                <a:latin typeface="Calibri" pitchFamily="34" charset="0"/>
                <a:ea typeface="Calibri" pitchFamily="34" charset="-122"/>
                <a:cs typeface="Calibri" pitchFamily="34" charset="-120"/>
              </a:rPr>
              <a:t>Who Is</a:t>
            </a:r>
            <a:endParaRPr lang="en-US" sz="1700" dirty="0"/>
          </a:p>
          <a:p>
            <a:pPr algn="ctr" indent="0" marL="0">
              <a:buNone/>
            </a:pPr>
            <a:r>
              <a:rPr lang="en-US" sz="1700" b="1" dirty="0">
                <a:solidFill>
                  <a:srgbClr val="1E2230"/>
                </a:solidFill>
                <a:latin typeface="Calibri" pitchFamily="34" charset="0"/>
                <a:ea typeface="Calibri" pitchFamily="34" charset="-122"/>
                <a:cs typeface="Calibri" pitchFamily="34" charset="-120"/>
              </a:rPr>
              <a:t>Affected?</a:t>
            </a:r>
            <a:endParaRPr lang="en-US" sz="1700" dirty="0"/>
          </a:p>
        </p:txBody>
      </p:sp>
      <p:sp>
        <p:nvSpPr>
          <p:cNvPr id="71" name="Shape 54"/>
          <p:cNvSpPr/>
          <p:nvPr/>
        </p:nvSpPr>
        <p:spPr>
          <a:xfrm>
            <a:off x="11109960" y="1874520"/>
            <a:ext cx="6766560" cy="475488"/>
          </a:xfrm>
          <a:prstGeom prst="roundRect">
            <a:avLst>
              <a:gd name="adj" fmla="val 11538"/>
            </a:avLst>
          </a:prstGeom>
          <a:solidFill>
            <a:srgbClr val="EEF0FB"/>
          </a:solidFill>
          <a:ln w="15875">
            <a:solidFill>
              <a:srgbClr val="B9C0E6"/>
            </a:solidFill>
            <a:prstDash val="solid"/>
          </a:ln>
        </p:spPr>
      </p:sp>
      <p:sp>
        <p:nvSpPr>
          <p:cNvPr id="72" name="Text 55"/>
          <p:cNvSpPr txBox="1"/>
          <p:nvPr/>
        </p:nvSpPr>
        <p:spPr>
          <a:xfrm>
            <a:off x="11247120" y="1874520"/>
            <a:ext cx="6583680" cy="475488"/>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OSS maintainers: </a:t>
            </a:r>
            <a:pPr indent="0" marL="0">
              <a:buNone/>
            </a:pPr>
            <a:r>
              <a:rPr lang="en-US" sz="1500" dirty="0">
                <a:solidFill>
                  <a:srgbClr val="1E2230"/>
                </a:solidFill>
                <a:latin typeface="Calibri" pitchFamily="34" charset="0"/>
                <a:ea typeface="Calibri" pitchFamily="34" charset="-122"/>
                <a:cs typeface="Calibri" pitchFamily="34" charset="-120"/>
              </a:rPr>
              <a:t>drowning in unconfirmed scanner alerts</a:t>
            </a:r>
            <a:endParaRPr lang="en-US" sz="1500" dirty="0"/>
          </a:p>
        </p:txBody>
      </p:sp>
      <p:sp>
        <p:nvSpPr>
          <p:cNvPr id="73" name="Shape 56"/>
          <p:cNvSpPr/>
          <p:nvPr/>
        </p:nvSpPr>
        <p:spPr>
          <a:xfrm flipV="1">
            <a:off x="10881360" y="2112264"/>
            <a:ext cx="210312" cy="402336"/>
          </a:xfrm>
          <a:prstGeom prst="line">
            <a:avLst/>
          </a:prstGeom>
          <a:noFill/>
          <a:ln w="15875">
            <a:solidFill>
              <a:srgbClr val="1B2A6B"/>
            </a:solidFill>
            <a:prstDash val="solid"/>
            <a:tailEnd type="triangle"/>
          </a:ln>
        </p:spPr>
      </p:sp>
      <p:sp>
        <p:nvSpPr>
          <p:cNvPr id="74" name="Shape 57"/>
          <p:cNvSpPr/>
          <p:nvPr/>
        </p:nvSpPr>
        <p:spPr>
          <a:xfrm>
            <a:off x="11109960" y="2441448"/>
            <a:ext cx="6766560" cy="475488"/>
          </a:xfrm>
          <a:prstGeom prst="roundRect">
            <a:avLst>
              <a:gd name="adj" fmla="val 11538"/>
            </a:avLst>
          </a:prstGeom>
          <a:solidFill>
            <a:srgbClr val="EEF0FB"/>
          </a:solidFill>
          <a:ln w="15875">
            <a:solidFill>
              <a:srgbClr val="B9C0E6"/>
            </a:solidFill>
            <a:prstDash val="solid"/>
          </a:ln>
        </p:spPr>
      </p:sp>
      <p:sp>
        <p:nvSpPr>
          <p:cNvPr id="75" name="Text 58"/>
          <p:cNvSpPr txBox="1"/>
          <p:nvPr/>
        </p:nvSpPr>
        <p:spPr>
          <a:xfrm>
            <a:off x="11247120" y="2441448"/>
            <a:ext cx="6583680" cy="475488"/>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Security / DevSecOps teams: </a:t>
            </a:r>
            <a:pPr indent="0" marL="0">
              <a:buNone/>
            </a:pPr>
            <a:r>
              <a:rPr lang="en-US" sz="1500" dirty="0">
                <a:solidFill>
                  <a:srgbClr val="1E2230"/>
                </a:solidFill>
                <a:latin typeface="Calibri" pitchFamily="34" charset="0"/>
                <a:ea typeface="Calibri" pitchFamily="34" charset="-122"/>
                <a:cs typeface="Calibri" pitchFamily="34" charset="-120"/>
              </a:rPr>
              <a:t>triage and verify every fix by hand</a:t>
            </a:r>
            <a:endParaRPr lang="en-US" sz="1500" dirty="0"/>
          </a:p>
        </p:txBody>
      </p:sp>
      <p:sp>
        <p:nvSpPr>
          <p:cNvPr id="76" name="Shape 59"/>
          <p:cNvSpPr/>
          <p:nvPr/>
        </p:nvSpPr>
        <p:spPr>
          <a:xfrm>
            <a:off x="10881360" y="2514600"/>
            <a:ext cx="210312" cy="164592"/>
          </a:xfrm>
          <a:prstGeom prst="line">
            <a:avLst/>
          </a:prstGeom>
          <a:noFill/>
          <a:ln w="15875">
            <a:solidFill>
              <a:srgbClr val="1B2A6B"/>
            </a:solidFill>
            <a:prstDash val="solid"/>
            <a:tailEnd type="triangle"/>
          </a:ln>
        </p:spPr>
      </p:sp>
      <p:sp>
        <p:nvSpPr>
          <p:cNvPr id="77" name="Shape 60"/>
          <p:cNvSpPr/>
          <p:nvPr/>
        </p:nvSpPr>
        <p:spPr>
          <a:xfrm>
            <a:off x="11109960" y="3008376"/>
            <a:ext cx="6766560" cy="475488"/>
          </a:xfrm>
          <a:prstGeom prst="roundRect">
            <a:avLst>
              <a:gd name="adj" fmla="val 11538"/>
            </a:avLst>
          </a:prstGeom>
          <a:solidFill>
            <a:srgbClr val="EEF0FB"/>
          </a:solidFill>
          <a:ln w="15875">
            <a:solidFill>
              <a:srgbClr val="B9C0E6"/>
            </a:solidFill>
            <a:prstDash val="solid"/>
          </a:ln>
        </p:spPr>
      </p:sp>
      <p:sp>
        <p:nvSpPr>
          <p:cNvPr id="78" name="Text 61"/>
          <p:cNvSpPr txBox="1"/>
          <p:nvPr/>
        </p:nvSpPr>
        <p:spPr>
          <a:xfrm>
            <a:off x="11247120" y="3008376"/>
            <a:ext cx="6583680" cy="475488"/>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Developers &amp; students: </a:t>
            </a:r>
            <a:pPr indent="0" marL="0">
              <a:buNone/>
            </a:pPr>
            <a:r>
              <a:rPr lang="en-US" sz="1500" dirty="0">
                <a:solidFill>
                  <a:srgbClr val="1E2230"/>
                </a:solidFill>
                <a:latin typeface="Calibri" pitchFamily="34" charset="0"/>
                <a:ea typeface="Calibri" pitchFamily="34" charset="-122"/>
                <a:cs typeface="Calibri" pitchFamily="34" charset="-120"/>
              </a:rPr>
              <a:t>don't know how to fix it securely</a:t>
            </a:r>
            <a:endParaRPr lang="en-US" sz="1500" dirty="0"/>
          </a:p>
        </p:txBody>
      </p:sp>
      <p:sp>
        <p:nvSpPr>
          <p:cNvPr id="79" name="Shape 62"/>
          <p:cNvSpPr/>
          <p:nvPr/>
        </p:nvSpPr>
        <p:spPr>
          <a:xfrm>
            <a:off x="10881360" y="2514600"/>
            <a:ext cx="210312" cy="731520"/>
          </a:xfrm>
          <a:prstGeom prst="line">
            <a:avLst/>
          </a:prstGeom>
          <a:noFill/>
          <a:ln w="15875">
            <a:solidFill>
              <a:srgbClr val="1B2A6B"/>
            </a:solidFill>
            <a:prstDash val="solid"/>
            <a:tailEnd type="triangle"/>
          </a:ln>
        </p:spPr>
      </p:sp>
      <p:sp>
        <p:nvSpPr>
          <p:cNvPr id="80" name="Shape 63"/>
          <p:cNvSpPr/>
          <p:nvPr/>
        </p:nvSpPr>
        <p:spPr>
          <a:xfrm>
            <a:off x="9345168" y="3794760"/>
            <a:ext cx="8686800" cy="6309360"/>
          </a:xfrm>
          <a:prstGeom prst="roundRect">
            <a:avLst>
              <a:gd name="adj" fmla="val 2029"/>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81" name="Text 64"/>
          <p:cNvSpPr txBox="1"/>
          <p:nvPr/>
        </p:nvSpPr>
        <p:spPr>
          <a:xfrm>
            <a:off x="9601200" y="3904488"/>
            <a:ext cx="8229600" cy="457200"/>
          </a:xfrm>
          <a:prstGeom prst="rect">
            <a:avLst/>
          </a:prstGeom>
          <a:noFill/>
          <a:ln/>
        </p:spPr>
        <p:txBody>
          <a:bodyPr wrap="square" lIns="0" tIns="0" rIns="0" bIns="0" rtlCol="0" anchor="t"/>
          <a:lstStyle/>
          <a:p>
            <a:pPr indent="0" marL="0">
              <a:buNone/>
            </a:pPr>
            <a:r>
              <a:rPr lang="en-US" sz="2100" b="1" u="sng" dirty="0">
                <a:solidFill>
                  <a:srgbClr val="1B2A6B"/>
                </a:solidFill>
                <a:latin typeface="Calibri" pitchFamily="34" charset="0"/>
                <a:ea typeface="Calibri" pitchFamily="34" charset="-122"/>
                <a:cs typeface="Calibri" pitchFamily="34" charset="-120"/>
              </a:rPr>
              <a:t>Research &amp; Benchmarking of Existing Systems</a:t>
            </a:r>
            <a:endParaRPr lang="en-US" sz="2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555480" y="4462272"/>
          <a:ext cx="8275320" cy="914400"/>
        </p:xfrm>
        <a:graphic>
          <a:graphicData uri="http://schemas.openxmlformats.org/drawingml/2006/table">
            <a:tbl>
              <a:tblPr/>
              <a:tblGrid>
                <a:gridCol w="2606040"/>
                <a:gridCol w="2743200"/>
                <a:gridCol w="292608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EXISTING SYSTEM</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solidFill>
                      <a:srgbClr val="1B2A6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THEY DON'T DO</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solidFill>
                      <a:srgbClr val="1B2A6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KAIZEN DOES</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solidFill>
                      <a:srgbClr val="1B2A6B"/>
                    </a:solidFill>
                  </a:tcPr>
                </a:tc>
              </a:tr>
              <a:tr h="713232">
                <a:tc>
                  <a:txBody>
                    <a:bodyPr/>
                    <a:lstStyle/>
                    <a:p>
                      <a:pPr indent="0" marL="0">
                        <a:buNone/>
                      </a:pPr>
                      <a:r>
                        <a:rPr lang="en-US" sz="1350" b="1" dirty="0">
                          <a:solidFill>
                            <a:srgbClr val="1B2A6B"/>
                          </a:solidFill>
                          <a:latin typeface="Calibri" pitchFamily="34" charset="0"/>
                          <a:ea typeface="Calibri" pitchFamily="34" charset="-122"/>
                          <a:cs typeface="Calibri" pitchFamily="34" charset="-120"/>
                        </a:rPr>
                        <a:t>Static scanners</a:t>
                      </a:r>
                      <a:endParaRPr lang="en-US" sz="1350" dirty="0">
                        <a:latin typeface="Calibri" charset="0"/>
                        <a:ea typeface="Calibri" charset="0"/>
                        <a:cs typeface="Calibri" charset="0"/>
                      </a:endParaRPr>
                    </a:p>
                    <a:p>
                      <a:pPr indent="0" marL="0">
                        <a:buNone/>
                      </a:pPr>
                      <a:r>
                        <a:rPr lang="en-US" sz="1150" dirty="0">
                          <a:solidFill>
                            <a:srgbClr val="4A5163"/>
                          </a:solidFill>
                          <a:latin typeface="Calibri" pitchFamily="34" charset="0"/>
                          <a:ea typeface="Calibri" pitchFamily="34" charset="-122"/>
                          <a:cs typeface="Calibri" pitchFamily="34" charset="-120"/>
                        </a:rPr>
                        <a:t>CodeQL · Semgrep · Bandit</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Write a fix</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Prove exploitability</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Uses them as inputs</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LLM root-cause triage</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r>
              <a:tr h="713232">
                <a:tc>
                  <a:txBody>
                    <a:bodyPr/>
                    <a:lstStyle/>
                    <a:p>
                      <a:pPr indent="0" marL="0">
                        <a:buNone/>
                      </a:pPr>
                      <a:r>
                        <a:rPr lang="en-US" sz="1350" b="1" dirty="0">
                          <a:solidFill>
                            <a:srgbClr val="1B2A6B"/>
                          </a:solidFill>
                          <a:latin typeface="Calibri" pitchFamily="34" charset="0"/>
                          <a:ea typeface="Calibri" pitchFamily="34" charset="-122"/>
                          <a:cs typeface="Calibri" pitchFamily="34" charset="-120"/>
                        </a:rPr>
                        <a:t>Dependency bots</a:t>
                      </a:r>
                      <a:endParaRPr lang="en-US" sz="1350" dirty="0">
                        <a:latin typeface="Calibri" charset="0"/>
                        <a:ea typeface="Calibri" charset="0"/>
                        <a:cs typeface="Calibri" charset="0"/>
                      </a:endParaRPr>
                    </a:p>
                    <a:p>
                      <a:pPr indent="0" marL="0">
                        <a:buNone/>
                      </a:pPr>
                      <a:r>
                        <a:rPr lang="en-US" sz="1150" dirty="0">
                          <a:solidFill>
                            <a:srgbClr val="4A5163"/>
                          </a:solidFill>
                          <a:latin typeface="Calibri" pitchFamily="34" charset="0"/>
                          <a:ea typeface="Calibri" pitchFamily="34" charset="-122"/>
                          <a:cs typeface="Calibri" pitchFamily="34" charset="-120"/>
                        </a:rPr>
                        <a:t>Dependabot · Snyk</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Fix first-party code</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Exploit proof</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Patches your own code</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Exploit test per fix</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r>
              <a:tr h="713232">
                <a:tc>
                  <a:txBody>
                    <a:bodyPr/>
                    <a:lstStyle/>
                    <a:p>
                      <a:pPr indent="0" marL="0">
                        <a:buNone/>
                      </a:pPr>
                      <a:r>
                        <a:rPr lang="en-US" sz="1350" b="1" dirty="0">
                          <a:solidFill>
                            <a:srgbClr val="1B2A6B"/>
                          </a:solidFill>
                          <a:latin typeface="Calibri" pitchFamily="34" charset="0"/>
                          <a:ea typeface="Calibri" pitchFamily="34" charset="-122"/>
                          <a:cs typeface="Calibri" pitchFamily="34" charset="-120"/>
                        </a:rPr>
                        <a:t>AI autofix</a:t>
                      </a:r>
                      <a:endParaRPr lang="en-US" sz="1350" dirty="0">
                        <a:latin typeface="Calibri" charset="0"/>
                        <a:ea typeface="Calibri" charset="0"/>
                        <a:cs typeface="Calibri" charset="0"/>
                      </a:endParaRPr>
                    </a:p>
                    <a:p>
                      <a:pPr indent="0" marL="0">
                        <a:buNone/>
                      </a:pPr>
                      <a:r>
                        <a:rPr lang="en-US" sz="1150" dirty="0">
                          <a:solidFill>
                            <a:srgbClr val="4A5163"/>
                          </a:solidFill>
                          <a:latin typeface="Calibri" pitchFamily="34" charset="0"/>
                          <a:ea typeface="Calibri" pitchFamily="34" charset="-122"/>
                          <a:cs typeface="Calibri" pitchFamily="34" charset="-120"/>
                        </a:rPr>
                        <a:t>GitHub Copilot Autofix</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Exploit fail → pass gate</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Test-suite regression gate</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Both gates mandatory</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Evidence pack per fix</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r>
              <a:tr h="713232">
                <a:tc>
                  <a:txBody>
                    <a:bodyPr/>
                    <a:lstStyle/>
                    <a:p>
                      <a:pPr indent="0" marL="0">
                        <a:buNone/>
                      </a:pPr>
                      <a:r>
                        <a:rPr lang="en-US" sz="1350" b="1" dirty="0">
                          <a:solidFill>
                            <a:srgbClr val="1B2A6B"/>
                          </a:solidFill>
                          <a:latin typeface="Calibri" pitchFamily="34" charset="0"/>
                          <a:ea typeface="Calibri" pitchFamily="34" charset="-122"/>
                          <a:cs typeface="Calibri" pitchFamily="34" charset="-120"/>
                        </a:rPr>
                        <a:t>Research agents</a:t>
                      </a:r>
                      <a:endParaRPr lang="en-US" sz="1350" dirty="0">
                        <a:latin typeface="Calibri" charset="0"/>
                        <a:ea typeface="Calibri" charset="0"/>
                        <a:cs typeface="Calibri" charset="0"/>
                      </a:endParaRPr>
                    </a:p>
                    <a:p>
                      <a:pPr indent="0" marL="0">
                        <a:buNone/>
                      </a:pPr>
                      <a:r>
                        <a:rPr lang="en-US" sz="1150" dirty="0">
                          <a:solidFill>
                            <a:srgbClr val="4A5163"/>
                          </a:solidFill>
                          <a:latin typeface="Calibri" pitchFamily="34" charset="0"/>
                          <a:ea typeface="Calibri" pitchFamily="34" charset="-122"/>
                          <a:cs typeface="Calibri" pitchFamily="34" charset="-120"/>
                        </a:rPr>
                        <a:t>SWE-agent · AutoCodeRover</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Security / CWE focus</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Push-triggered fixing</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c>
                  <a:txBody>
                    <a:bodyPr/>
                    <a:lstStyle/>
                    <a:p>
                      <a:pPr indent="0" marL="0">
                        <a:buNone/>
                      </a:pPr>
                      <a:r>
                        <a:rPr lang="en-US" sz="1350" dirty="0">
                          <a:solidFill>
                            <a:srgbClr val="1E2230"/>
                          </a:solidFill>
                          <a:latin typeface="Calibri" pitchFamily="34" charset="0"/>
                          <a:ea typeface="Calibri" pitchFamily="34" charset="-122"/>
                          <a:cs typeface="Calibri" pitchFamily="34" charset="-120"/>
                        </a:rPr>
                        <a:t>✓ 13 CWE classes</a:t>
                      </a:r>
                      <a:endParaRPr lang="en-US" sz="1350" dirty="0">
                        <a:latin typeface="Calibri" charset="0"/>
                        <a:ea typeface="Calibri" charset="0"/>
                        <a:cs typeface="Calibri" charset="0"/>
                      </a:endParaRPr>
                    </a:p>
                    <a:p>
                      <a:pPr indent="0" marL="0">
                        <a:buNone/>
                      </a:pPr>
                      <a:r>
                        <a:rPr lang="en-US" sz="1350" dirty="0">
                          <a:solidFill>
                            <a:srgbClr val="1E2230"/>
                          </a:solidFill>
                          <a:latin typeface="Calibri" pitchFamily="34" charset="0"/>
                          <a:ea typeface="Calibri" pitchFamily="34" charset="-122"/>
                          <a:cs typeface="Calibri" pitchFamily="34" charset="-120"/>
                        </a:rPr>
                        <a:t>✓ Push → PR automatically</a:t>
                      </a:r>
                      <a:endParaRPr lang="en-US" sz="1350" dirty="0">
                        <a:latin typeface="Calibri" charset="0"/>
                        <a:ea typeface="Calibri" charset="0"/>
                        <a:cs typeface="Calibri" charset="0"/>
                      </a:endParaRPr>
                    </a:p>
                  </a:txBody>
                  <a:tcPr marL="73152" marR="73152" marT="36576" marB="36576" anchor="ctr">
                    <a:lnL w="9525" cap="flat" cmpd="sng" algn="ctr">
                      <a:solidFill>
                        <a:srgbClr val="C9CDD8"/>
                      </a:solidFill>
                      <a:prstDash val="solid"/>
                      <a:round/>
                      <a:headEnd type="none" w="med" len="med"/>
                      <a:tailEnd type="none" w="med" len="med"/>
                    </a:lnL>
                    <a:lnR w="9525" cap="flat" cmpd="sng" algn="ctr">
                      <a:solidFill>
                        <a:srgbClr val="C9CDD8"/>
                      </a:solidFill>
                      <a:prstDash val="solid"/>
                      <a:round/>
                      <a:headEnd type="none" w="med" len="med"/>
                      <a:tailEnd type="none" w="med" len="med"/>
                    </a:lnR>
                    <a:lnT w="9525" cap="flat" cmpd="sng" algn="ctr">
                      <a:solidFill>
                        <a:srgbClr val="C9CDD8"/>
                      </a:solidFill>
                      <a:prstDash val="solid"/>
                      <a:round/>
                      <a:headEnd type="none" w="med" len="med"/>
                      <a:tailEnd type="none" w="med" len="med"/>
                    </a:lnT>
                    <a:lnB w="9525" cap="flat" cmpd="sng" algn="ctr">
                      <a:solidFill>
                        <a:srgbClr val="C9CDD8"/>
                      </a:solidFill>
                      <a:prstDash val="solid"/>
                      <a:round/>
                      <a:headEnd type="none" w="med" len="med"/>
                      <a:tailEnd type="none" w="med" len="med"/>
                    </a:lnB>
                  </a:tcPr>
                </a:tc>
              </a:tr>
            </a:tbl>
          </a:graphicData>
        </a:graphic>
      </p:graphicFrame>
      <p:sp>
        <p:nvSpPr>
          <p:cNvPr id="83" name="Shape 65"/>
          <p:cNvSpPr/>
          <p:nvPr/>
        </p:nvSpPr>
        <p:spPr>
          <a:xfrm>
            <a:off x="9555480" y="8001000"/>
            <a:ext cx="8275320" cy="1938528"/>
          </a:xfrm>
          <a:prstGeom prst="roundRect">
            <a:avLst>
              <a:gd name="adj" fmla="val 2830"/>
            </a:avLst>
          </a:prstGeom>
          <a:solidFill>
            <a:srgbClr val="F7F8FC"/>
          </a:solidFill>
          <a:ln w="15875">
            <a:solidFill>
              <a:srgbClr val="D7DBE6"/>
            </a:solidFill>
            <a:prstDash val="solid"/>
          </a:ln>
        </p:spPr>
      </p:sp>
      <p:sp>
        <p:nvSpPr>
          <p:cNvPr id="84" name="Text 66"/>
          <p:cNvSpPr txBox="1"/>
          <p:nvPr/>
        </p:nvSpPr>
        <p:spPr>
          <a:xfrm>
            <a:off x="9710928" y="8065008"/>
            <a:ext cx="5486400" cy="365760"/>
          </a:xfrm>
          <a:prstGeom prst="rect">
            <a:avLst/>
          </a:prstGeom>
          <a:noFill/>
          <a:ln/>
        </p:spPr>
        <p:txBody>
          <a:bodyPr wrap="square" lIns="0" tIns="0" rIns="0" bIns="0" rtlCol="0" anchor="t"/>
          <a:lstStyle/>
          <a:p>
            <a:pPr indent="0" marL="0">
              <a:buNone/>
            </a:pPr>
            <a:r>
              <a:rPr lang="en-US" sz="1600" b="1" dirty="0">
                <a:solidFill>
                  <a:srgbClr val="1B2A6B"/>
                </a:solidFill>
                <a:latin typeface="Calibri" pitchFamily="34" charset="0"/>
                <a:ea typeface="Calibri" pitchFamily="34" charset="-122"/>
                <a:cs typeface="Calibri" pitchFamily="34" charset="-120"/>
              </a:rPr>
              <a:t>Research &amp; practice</a:t>
            </a:r>
            <a:endParaRPr lang="en-US" sz="1600" dirty="0"/>
          </a:p>
        </p:txBody>
      </p:sp>
      <p:sp>
        <p:nvSpPr>
          <p:cNvPr id="85" name="Text 67"/>
          <p:cNvSpPr txBox="1"/>
          <p:nvPr/>
        </p:nvSpPr>
        <p:spPr>
          <a:xfrm>
            <a:off x="9710928" y="8449056"/>
            <a:ext cx="8046720" cy="141732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4A5163"/>
                </a:solidFill>
                <a:latin typeface="Calibri" pitchFamily="34" charset="0"/>
                <a:ea typeface="Calibri" pitchFamily="34" charset="-122"/>
                <a:cs typeface="Calibri" pitchFamily="34" charset="-120"/>
              </a:rPr>
              <a:t>Jimenez et al., "SWE-bench: Can LMs Resolve Real-World GitHub Issues?", ICLR 2024  </a:t>
            </a:r>
            <a:pPr indent="0" marL="0">
              <a:buNone/>
            </a:pPr>
            <a:r>
              <a:rPr lang="en-US" sz="1250" u="sng" dirty="0">
                <a:solidFill>
                  <a:srgbClr val="1A4FD6"/>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(LINK)</a:t>
            </a:r>
            <a:endParaRPr lang="en-US" sz="1250" dirty="0"/>
          </a:p>
          <a:p>
            <a:pPr marL="342900" indent="-342900">
              <a:spcAft>
                <a:spcPts val="200"/>
              </a:spcAft>
              <a:buSzPct val="100000"/>
              <a:buChar char="•"/>
            </a:pPr>
            <a:r>
              <a:rPr lang="en-US" sz="1250" dirty="0">
                <a:solidFill>
                  <a:srgbClr val="4A5163"/>
                </a:solidFill>
                <a:latin typeface="Calibri" pitchFamily="34" charset="0"/>
                <a:ea typeface="Calibri" pitchFamily="34" charset="-122"/>
                <a:cs typeface="Calibri" pitchFamily="34" charset="-120"/>
              </a:rPr>
              <a:t>Zhang et al., "AutoCodeRover: Autonomous Program Improvement", ISSTA 2024  </a:t>
            </a:r>
            <a:pPr indent="0" marL="0">
              <a:buNone/>
            </a:pPr>
            <a:r>
              <a:rPr lang="en-US" sz="1250" u="sng" dirty="0">
                <a:solidFill>
                  <a:srgbClr val="1A4FD6"/>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(LINK)</a:t>
            </a:r>
            <a:endParaRPr lang="en-US" sz="1250" dirty="0"/>
          </a:p>
          <a:p>
            <a:pPr marL="342900" indent="-342900">
              <a:spcAft>
                <a:spcPts val="200"/>
              </a:spcAft>
              <a:buSzPct val="100000"/>
              <a:buChar char="•"/>
            </a:pPr>
            <a:r>
              <a:rPr lang="en-US" sz="1250" dirty="0">
                <a:solidFill>
                  <a:srgbClr val="4A5163"/>
                </a:solidFill>
                <a:latin typeface="Calibri" pitchFamily="34" charset="0"/>
                <a:ea typeface="Calibri" pitchFamily="34" charset="-122"/>
                <a:cs typeface="Calibri" pitchFamily="34" charset="-120"/>
              </a:rPr>
              <a:t>Pearce et al., "Examining Zero-Shot Vulnerability Repair with LLMs", IEEE S&amp;P 2023  </a:t>
            </a:r>
            <a:pPr indent="0" marL="0">
              <a:buNone/>
            </a:pPr>
            <a:r>
              <a:rPr lang="en-US" sz="1250" u="sng" dirty="0">
                <a:solidFill>
                  <a:srgbClr val="1A4FD6"/>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(LINK)</a:t>
            </a:r>
            <a:endParaRPr lang="en-US" sz="1250" dirty="0"/>
          </a:p>
          <a:p>
            <a:pPr marL="342900" indent="-342900">
              <a:spcAft>
                <a:spcPts val="200"/>
              </a:spcAft>
              <a:buSzPct val="100000"/>
              <a:buChar char="•"/>
            </a:pPr>
            <a:r>
              <a:rPr lang="en-US" sz="1250" dirty="0">
                <a:solidFill>
                  <a:srgbClr val="4A5163"/>
                </a:solidFill>
                <a:latin typeface="Calibri" pitchFamily="34" charset="0"/>
                <a:ea typeface="Calibri" pitchFamily="34" charset="-122"/>
                <a:cs typeface="Calibri" pitchFamily="34" charset="-120"/>
              </a:rPr>
              <a:t>MITRE, "CWE Top 25 Most Dangerous Software Weaknesses", 2024  </a:t>
            </a:r>
            <a:pPr indent="0" marL="0">
              <a:buNone/>
            </a:pPr>
            <a:r>
              <a:rPr lang="en-US" sz="1250" u="sng" dirty="0">
                <a:solidFill>
                  <a:srgbClr val="1A4FD6"/>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(LINK)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3_x108_0_0_1440x810.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C:\Users\Admin\AppData\Local\Temp\claude\C--Users-Admin-Documents-Projects-HackOnTrack\4c97a385-1eae-4d0d-a267-e15be26504cc\scratchpad\deck\img\p2_x117_21_9_121x119.png">    </p:cNvPr>
          <p:cNvPicPr>
            <a:picLocks noChangeAspect="1"/>
          </p:cNvPicPr>
          <p:nvPr/>
        </p:nvPicPr>
        <p:blipFill>
          <a:blip r:embed="rId2"/>
          <a:stretch>
            <a:fillRect/>
          </a:stretch>
        </p:blipFill>
        <p:spPr>
          <a:xfrm>
            <a:off x="256032" y="128016"/>
            <a:ext cx="1536192" cy="1508760"/>
          </a:xfrm>
          <a:prstGeom prst="rect">
            <a:avLst/>
          </a:prstGeom>
        </p:spPr>
      </p:pic>
      <p:pic>
        <p:nvPicPr>
          <p:cNvPr id="4" name="Image 2" descr="C:\Users\Admin\AppData\Local\Temp\claude\C--Users-Admin-Documents-Projects-HackOnTrack\4c97a385-1eae-4d0d-a267-e15be26504cc\scratchpad\deck\img\p2_x115_1297_9_119x119.png">    </p:cNvPr>
          <p:cNvPicPr>
            <a:picLocks noChangeAspect="1"/>
          </p:cNvPicPr>
          <p:nvPr/>
        </p:nvPicPr>
        <p:blipFill>
          <a:blip r:embed="rId3"/>
          <a:stretch>
            <a:fillRect/>
          </a:stretch>
        </p:blipFill>
        <p:spPr>
          <a:xfrm>
            <a:off x="16477488" y="128016"/>
            <a:ext cx="1508760" cy="1508760"/>
          </a:xfrm>
          <a:prstGeom prst="rect">
            <a:avLst/>
          </a:prstGeom>
        </p:spPr>
      </p:pic>
      <p:pic>
        <p:nvPicPr>
          <p:cNvPr id="5" name="Image 3" descr="C:\Users\Admin\AppData\Local\Temp\claude\C--Users-Admin-Documents-Projects-HackOnTrack\4c97a385-1eae-4d0d-a267-e15be26504cc\scratchpad\deck\img\title_r1_0.png">    </p:cNvPr>
          <p:cNvPicPr>
            <a:picLocks noChangeAspect="1"/>
          </p:cNvPicPr>
          <p:nvPr/>
        </p:nvPicPr>
        <p:blipFill>
          <a:blip r:embed="rId4"/>
          <a:stretch>
            <a:fillRect/>
          </a:stretch>
        </p:blipFill>
        <p:spPr>
          <a:xfrm>
            <a:off x="5320272" y="320040"/>
            <a:ext cx="7647455" cy="1097280"/>
          </a:xfrm>
          <a:prstGeom prst="rect">
            <a:avLst/>
          </a:prstGeom>
        </p:spPr>
      </p:pic>
      <p:sp>
        <p:nvSpPr>
          <p:cNvPr id="6" name="Shape 0"/>
          <p:cNvSpPr/>
          <p:nvPr/>
        </p:nvSpPr>
        <p:spPr>
          <a:xfrm>
            <a:off x="228600" y="1783080"/>
            <a:ext cx="8641080" cy="5532120"/>
          </a:xfrm>
          <a:prstGeom prst="roundRect">
            <a:avLst>
              <a:gd name="adj" fmla="val 2314"/>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7" name="Shape 1"/>
          <p:cNvSpPr/>
          <p:nvPr/>
        </p:nvSpPr>
        <p:spPr>
          <a:xfrm>
            <a:off x="640080" y="1965960"/>
            <a:ext cx="3291840" cy="566928"/>
          </a:xfrm>
          <a:prstGeom prst="roundRect">
            <a:avLst>
              <a:gd name="adj" fmla="val 50000"/>
            </a:avLst>
          </a:prstGeom>
          <a:solidFill>
            <a:srgbClr val="F28C28"/>
          </a:solidFill>
          <a:ln/>
        </p:spPr>
      </p:sp>
      <p:sp>
        <p:nvSpPr>
          <p:cNvPr id="8" name="Shape 2"/>
          <p:cNvSpPr/>
          <p:nvPr/>
        </p:nvSpPr>
        <p:spPr>
          <a:xfrm>
            <a:off x="365760" y="1911096"/>
            <a:ext cx="676656" cy="676656"/>
          </a:xfrm>
          <a:prstGeom prst="ellipse">
            <a:avLst/>
          </a:prstGeom>
          <a:solidFill>
            <a:srgbClr val="FFFFFF"/>
          </a:solidFill>
          <a:ln/>
        </p:spPr>
      </p:sp>
      <p:pic>
        <p:nvPicPr>
          <p:cNvPr id="9" name="Image 4" descr="preencoded.png">    </p:cNvPr>
          <p:cNvPicPr>
            <a:picLocks noChangeAspect="1"/>
          </p:cNvPicPr>
          <p:nvPr/>
        </p:nvPicPr>
        <p:blipFill>
          <a:blip r:embed="rId5"/>
          <a:stretch>
            <a:fillRect/>
          </a:stretch>
        </p:blipFill>
        <p:spPr>
          <a:xfrm>
            <a:off x="514624" y="2059960"/>
            <a:ext cx="378927" cy="378927"/>
          </a:xfrm>
          <a:prstGeom prst="rect">
            <a:avLst/>
          </a:prstGeom>
        </p:spPr>
      </p:pic>
      <p:sp>
        <p:nvSpPr>
          <p:cNvPr id="10" name="Shape 3"/>
          <p:cNvSpPr/>
          <p:nvPr/>
        </p:nvSpPr>
        <p:spPr>
          <a:xfrm>
            <a:off x="365760" y="1911096"/>
            <a:ext cx="676656" cy="676656"/>
          </a:xfrm>
          <a:prstGeom prst="ellipse">
            <a:avLst/>
          </a:prstGeom>
          <a:ln w="25400">
            <a:solidFill>
              <a:srgbClr val="F28C28"/>
            </a:solidFill>
            <a:prstDash val="solid"/>
          </a:ln>
        </p:spPr>
      </p:sp>
      <p:sp>
        <p:nvSpPr>
          <p:cNvPr id="11" name="Text 4"/>
          <p:cNvSpPr txBox="1"/>
          <p:nvPr/>
        </p:nvSpPr>
        <p:spPr>
          <a:xfrm>
            <a:off x="1161288" y="1965960"/>
            <a:ext cx="274320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PROPOSED SOLUTION</a:t>
            </a:r>
            <a:endParaRPr lang="en-US" sz="1900" dirty="0"/>
          </a:p>
        </p:txBody>
      </p:sp>
      <p:sp>
        <p:nvSpPr>
          <p:cNvPr id="12" name="Text 5"/>
          <p:cNvSpPr txBox="1"/>
          <p:nvPr/>
        </p:nvSpPr>
        <p:spPr>
          <a:xfrm>
            <a:off x="548640" y="2743200"/>
            <a:ext cx="8092440" cy="1234440"/>
          </a:xfrm>
          <a:prstGeom prst="rect">
            <a:avLst/>
          </a:prstGeom>
          <a:noFill/>
          <a:ln/>
        </p:spPr>
        <p:txBody>
          <a:bodyPr wrap="square" lIns="0" tIns="0" rIns="0" bIns="0" rtlCol="0" anchor="t"/>
          <a:lstStyle/>
          <a:p>
            <a:pPr indent="0" marL="0">
              <a:buNone/>
            </a:pPr>
            <a:r>
              <a:rPr lang="en-US" sz="1700" b="1" dirty="0">
                <a:solidFill>
                  <a:srgbClr val="F28C28"/>
                </a:solidFill>
                <a:latin typeface="Calibri" pitchFamily="34" charset="0"/>
                <a:ea typeface="Calibri" pitchFamily="34" charset="-122"/>
                <a:cs typeface="Calibri" pitchFamily="34" charset="-120"/>
              </a:rPr>
              <a:t>KAIZEN: </a:t>
            </a:r>
            <a:pPr indent="0" marL="0">
              <a:buNone/>
            </a:pPr>
            <a:r>
              <a:rPr lang="en-US" sz="1700" dirty="0">
                <a:solidFill>
                  <a:srgbClr val="1E2230"/>
                </a:solidFill>
                <a:latin typeface="Calibri" pitchFamily="34" charset="0"/>
                <a:ea typeface="Calibri" pitchFamily="34" charset="-122"/>
                <a:cs typeface="Calibri" pitchFamily="34" charset="-120"/>
              </a:rPr>
              <a:t>an AI security-repair agent that takes a GitHub repository (or a single push), </a:t>
            </a:r>
            <a:pPr indent="0" marL="0">
              <a:buNone/>
            </a:pPr>
            <a:r>
              <a:rPr lang="en-US" sz="1700" b="1" dirty="0">
                <a:solidFill>
                  <a:srgbClr val="1E2230"/>
                </a:solidFill>
                <a:latin typeface="Calibri" pitchFamily="34" charset="0"/>
                <a:ea typeface="Calibri" pitchFamily="34" charset="-122"/>
                <a:cs typeface="Calibri" pitchFamily="34" charset="-120"/>
              </a:rPr>
              <a:t>locates exploitable bugs</a:t>
            </a:r>
            <a:pPr indent="0" marL="0">
              <a:buNone/>
            </a:pPr>
            <a:r>
              <a:rPr lang="en-US" sz="1700" dirty="0">
                <a:solidFill>
                  <a:srgbClr val="1E2230"/>
                </a:solidFill>
                <a:latin typeface="Calibri" pitchFamily="34" charset="0"/>
                <a:ea typeface="Calibri" pitchFamily="34" charset="-122"/>
                <a:cs typeface="Calibri" pitchFamily="34" charset="-120"/>
              </a:rPr>
              <a:t>, writes a </a:t>
            </a:r>
            <a:pPr indent="0" marL="0">
              <a:buNone/>
            </a:pPr>
            <a:r>
              <a:rPr lang="en-US" sz="1700" b="1" dirty="0">
                <a:solidFill>
                  <a:srgbClr val="1E2230"/>
                </a:solidFill>
                <a:latin typeface="Calibri" pitchFamily="34" charset="0"/>
                <a:ea typeface="Calibri" pitchFamily="34" charset="-122"/>
                <a:cs typeface="Calibri" pitchFamily="34" charset="-120"/>
              </a:rPr>
              <a:t>minimal patch</a:t>
            </a:r>
            <a:pPr indent="0" marL="0">
              <a:buNone/>
            </a:pPr>
            <a:r>
              <a:rPr lang="en-US" sz="1700" dirty="0">
                <a:solidFill>
                  <a:srgbClr val="1E2230"/>
                </a:solidFill>
                <a:latin typeface="Calibri" pitchFamily="34" charset="0"/>
                <a:ea typeface="Calibri" pitchFamily="34" charset="-122"/>
                <a:cs typeface="Calibri" pitchFamily="34" charset="-120"/>
              </a:rPr>
              <a:t> and </a:t>
            </a:r>
            <a:pPr indent="0" marL="0">
              <a:buNone/>
            </a:pPr>
            <a:r>
              <a:rPr lang="en-US" sz="1700" b="1" dirty="0">
                <a:solidFill>
                  <a:srgbClr val="1E2230"/>
                </a:solidFill>
                <a:latin typeface="Calibri" pitchFamily="34" charset="0"/>
                <a:ea typeface="Calibri" pitchFamily="34" charset="-122"/>
                <a:cs typeface="Calibri" pitchFamily="34" charset="-120"/>
              </a:rPr>
              <a:t>proves it</a:t>
            </a:r>
            <a:pPr indent="0" marL="0">
              <a:buNone/>
            </a:pPr>
            <a:r>
              <a:rPr lang="en-US" sz="1700" dirty="0">
                <a:solidFill>
                  <a:srgbClr val="1E2230"/>
                </a:solidFill>
                <a:latin typeface="Calibri" pitchFamily="34" charset="0"/>
                <a:ea typeface="Calibri" pitchFamily="34" charset="-122"/>
                <a:cs typeface="Calibri" pitchFamily="34" charset="-120"/>
              </a:rPr>
              <a:t>: exploit blocked, existing test suite still green, before anything is committed.</a:t>
            </a:r>
            <a:endParaRPr lang="en-US" sz="1700" dirty="0"/>
          </a:p>
        </p:txBody>
      </p:sp>
      <p:sp>
        <p:nvSpPr>
          <p:cNvPr id="13" name="Text 6"/>
          <p:cNvSpPr txBox="1"/>
          <p:nvPr/>
        </p:nvSpPr>
        <p:spPr>
          <a:xfrm>
            <a:off x="548640" y="4069080"/>
            <a:ext cx="8138160" cy="3154680"/>
          </a:xfrm>
          <a:prstGeom prst="rect">
            <a:avLst/>
          </a:prstGeom>
          <a:noFill/>
          <a:ln/>
        </p:spPr>
        <p:txBody>
          <a:bodyPr wrap="square" lIns="0" tIns="0" rIns="0" bIns="0" rtlCol="0" anchor="t"/>
          <a:lstStyle/>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Detect: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own rules (Python, JS/TS) + Bandit + Semgrep + CodeQL alerts</a:t>
            </a:r>
            <a:endParaRPr lang="en-US" sz="1550" dirty="0"/>
          </a:p>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Triage: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LLM reads the flagged code and its callers; safe findings are cleared with a reason</a:t>
            </a:r>
            <a:endParaRPr lang="en-US" sz="1550" dirty="0"/>
          </a:p>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Reproduce: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generates an exploit test that must FAIL on the original code</a:t>
            </a:r>
            <a:endParaRPr lang="en-US" sz="1550" dirty="0"/>
          </a:p>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Patch: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minimal edit (≤ 2 files, ≤ 40 lines), up to 4 findings in parallel</a:t>
            </a:r>
            <a:endParaRPr lang="en-US" sz="1550" dirty="0"/>
          </a:p>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Prove: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exploit test now PASSES, existing tests show 0 new failures, code still parses</a:t>
            </a:r>
            <a:endParaRPr lang="en-US" sz="1550" dirty="0"/>
          </a:p>
          <a:p>
            <a:pPr indent="0" marL="0">
              <a:spcAft>
                <a:spcPts val="500"/>
              </a:spcAft>
              <a:buNone/>
            </a:pPr>
            <a:r>
              <a:rPr lang="en-US" sz="1550" b="1" dirty="0">
                <a:solidFill>
                  <a:srgbClr val="F28C28"/>
                </a:solidFill>
                <a:latin typeface="Calibri" pitchFamily="34" charset="0"/>
                <a:ea typeface="Calibri" pitchFamily="34" charset="-122"/>
                <a:cs typeface="Calibri" pitchFamily="34" charset="-120"/>
              </a:rPr>
              <a:t>➢  </a:t>
            </a:r>
            <a:pPr indent="0" marL="0">
              <a:spcAft>
                <a:spcPts val="500"/>
              </a:spcAft>
              <a:buNone/>
            </a:pPr>
            <a:r>
              <a:rPr lang="en-US" sz="1550" b="1" dirty="0">
                <a:solidFill>
                  <a:srgbClr val="1E2230"/>
                </a:solidFill>
                <a:latin typeface="Calibri" pitchFamily="34" charset="0"/>
                <a:ea typeface="Calibri" pitchFamily="34" charset="-122"/>
                <a:cs typeface="Calibri" pitchFamily="34" charset="-120"/>
              </a:rPr>
              <a:t>Ship: </a:t>
            </a:r>
            <a:pPr indent="0" marL="0">
              <a:spcAft>
                <a:spcPts val="500"/>
              </a:spcAft>
              <a:buNone/>
            </a:pPr>
            <a:r>
              <a:rPr lang="en-US" sz="1550" dirty="0">
                <a:solidFill>
                  <a:srgbClr val="1E2230"/>
                </a:solidFill>
                <a:latin typeface="Calibri" pitchFamily="34" charset="0"/>
                <a:ea typeface="Calibri" pitchFamily="34" charset="-122"/>
                <a:cs typeface="Calibri" pitchFamily="34" charset="-120"/>
              </a:rPr>
              <a:t>pull request + evidence pack (diff, tests, every command with its SHA-256)</a:t>
            </a:r>
            <a:endParaRPr lang="en-US" sz="1550" dirty="0"/>
          </a:p>
        </p:txBody>
      </p:sp>
      <p:sp>
        <p:nvSpPr>
          <p:cNvPr id="14" name="Shape 7"/>
          <p:cNvSpPr/>
          <p:nvPr/>
        </p:nvSpPr>
        <p:spPr>
          <a:xfrm>
            <a:off x="228600" y="7498080"/>
            <a:ext cx="8641080" cy="2606040"/>
          </a:xfrm>
          <a:prstGeom prst="roundRect">
            <a:avLst>
              <a:gd name="adj" fmla="val 4912"/>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5" name="Text 8"/>
          <p:cNvSpPr txBox="1"/>
          <p:nvPr/>
        </p:nvSpPr>
        <p:spPr>
          <a:xfrm>
            <a:off x="457200" y="7589520"/>
            <a:ext cx="8229600" cy="457200"/>
          </a:xfrm>
          <a:prstGeom prst="rect">
            <a:avLst/>
          </a:prstGeom>
          <a:noFill/>
          <a:ln/>
        </p:spPr>
        <p:txBody>
          <a:bodyPr wrap="square" lIns="0" tIns="0" rIns="0" bIns="0" rtlCol="0" anchor="t"/>
          <a:lstStyle/>
          <a:p>
            <a:pPr indent="0" marL="0">
              <a:buNone/>
            </a:pPr>
            <a:r>
              <a:rPr lang="en-US" sz="2100" b="1" dirty="0">
                <a:solidFill>
                  <a:srgbClr val="1E2230"/>
                </a:solidFill>
                <a:latin typeface="Calibri" pitchFamily="34" charset="0"/>
                <a:ea typeface="Calibri" pitchFamily="34" charset="-122"/>
                <a:cs typeface="Calibri" pitchFamily="34" charset="-120"/>
              </a:rPr>
              <a:t>KAIZEN – From Push to Verified Pull Request</a:t>
            </a:r>
            <a:endParaRPr lang="en-US" sz="2100" dirty="0"/>
          </a:p>
        </p:txBody>
      </p:sp>
      <p:sp>
        <p:nvSpPr>
          <p:cNvPr id="16" name="Shape 9"/>
          <p:cNvSpPr/>
          <p:nvPr/>
        </p:nvSpPr>
        <p:spPr>
          <a:xfrm>
            <a:off x="384048" y="8156448"/>
            <a:ext cx="1042416" cy="1810512"/>
          </a:xfrm>
          <a:prstGeom prst="roundRect">
            <a:avLst>
              <a:gd name="adj" fmla="val 3509"/>
            </a:avLst>
          </a:prstGeom>
          <a:solidFill>
            <a:srgbClr val="FFFFFF"/>
          </a:solidFill>
          <a:ln w="15875">
            <a:solidFill>
              <a:srgbClr val="1565C0"/>
            </a:solidFill>
            <a:prstDash val="solid"/>
          </a:ln>
        </p:spPr>
      </p:sp>
      <p:sp>
        <p:nvSpPr>
          <p:cNvPr id="17" name="Shape 10"/>
          <p:cNvSpPr/>
          <p:nvPr/>
        </p:nvSpPr>
        <p:spPr>
          <a:xfrm>
            <a:off x="384048" y="9253728"/>
            <a:ext cx="1042416" cy="713232"/>
          </a:xfrm>
          <a:prstGeom prst="rect">
            <a:avLst/>
          </a:prstGeom>
          <a:solidFill>
            <a:srgbClr val="1565C0"/>
          </a:solidFill>
          <a:ln/>
        </p:spPr>
      </p:sp>
      <p:pic>
        <p:nvPicPr>
          <p:cNvPr id="18" name="Image 5" descr="preencoded.png">    </p:cNvPr>
          <p:cNvPicPr>
            <a:picLocks noChangeAspect="1"/>
          </p:cNvPicPr>
          <p:nvPr/>
        </p:nvPicPr>
        <p:blipFill>
          <a:blip r:embed="rId6"/>
          <a:stretch>
            <a:fillRect/>
          </a:stretch>
        </p:blipFill>
        <p:spPr>
          <a:xfrm>
            <a:off x="630936" y="8339328"/>
            <a:ext cx="548640" cy="548640"/>
          </a:xfrm>
          <a:prstGeom prst="rect">
            <a:avLst/>
          </a:prstGeom>
        </p:spPr>
      </p:pic>
      <p:sp>
        <p:nvSpPr>
          <p:cNvPr id="19" name="Text 11"/>
          <p:cNvSpPr txBox="1"/>
          <p:nvPr/>
        </p:nvSpPr>
        <p:spPr>
          <a:xfrm>
            <a:off x="402336"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PUSH</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DETECTED</a:t>
            </a:r>
            <a:endParaRPr lang="en-US" sz="1100" dirty="0"/>
          </a:p>
        </p:txBody>
      </p:sp>
      <p:sp>
        <p:nvSpPr>
          <p:cNvPr id="20" name="Shape 12"/>
          <p:cNvSpPr/>
          <p:nvPr/>
        </p:nvSpPr>
        <p:spPr>
          <a:xfrm>
            <a:off x="1426464" y="9052560"/>
            <a:ext cx="164592" cy="914"/>
          </a:xfrm>
          <a:prstGeom prst="line">
            <a:avLst/>
          </a:prstGeom>
          <a:noFill/>
          <a:ln w="25400">
            <a:solidFill>
              <a:srgbClr val="1B2A6B"/>
            </a:solidFill>
            <a:prstDash val="solid"/>
            <a:tailEnd type="triangle"/>
          </a:ln>
        </p:spPr>
      </p:sp>
      <p:sp>
        <p:nvSpPr>
          <p:cNvPr id="21" name="Shape 13"/>
          <p:cNvSpPr/>
          <p:nvPr/>
        </p:nvSpPr>
        <p:spPr>
          <a:xfrm>
            <a:off x="1591056" y="8156448"/>
            <a:ext cx="1042416" cy="1810512"/>
          </a:xfrm>
          <a:prstGeom prst="roundRect">
            <a:avLst>
              <a:gd name="adj" fmla="val 3509"/>
            </a:avLst>
          </a:prstGeom>
          <a:solidFill>
            <a:srgbClr val="FFFFFF"/>
          </a:solidFill>
          <a:ln w="15875">
            <a:solidFill>
              <a:srgbClr val="00838F"/>
            </a:solidFill>
            <a:prstDash val="solid"/>
          </a:ln>
        </p:spPr>
      </p:sp>
      <p:sp>
        <p:nvSpPr>
          <p:cNvPr id="22" name="Shape 14"/>
          <p:cNvSpPr/>
          <p:nvPr/>
        </p:nvSpPr>
        <p:spPr>
          <a:xfrm>
            <a:off x="1591056" y="9253728"/>
            <a:ext cx="1042416" cy="713232"/>
          </a:xfrm>
          <a:prstGeom prst="rect">
            <a:avLst/>
          </a:prstGeom>
          <a:solidFill>
            <a:srgbClr val="00838F"/>
          </a:solidFill>
          <a:ln/>
        </p:spPr>
      </p:sp>
      <p:pic>
        <p:nvPicPr>
          <p:cNvPr id="23" name="Image 6" descr="preencoded.png">    </p:cNvPr>
          <p:cNvPicPr>
            <a:picLocks noChangeAspect="1"/>
          </p:cNvPicPr>
          <p:nvPr/>
        </p:nvPicPr>
        <p:blipFill>
          <a:blip r:embed="rId7"/>
          <a:stretch>
            <a:fillRect/>
          </a:stretch>
        </p:blipFill>
        <p:spPr>
          <a:xfrm>
            <a:off x="1837944" y="8339328"/>
            <a:ext cx="548640" cy="548640"/>
          </a:xfrm>
          <a:prstGeom prst="rect">
            <a:avLst/>
          </a:prstGeom>
        </p:spPr>
      </p:pic>
      <p:sp>
        <p:nvSpPr>
          <p:cNvPr id="24" name="Text 15"/>
          <p:cNvSpPr txBox="1"/>
          <p:nvPr/>
        </p:nvSpPr>
        <p:spPr>
          <a:xfrm>
            <a:off x="1609344"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SCAN</a:t>
            </a:r>
            <a:endParaRPr lang="en-US" sz="1100" dirty="0"/>
          </a:p>
        </p:txBody>
      </p:sp>
      <p:sp>
        <p:nvSpPr>
          <p:cNvPr id="25" name="Shape 16"/>
          <p:cNvSpPr/>
          <p:nvPr/>
        </p:nvSpPr>
        <p:spPr>
          <a:xfrm>
            <a:off x="2633472" y="9052560"/>
            <a:ext cx="164592" cy="914"/>
          </a:xfrm>
          <a:prstGeom prst="line">
            <a:avLst/>
          </a:prstGeom>
          <a:noFill/>
          <a:ln w="25400">
            <a:solidFill>
              <a:srgbClr val="1B2A6B"/>
            </a:solidFill>
            <a:prstDash val="solid"/>
            <a:tailEnd type="triangle"/>
          </a:ln>
        </p:spPr>
      </p:sp>
      <p:sp>
        <p:nvSpPr>
          <p:cNvPr id="26" name="Shape 17"/>
          <p:cNvSpPr/>
          <p:nvPr/>
        </p:nvSpPr>
        <p:spPr>
          <a:xfrm>
            <a:off x="2798064" y="8156448"/>
            <a:ext cx="1042416" cy="1810512"/>
          </a:xfrm>
          <a:prstGeom prst="roundRect">
            <a:avLst>
              <a:gd name="adj" fmla="val 3509"/>
            </a:avLst>
          </a:prstGeom>
          <a:solidFill>
            <a:srgbClr val="FFFFFF"/>
          </a:solidFill>
          <a:ln w="15875">
            <a:solidFill>
              <a:srgbClr val="E67E22"/>
            </a:solidFill>
            <a:prstDash val="solid"/>
          </a:ln>
        </p:spPr>
      </p:sp>
      <p:sp>
        <p:nvSpPr>
          <p:cNvPr id="27" name="Shape 18"/>
          <p:cNvSpPr/>
          <p:nvPr/>
        </p:nvSpPr>
        <p:spPr>
          <a:xfrm>
            <a:off x="2798064" y="9253728"/>
            <a:ext cx="1042416" cy="713232"/>
          </a:xfrm>
          <a:prstGeom prst="rect">
            <a:avLst/>
          </a:prstGeom>
          <a:solidFill>
            <a:srgbClr val="E67E22"/>
          </a:solidFill>
          <a:ln/>
        </p:spPr>
      </p:sp>
      <p:pic>
        <p:nvPicPr>
          <p:cNvPr id="28" name="Image 7" descr="preencoded.png">    </p:cNvPr>
          <p:cNvPicPr>
            <a:picLocks noChangeAspect="1"/>
          </p:cNvPicPr>
          <p:nvPr/>
        </p:nvPicPr>
        <p:blipFill>
          <a:blip r:embed="rId8"/>
          <a:stretch>
            <a:fillRect/>
          </a:stretch>
        </p:blipFill>
        <p:spPr>
          <a:xfrm>
            <a:off x="3044952" y="8339328"/>
            <a:ext cx="548640" cy="548640"/>
          </a:xfrm>
          <a:prstGeom prst="rect">
            <a:avLst/>
          </a:prstGeom>
        </p:spPr>
      </p:pic>
      <p:sp>
        <p:nvSpPr>
          <p:cNvPr id="29" name="Text 19"/>
          <p:cNvSpPr txBox="1"/>
          <p:nvPr/>
        </p:nvSpPr>
        <p:spPr>
          <a:xfrm>
            <a:off x="2816352"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ROOT-CAUSE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TRIAGE</a:t>
            </a:r>
            <a:endParaRPr lang="en-US" sz="1100" dirty="0"/>
          </a:p>
        </p:txBody>
      </p:sp>
      <p:sp>
        <p:nvSpPr>
          <p:cNvPr id="30" name="Shape 20"/>
          <p:cNvSpPr/>
          <p:nvPr/>
        </p:nvSpPr>
        <p:spPr>
          <a:xfrm>
            <a:off x="3840480" y="9052560"/>
            <a:ext cx="164592" cy="914"/>
          </a:xfrm>
          <a:prstGeom prst="line">
            <a:avLst/>
          </a:prstGeom>
          <a:noFill/>
          <a:ln w="25400">
            <a:solidFill>
              <a:srgbClr val="1B2A6B"/>
            </a:solidFill>
            <a:prstDash val="solid"/>
            <a:tailEnd type="triangle"/>
          </a:ln>
        </p:spPr>
      </p:sp>
      <p:sp>
        <p:nvSpPr>
          <p:cNvPr id="31" name="Shape 21"/>
          <p:cNvSpPr/>
          <p:nvPr/>
        </p:nvSpPr>
        <p:spPr>
          <a:xfrm>
            <a:off x="4005072" y="8156448"/>
            <a:ext cx="1042416" cy="1810512"/>
          </a:xfrm>
          <a:prstGeom prst="roundRect">
            <a:avLst>
              <a:gd name="adj" fmla="val 3509"/>
            </a:avLst>
          </a:prstGeom>
          <a:solidFill>
            <a:srgbClr val="FFFFFF"/>
          </a:solidFill>
          <a:ln w="15875">
            <a:solidFill>
              <a:srgbClr val="C0392B"/>
            </a:solidFill>
            <a:prstDash val="solid"/>
          </a:ln>
        </p:spPr>
      </p:sp>
      <p:sp>
        <p:nvSpPr>
          <p:cNvPr id="32" name="Shape 22"/>
          <p:cNvSpPr/>
          <p:nvPr/>
        </p:nvSpPr>
        <p:spPr>
          <a:xfrm>
            <a:off x="4005072" y="9253728"/>
            <a:ext cx="1042416" cy="713232"/>
          </a:xfrm>
          <a:prstGeom prst="rect">
            <a:avLst/>
          </a:prstGeom>
          <a:solidFill>
            <a:srgbClr val="C0392B"/>
          </a:solidFill>
          <a:ln/>
        </p:spPr>
      </p:sp>
      <p:pic>
        <p:nvPicPr>
          <p:cNvPr id="33" name="Image 8" descr="preencoded.png">    </p:cNvPr>
          <p:cNvPicPr>
            <a:picLocks noChangeAspect="1"/>
          </p:cNvPicPr>
          <p:nvPr/>
        </p:nvPicPr>
        <p:blipFill>
          <a:blip r:embed="rId9"/>
          <a:stretch>
            <a:fillRect/>
          </a:stretch>
        </p:blipFill>
        <p:spPr>
          <a:xfrm>
            <a:off x="4251960" y="8339328"/>
            <a:ext cx="548640" cy="548640"/>
          </a:xfrm>
          <a:prstGeom prst="rect">
            <a:avLst/>
          </a:prstGeom>
        </p:spPr>
      </p:pic>
      <p:sp>
        <p:nvSpPr>
          <p:cNvPr id="34" name="Text 23"/>
          <p:cNvSpPr txBox="1"/>
          <p:nvPr/>
        </p:nvSpPr>
        <p:spPr>
          <a:xfrm>
            <a:off x="4023360"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EXPLOIT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35" name="Shape 24"/>
          <p:cNvSpPr/>
          <p:nvPr/>
        </p:nvSpPr>
        <p:spPr>
          <a:xfrm>
            <a:off x="5047488" y="9052560"/>
            <a:ext cx="164592" cy="914"/>
          </a:xfrm>
          <a:prstGeom prst="line">
            <a:avLst/>
          </a:prstGeom>
          <a:noFill/>
          <a:ln w="25400">
            <a:solidFill>
              <a:srgbClr val="1B2A6B"/>
            </a:solidFill>
            <a:prstDash val="solid"/>
            <a:tailEnd type="triangle"/>
          </a:ln>
        </p:spPr>
      </p:sp>
      <p:sp>
        <p:nvSpPr>
          <p:cNvPr id="36" name="Shape 25"/>
          <p:cNvSpPr/>
          <p:nvPr/>
        </p:nvSpPr>
        <p:spPr>
          <a:xfrm>
            <a:off x="5212080" y="8156448"/>
            <a:ext cx="1042416" cy="1810512"/>
          </a:xfrm>
          <a:prstGeom prst="roundRect">
            <a:avLst>
              <a:gd name="adj" fmla="val 3509"/>
            </a:avLst>
          </a:prstGeom>
          <a:solidFill>
            <a:srgbClr val="FFFFFF"/>
          </a:solidFill>
          <a:ln w="15875">
            <a:solidFill>
              <a:srgbClr val="6D4C9F"/>
            </a:solidFill>
            <a:prstDash val="solid"/>
          </a:ln>
        </p:spPr>
      </p:sp>
      <p:sp>
        <p:nvSpPr>
          <p:cNvPr id="37" name="Shape 26"/>
          <p:cNvSpPr/>
          <p:nvPr/>
        </p:nvSpPr>
        <p:spPr>
          <a:xfrm>
            <a:off x="5212080" y="9253728"/>
            <a:ext cx="1042416" cy="713232"/>
          </a:xfrm>
          <a:prstGeom prst="rect">
            <a:avLst/>
          </a:prstGeom>
          <a:solidFill>
            <a:srgbClr val="6D4C9F"/>
          </a:solidFill>
          <a:ln/>
        </p:spPr>
      </p:sp>
      <p:pic>
        <p:nvPicPr>
          <p:cNvPr id="38" name="Image 9" descr="preencoded.png">    </p:cNvPr>
          <p:cNvPicPr>
            <a:picLocks noChangeAspect="1"/>
          </p:cNvPicPr>
          <p:nvPr/>
        </p:nvPicPr>
        <p:blipFill>
          <a:blip r:embed="rId10"/>
          <a:stretch>
            <a:fillRect/>
          </a:stretch>
        </p:blipFill>
        <p:spPr>
          <a:xfrm>
            <a:off x="5458968" y="8339328"/>
            <a:ext cx="548640" cy="548640"/>
          </a:xfrm>
          <a:prstGeom prst="rect">
            <a:avLst/>
          </a:prstGeom>
        </p:spPr>
      </p:pic>
      <p:sp>
        <p:nvSpPr>
          <p:cNvPr id="39" name="Text 27"/>
          <p:cNvSpPr txBox="1"/>
          <p:nvPr/>
        </p:nvSpPr>
        <p:spPr>
          <a:xfrm>
            <a:off x="5230368"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MINIMAL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PATCH</a:t>
            </a:r>
            <a:endParaRPr lang="en-US" sz="1100" dirty="0"/>
          </a:p>
        </p:txBody>
      </p:sp>
      <p:sp>
        <p:nvSpPr>
          <p:cNvPr id="40" name="Shape 28"/>
          <p:cNvSpPr/>
          <p:nvPr/>
        </p:nvSpPr>
        <p:spPr>
          <a:xfrm>
            <a:off x="6254496" y="9052560"/>
            <a:ext cx="164592" cy="914"/>
          </a:xfrm>
          <a:prstGeom prst="line">
            <a:avLst/>
          </a:prstGeom>
          <a:noFill/>
          <a:ln w="25400">
            <a:solidFill>
              <a:srgbClr val="1B2A6B"/>
            </a:solidFill>
            <a:prstDash val="solid"/>
            <a:tailEnd type="triangle"/>
          </a:ln>
        </p:spPr>
      </p:sp>
      <p:sp>
        <p:nvSpPr>
          <p:cNvPr id="41" name="Shape 29"/>
          <p:cNvSpPr/>
          <p:nvPr/>
        </p:nvSpPr>
        <p:spPr>
          <a:xfrm>
            <a:off x="6419088" y="8156448"/>
            <a:ext cx="1042416" cy="1810512"/>
          </a:xfrm>
          <a:prstGeom prst="roundRect">
            <a:avLst>
              <a:gd name="adj" fmla="val 3509"/>
            </a:avLst>
          </a:prstGeom>
          <a:solidFill>
            <a:srgbClr val="FFFFFF"/>
          </a:solidFill>
          <a:ln w="15875">
            <a:solidFill>
              <a:srgbClr val="2E7D32"/>
            </a:solidFill>
            <a:prstDash val="solid"/>
          </a:ln>
        </p:spPr>
      </p:sp>
      <p:sp>
        <p:nvSpPr>
          <p:cNvPr id="42" name="Shape 30"/>
          <p:cNvSpPr/>
          <p:nvPr/>
        </p:nvSpPr>
        <p:spPr>
          <a:xfrm>
            <a:off x="6419088" y="9253728"/>
            <a:ext cx="1042416" cy="713232"/>
          </a:xfrm>
          <a:prstGeom prst="rect">
            <a:avLst/>
          </a:prstGeom>
          <a:solidFill>
            <a:srgbClr val="2E7D32"/>
          </a:solidFill>
          <a:ln/>
        </p:spPr>
      </p:sp>
      <p:pic>
        <p:nvPicPr>
          <p:cNvPr id="43" name="Image 10" descr="preencoded.png">    </p:cNvPr>
          <p:cNvPicPr>
            <a:picLocks noChangeAspect="1"/>
          </p:cNvPicPr>
          <p:nvPr/>
        </p:nvPicPr>
        <p:blipFill>
          <a:blip r:embed="rId11"/>
          <a:stretch>
            <a:fillRect/>
          </a:stretch>
        </p:blipFill>
        <p:spPr>
          <a:xfrm>
            <a:off x="6665976" y="8339328"/>
            <a:ext cx="548640" cy="548640"/>
          </a:xfrm>
          <a:prstGeom prst="rect">
            <a:avLst/>
          </a:prstGeom>
        </p:spPr>
      </p:pic>
      <p:sp>
        <p:nvSpPr>
          <p:cNvPr id="44" name="Text 31"/>
          <p:cNvSpPr txBox="1"/>
          <p:nvPr/>
        </p:nvSpPr>
        <p:spPr>
          <a:xfrm>
            <a:off x="6437376"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PROOF</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GATES</a:t>
            </a:r>
            <a:endParaRPr lang="en-US" sz="1100" dirty="0"/>
          </a:p>
        </p:txBody>
      </p:sp>
      <p:sp>
        <p:nvSpPr>
          <p:cNvPr id="45" name="Shape 32"/>
          <p:cNvSpPr/>
          <p:nvPr/>
        </p:nvSpPr>
        <p:spPr>
          <a:xfrm>
            <a:off x="7461504" y="9052560"/>
            <a:ext cx="164592" cy="914"/>
          </a:xfrm>
          <a:prstGeom prst="line">
            <a:avLst/>
          </a:prstGeom>
          <a:noFill/>
          <a:ln w="25400">
            <a:solidFill>
              <a:srgbClr val="1B2A6B"/>
            </a:solidFill>
            <a:prstDash val="solid"/>
            <a:tailEnd type="triangle"/>
          </a:ln>
        </p:spPr>
      </p:sp>
      <p:sp>
        <p:nvSpPr>
          <p:cNvPr id="46" name="Shape 33"/>
          <p:cNvSpPr/>
          <p:nvPr/>
        </p:nvSpPr>
        <p:spPr>
          <a:xfrm>
            <a:off x="7626096" y="8156448"/>
            <a:ext cx="1042416" cy="1810512"/>
          </a:xfrm>
          <a:prstGeom prst="roundRect">
            <a:avLst>
              <a:gd name="adj" fmla="val 3509"/>
            </a:avLst>
          </a:prstGeom>
          <a:solidFill>
            <a:srgbClr val="FFFFFF"/>
          </a:solidFill>
          <a:ln w="15875">
            <a:solidFill>
              <a:srgbClr val="1B2A6B"/>
            </a:solidFill>
            <a:prstDash val="solid"/>
          </a:ln>
        </p:spPr>
      </p:sp>
      <p:sp>
        <p:nvSpPr>
          <p:cNvPr id="47" name="Shape 34"/>
          <p:cNvSpPr/>
          <p:nvPr/>
        </p:nvSpPr>
        <p:spPr>
          <a:xfrm>
            <a:off x="7626096" y="9253728"/>
            <a:ext cx="1042416" cy="713232"/>
          </a:xfrm>
          <a:prstGeom prst="rect">
            <a:avLst/>
          </a:prstGeom>
          <a:solidFill>
            <a:srgbClr val="1B2A6B"/>
          </a:solidFill>
          <a:ln/>
        </p:spPr>
      </p:sp>
      <p:pic>
        <p:nvPicPr>
          <p:cNvPr id="48" name="Image 11" descr="preencoded.png">    </p:cNvPr>
          <p:cNvPicPr>
            <a:picLocks noChangeAspect="1"/>
          </p:cNvPicPr>
          <p:nvPr/>
        </p:nvPicPr>
        <p:blipFill>
          <a:blip r:embed="rId12"/>
          <a:stretch>
            <a:fillRect/>
          </a:stretch>
        </p:blipFill>
        <p:spPr>
          <a:xfrm>
            <a:off x="7872984" y="8339328"/>
            <a:ext cx="548640" cy="548640"/>
          </a:xfrm>
          <a:prstGeom prst="rect">
            <a:avLst/>
          </a:prstGeom>
        </p:spPr>
      </p:pic>
      <p:sp>
        <p:nvSpPr>
          <p:cNvPr id="49" name="Text 35"/>
          <p:cNvSpPr txBox="1"/>
          <p:nvPr/>
        </p:nvSpPr>
        <p:spPr>
          <a:xfrm>
            <a:off x="7644384" y="9253728"/>
            <a:ext cx="10058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a:t>
            </a:r>
            <a:endParaRPr lang="en-US" sz="1100" dirty="0"/>
          </a:p>
        </p:txBody>
      </p:sp>
      <p:sp>
        <p:nvSpPr>
          <p:cNvPr id="50" name="Shape 36"/>
          <p:cNvSpPr/>
          <p:nvPr/>
        </p:nvSpPr>
        <p:spPr>
          <a:xfrm>
            <a:off x="9070848" y="1783080"/>
            <a:ext cx="8988552" cy="6355080"/>
          </a:xfrm>
          <a:prstGeom prst="roundRect">
            <a:avLst>
              <a:gd name="adj" fmla="val 2014"/>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51" name="Shape 37"/>
          <p:cNvSpPr/>
          <p:nvPr/>
        </p:nvSpPr>
        <p:spPr>
          <a:xfrm>
            <a:off x="9253728" y="1920240"/>
            <a:ext cx="3749040" cy="548640"/>
          </a:xfrm>
          <a:prstGeom prst="roundRect">
            <a:avLst>
              <a:gd name="adj" fmla="val 50000"/>
            </a:avLst>
          </a:prstGeom>
          <a:solidFill>
            <a:srgbClr val="1B2A6B"/>
          </a:solidFill>
          <a:ln/>
        </p:spPr>
      </p:sp>
      <p:sp>
        <p:nvSpPr>
          <p:cNvPr id="52" name="Text 38"/>
          <p:cNvSpPr txBox="1"/>
          <p:nvPr/>
        </p:nvSpPr>
        <p:spPr>
          <a:xfrm>
            <a:off x="9253728" y="1920240"/>
            <a:ext cx="37490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KAIZEN AGENT PIPELINE</a:t>
            </a:r>
            <a:endParaRPr lang="en-US" sz="1900" dirty="0"/>
          </a:p>
        </p:txBody>
      </p:sp>
      <p:sp>
        <p:nvSpPr>
          <p:cNvPr id="53" name="Shape 39"/>
          <p:cNvSpPr/>
          <p:nvPr/>
        </p:nvSpPr>
        <p:spPr>
          <a:xfrm>
            <a:off x="9281160" y="2697480"/>
            <a:ext cx="1901952" cy="1463040"/>
          </a:xfrm>
          <a:prstGeom prst="roundRect">
            <a:avLst>
              <a:gd name="adj" fmla="val 5000"/>
            </a:avLst>
          </a:prstGeom>
          <a:solidFill>
            <a:srgbClr val="FFFFFF"/>
          </a:solidFill>
          <a:ln w="15875">
            <a:solidFill>
              <a:srgbClr val="1565C0"/>
            </a:solidFill>
            <a:prstDash val="solid"/>
          </a:ln>
        </p:spPr>
      </p:sp>
      <p:sp>
        <p:nvSpPr>
          <p:cNvPr id="54" name="Shape 40"/>
          <p:cNvSpPr/>
          <p:nvPr/>
        </p:nvSpPr>
        <p:spPr>
          <a:xfrm>
            <a:off x="9390888" y="2825496"/>
            <a:ext cx="530352" cy="530352"/>
          </a:xfrm>
          <a:prstGeom prst="ellipse">
            <a:avLst/>
          </a:prstGeom>
          <a:solidFill>
            <a:srgbClr val="1565C0"/>
          </a:solidFill>
          <a:ln/>
        </p:spPr>
      </p:sp>
      <p:pic>
        <p:nvPicPr>
          <p:cNvPr id="55" name="Image 12" descr="preencoded.png">    </p:cNvPr>
          <p:cNvPicPr>
            <a:picLocks noChangeAspect="1"/>
          </p:cNvPicPr>
          <p:nvPr/>
        </p:nvPicPr>
        <p:blipFill>
          <a:blip r:embed="rId13"/>
          <a:stretch>
            <a:fillRect/>
          </a:stretch>
        </p:blipFill>
        <p:spPr>
          <a:xfrm>
            <a:off x="9507565" y="2942173"/>
            <a:ext cx="296997" cy="296997"/>
          </a:xfrm>
          <a:prstGeom prst="rect">
            <a:avLst/>
          </a:prstGeom>
        </p:spPr>
      </p:pic>
      <p:sp>
        <p:nvSpPr>
          <p:cNvPr id="56" name="Text 41"/>
          <p:cNvSpPr txBox="1"/>
          <p:nvPr/>
        </p:nvSpPr>
        <p:spPr>
          <a:xfrm>
            <a:off x="9976104" y="2862072"/>
            <a:ext cx="1188720" cy="457200"/>
          </a:xfrm>
          <a:prstGeom prst="rect">
            <a:avLst/>
          </a:prstGeom>
          <a:noFill/>
          <a:ln/>
        </p:spPr>
        <p:txBody>
          <a:bodyPr wrap="square" lIns="0" tIns="0" rIns="0" bIns="0"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1. INTAKE</a:t>
            </a:r>
            <a:endParaRPr lang="en-US" sz="1300" dirty="0"/>
          </a:p>
        </p:txBody>
      </p:sp>
      <p:sp>
        <p:nvSpPr>
          <p:cNvPr id="57" name="Text 42"/>
          <p:cNvSpPr txBox="1"/>
          <p:nvPr/>
        </p:nvSpPr>
        <p:spPr>
          <a:xfrm>
            <a:off x="9390888" y="342900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repo at a pinned commit,</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disposable workspace</a:t>
            </a:r>
            <a:endParaRPr lang="en-US" sz="1100" dirty="0"/>
          </a:p>
        </p:txBody>
      </p:sp>
      <p:sp>
        <p:nvSpPr>
          <p:cNvPr id="58" name="Shape 43"/>
          <p:cNvSpPr/>
          <p:nvPr/>
        </p:nvSpPr>
        <p:spPr>
          <a:xfrm>
            <a:off x="11183112" y="3429000"/>
            <a:ext cx="274320" cy="914"/>
          </a:xfrm>
          <a:prstGeom prst="line">
            <a:avLst/>
          </a:prstGeom>
          <a:noFill/>
          <a:ln w="25400">
            <a:solidFill>
              <a:srgbClr val="1B2A6B"/>
            </a:solidFill>
            <a:prstDash val="solid"/>
            <a:tailEnd type="triangle"/>
          </a:ln>
        </p:spPr>
      </p:sp>
      <p:sp>
        <p:nvSpPr>
          <p:cNvPr id="59" name="Shape 44"/>
          <p:cNvSpPr/>
          <p:nvPr/>
        </p:nvSpPr>
        <p:spPr>
          <a:xfrm>
            <a:off x="11457432" y="2697480"/>
            <a:ext cx="1901952" cy="1463040"/>
          </a:xfrm>
          <a:prstGeom prst="roundRect">
            <a:avLst>
              <a:gd name="adj" fmla="val 5000"/>
            </a:avLst>
          </a:prstGeom>
          <a:solidFill>
            <a:srgbClr val="FFFFFF"/>
          </a:solidFill>
          <a:ln w="15875">
            <a:solidFill>
              <a:srgbClr val="00838F"/>
            </a:solidFill>
            <a:prstDash val="solid"/>
          </a:ln>
        </p:spPr>
      </p:sp>
      <p:sp>
        <p:nvSpPr>
          <p:cNvPr id="60" name="Shape 45"/>
          <p:cNvSpPr/>
          <p:nvPr/>
        </p:nvSpPr>
        <p:spPr>
          <a:xfrm>
            <a:off x="11567160" y="2825496"/>
            <a:ext cx="530352" cy="530352"/>
          </a:xfrm>
          <a:prstGeom prst="ellipse">
            <a:avLst/>
          </a:prstGeom>
          <a:solidFill>
            <a:srgbClr val="00838F"/>
          </a:solidFill>
          <a:ln/>
        </p:spPr>
      </p:sp>
      <p:pic>
        <p:nvPicPr>
          <p:cNvPr id="61" name="Image 13" descr="preencoded.png">    </p:cNvPr>
          <p:cNvPicPr>
            <a:picLocks noChangeAspect="1"/>
          </p:cNvPicPr>
          <p:nvPr/>
        </p:nvPicPr>
        <p:blipFill>
          <a:blip r:embed="rId14"/>
          <a:stretch>
            <a:fillRect/>
          </a:stretch>
        </p:blipFill>
        <p:spPr>
          <a:xfrm>
            <a:off x="11683837" y="2942173"/>
            <a:ext cx="296997" cy="296997"/>
          </a:xfrm>
          <a:prstGeom prst="rect">
            <a:avLst/>
          </a:prstGeom>
        </p:spPr>
      </p:pic>
      <p:sp>
        <p:nvSpPr>
          <p:cNvPr id="62" name="Text 46"/>
          <p:cNvSpPr txBox="1"/>
          <p:nvPr/>
        </p:nvSpPr>
        <p:spPr>
          <a:xfrm>
            <a:off x="12152376" y="2862072"/>
            <a:ext cx="1188720" cy="457200"/>
          </a:xfrm>
          <a:prstGeom prst="rect">
            <a:avLst/>
          </a:prstGeom>
          <a:noFill/>
          <a:ln/>
        </p:spPr>
        <p:txBody>
          <a:bodyPr wrap="square" lIns="0" tIns="0" rIns="0" bIns="0" rtlCol="0" anchor="ctr"/>
          <a:lstStyle/>
          <a:p>
            <a:pPr indent="0" marL="0">
              <a:buNone/>
            </a:pPr>
            <a:r>
              <a:rPr lang="en-US" sz="1300" b="1" dirty="0">
                <a:solidFill>
                  <a:srgbClr val="00838F"/>
                </a:solidFill>
                <a:latin typeface="Calibri" pitchFamily="34" charset="0"/>
                <a:ea typeface="Calibri" pitchFamily="34" charset="-122"/>
                <a:cs typeface="Calibri" pitchFamily="34" charset="-120"/>
              </a:rPr>
              <a:t>2. BASELINE</a:t>
            </a:r>
            <a:endParaRPr lang="en-US" sz="1300" dirty="0"/>
          </a:p>
        </p:txBody>
      </p:sp>
      <p:sp>
        <p:nvSpPr>
          <p:cNvPr id="63" name="Text 47"/>
          <p:cNvSpPr txBox="1"/>
          <p:nvPr/>
        </p:nvSpPr>
        <p:spPr>
          <a:xfrm>
            <a:off x="11567160" y="342900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run existing suite</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(pytest / npm test)</a:t>
            </a:r>
            <a:endParaRPr lang="en-US" sz="1100" dirty="0"/>
          </a:p>
        </p:txBody>
      </p:sp>
      <p:sp>
        <p:nvSpPr>
          <p:cNvPr id="64" name="Shape 48"/>
          <p:cNvSpPr/>
          <p:nvPr/>
        </p:nvSpPr>
        <p:spPr>
          <a:xfrm>
            <a:off x="13359384" y="3429000"/>
            <a:ext cx="274320" cy="914"/>
          </a:xfrm>
          <a:prstGeom prst="line">
            <a:avLst/>
          </a:prstGeom>
          <a:noFill/>
          <a:ln w="25400">
            <a:solidFill>
              <a:srgbClr val="1B2A6B"/>
            </a:solidFill>
            <a:prstDash val="solid"/>
            <a:tailEnd type="triangle"/>
          </a:ln>
        </p:spPr>
      </p:sp>
      <p:sp>
        <p:nvSpPr>
          <p:cNvPr id="65" name="Shape 49"/>
          <p:cNvSpPr/>
          <p:nvPr/>
        </p:nvSpPr>
        <p:spPr>
          <a:xfrm>
            <a:off x="13633704" y="2697480"/>
            <a:ext cx="1901952" cy="1463040"/>
          </a:xfrm>
          <a:prstGeom prst="roundRect">
            <a:avLst>
              <a:gd name="adj" fmla="val 5000"/>
            </a:avLst>
          </a:prstGeom>
          <a:solidFill>
            <a:srgbClr val="FFFFFF"/>
          </a:solidFill>
          <a:ln w="15875">
            <a:solidFill>
              <a:srgbClr val="E67E22"/>
            </a:solidFill>
            <a:prstDash val="solid"/>
          </a:ln>
        </p:spPr>
      </p:sp>
      <p:sp>
        <p:nvSpPr>
          <p:cNvPr id="66" name="Shape 50"/>
          <p:cNvSpPr/>
          <p:nvPr/>
        </p:nvSpPr>
        <p:spPr>
          <a:xfrm>
            <a:off x="13743432" y="2825496"/>
            <a:ext cx="530352" cy="530352"/>
          </a:xfrm>
          <a:prstGeom prst="ellipse">
            <a:avLst/>
          </a:prstGeom>
          <a:solidFill>
            <a:srgbClr val="E67E22"/>
          </a:solidFill>
          <a:ln/>
        </p:spPr>
      </p:sp>
      <p:pic>
        <p:nvPicPr>
          <p:cNvPr id="67" name="Image 14" descr="preencoded.png">    </p:cNvPr>
          <p:cNvPicPr>
            <a:picLocks noChangeAspect="1"/>
          </p:cNvPicPr>
          <p:nvPr/>
        </p:nvPicPr>
        <p:blipFill>
          <a:blip r:embed="rId15"/>
          <a:stretch>
            <a:fillRect/>
          </a:stretch>
        </p:blipFill>
        <p:spPr>
          <a:xfrm>
            <a:off x="13860109" y="2942173"/>
            <a:ext cx="296997" cy="296997"/>
          </a:xfrm>
          <a:prstGeom prst="rect">
            <a:avLst/>
          </a:prstGeom>
        </p:spPr>
      </p:pic>
      <p:sp>
        <p:nvSpPr>
          <p:cNvPr id="68" name="Text 51"/>
          <p:cNvSpPr txBox="1"/>
          <p:nvPr/>
        </p:nvSpPr>
        <p:spPr>
          <a:xfrm>
            <a:off x="14328648" y="2862072"/>
            <a:ext cx="1188720" cy="457200"/>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3. DISCOVER</a:t>
            </a:r>
            <a:endParaRPr lang="en-US" sz="1300" dirty="0"/>
          </a:p>
        </p:txBody>
      </p:sp>
      <p:sp>
        <p:nvSpPr>
          <p:cNvPr id="69" name="Text 52"/>
          <p:cNvSpPr txBox="1"/>
          <p:nvPr/>
        </p:nvSpPr>
        <p:spPr>
          <a:xfrm>
            <a:off x="13743432" y="342900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rules · Bandit · Semgrep</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 CodeQL alerts</a:t>
            </a:r>
            <a:endParaRPr lang="en-US" sz="1100" dirty="0"/>
          </a:p>
        </p:txBody>
      </p:sp>
      <p:sp>
        <p:nvSpPr>
          <p:cNvPr id="70" name="Shape 53"/>
          <p:cNvSpPr/>
          <p:nvPr/>
        </p:nvSpPr>
        <p:spPr>
          <a:xfrm>
            <a:off x="15535656" y="3429000"/>
            <a:ext cx="274320" cy="914"/>
          </a:xfrm>
          <a:prstGeom prst="line">
            <a:avLst/>
          </a:prstGeom>
          <a:noFill/>
          <a:ln w="25400">
            <a:solidFill>
              <a:srgbClr val="1B2A6B"/>
            </a:solidFill>
            <a:prstDash val="solid"/>
            <a:tailEnd type="triangle"/>
          </a:ln>
        </p:spPr>
      </p:sp>
      <p:sp>
        <p:nvSpPr>
          <p:cNvPr id="71" name="Shape 54"/>
          <p:cNvSpPr/>
          <p:nvPr/>
        </p:nvSpPr>
        <p:spPr>
          <a:xfrm>
            <a:off x="15809976" y="2697480"/>
            <a:ext cx="1901952" cy="1463040"/>
          </a:xfrm>
          <a:prstGeom prst="roundRect">
            <a:avLst>
              <a:gd name="adj" fmla="val 5000"/>
            </a:avLst>
          </a:prstGeom>
          <a:solidFill>
            <a:srgbClr val="FFFFFF"/>
          </a:solidFill>
          <a:ln w="15875">
            <a:solidFill>
              <a:srgbClr val="6D4C9F"/>
            </a:solidFill>
            <a:prstDash val="solid"/>
          </a:ln>
        </p:spPr>
      </p:sp>
      <p:sp>
        <p:nvSpPr>
          <p:cNvPr id="72" name="Shape 55"/>
          <p:cNvSpPr/>
          <p:nvPr/>
        </p:nvSpPr>
        <p:spPr>
          <a:xfrm>
            <a:off x="15919704" y="2825496"/>
            <a:ext cx="530352" cy="530352"/>
          </a:xfrm>
          <a:prstGeom prst="ellipse">
            <a:avLst/>
          </a:prstGeom>
          <a:solidFill>
            <a:srgbClr val="6D4C9F"/>
          </a:solidFill>
          <a:ln/>
        </p:spPr>
      </p:sp>
      <p:pic>
        <p:nvPicPr>
          <p:cNvPr id="73" name="Image 15" descr="preencoded.png">    </p:cNvPr>
          <p:cNvPicPr>
            <a:picLocks noChangeAspect="1"/>
          </p:cNvPicPr>
          <p:nvPr/>
        </p:nvPicPr>
        <p:blipFill>
          <a:blip r:embed="rId16"/>
          <a:stretch>
            <a:fillRect/>
          </a:stretch>
        </p:blipFill>
        <p:spPr>
          <a:xfrm>
            <a:off x="16036381" y="2942173"/>
            <a:ext cx="296997" cy="296997"/>
          </a:xfrm>
          <a:prstGeom prst="rect">
            <a:avLst/>
          </a:prstGeom>
        </p:spPr>
      </p:pic>
      <p:sp>
        <p:nvSpPr>
          <p:cNvPr id="74" name="Text 56"/>
          <p:cNvSpPr txBox="1"/>
          <p:nvPr/>
        </p:nvSpPr>
        <p:spPr>
          <a:xfrm>
            <a:off x="16504920" y="2862072"/>
            <a:ext cx="1188720" cy="457200"/>
          </a:xfrm>
          <a:prstGeom prst="rect">
            <a:avLst/>
          </a:prstGeom>
          <a:noFill/>
          <a:ln/>
        </p:spPr>
        <p:txBody>
          <a:bodyPr wrap="square" lIns="0" tIns="0" rIns="0" bIns="0" rtlCol="0" anchor="ctr"/>
          <a:lstStyle/>
          <a:p>
            <a:pPr indent="0" marL="0">
              <a:buNone/>
            </a:pPr>
            <a:r>
              <a:rPr lang="en-US" sz="1300" b="1" dirty="0">
                <a:solidFill>
                  <a:srgbClr val="6D4C9F"/>
                </a:solidFill>
                <a:latin typeface="Calibri" pitchFamily="34" charset="0"/>
                <a:ea typeface="Calibri" pitchFamily="34" charset="-122"/>
                <a:cs typeface="Calibri" pitchFamily="34" charset="-120"/>
              </a:rPr>
              <a:t>4. ROOT CAUSE</a:t>
            </a:r>
            <a:endParaRPr lang="en-US" sz="1300" dirty="0"/>
          </a:p>
        </p:txBody>
      </p:sp>
      <p:sp>
        <p:nvSpPr>
          <p:cNvPr id="75" name="Text 57"/>
          <p:cNvSpPr txBox="1"/>
          <p:nvPr/>
        </p:nvSpPr>
        <p:spPr>
          <a:xfrm>
            <a:off x="15919704" y="342900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LLM + callers → exploit-</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able or cleared</a:t>
            </a:r>
            <a:endParaRPr lang="en-US" sz="1100" dirty="0"/>
          </a:p>
        </p:txBody>
      </p:sp>
      <p:sp>
        <p:nvSpPr>
          <p:cNvPr id="76" name="Shape 58"/>
          <p:cNvSpPr/>
          <p:nvPr/>
        </p:nvSpPr>
        <p:spPr>
          <a:xfrm>
            <a:off x="15809976" y="4480560"/>
            <a:ext cx="1901952" cy="1463040"/>
          </a:xfrm>
          <a:prstGeom prst="roundRect">
            <a:avLst>
              <a:gd name="adj" fmla="val 5000"/>
            </a:avLst>
          </a:prstGeom>
          <a:solidFill>
            <a:srgbClr val="FFFFFF"/>
          </a:solidFill>
          <a:ln w="15875">
            <a:solidFill>
              <a:srgbClr val="C0392B"/>
            </a:solidFill>
            <a:prstDash val="solid"/>
          </a:ln>
        </p:spPr>
      </p:sp>
      <p:sp>
        <p:nvSpPr>
          <p:cNvPr id="77" name="Shape 59"/>
          <p:cNvSpPr/>
          <p:nvPr/>
        </p:nvSpPr>
        <p:spPr>
          <a:xfrm>
            <a:off x="15919704" y="4608576"/>
            <a:ext cx="530352" cy="530352"/>
          </a:xfrm>
          <a:prstGeom prst="ellipse">
            <a:avLst/>
          </a:prstGeom>
          <a:solidFill>
            <a:srgbClr val="C0392B"/>
          </a:solidFill>
          <a:ln/>
        </p:spPr>
      </p:sp>
      <p:pic>
        <p:nvPicPr>
          <p:cNvPr id="78" name="Image 16" descr="preencoded.png">    </p:cNvPr>
          <p:cNvPicPr>
            <a:picLocks noChangeAspect="1"/>
          </p:cNvPicPr>
          <p:nvPr/>
        </p:nvPicPr>
        <p:blipFill>
          <a:blip r:embed="rId17"/>
          <a:stretch>
            <a:fillRect/>
          </a:stretch>
        </p:blipFill>
        <p:spPr>
          <a:xfrm>
            <a:off x="16036381" y="4725253"/>
            <a:ext cx="296997" cy="296997"/>
          </a:xfrm>
          <a:prstGeom prst="rect">
            <a:avLst/>
          </a:prstGeom>
        </p:spPr>
      </p:pic>
      <p:sp>
        <p:nvSpPr>
          <p:cNvPr id="79" name="Text 60"/>
          <p:cNvSpPr txBox="1"/>
          <p:nvPr/>
        </p:nvSpPr>
        <p:spPr>
          <a:xfrm>
            <a:off x="16504920" y="4645152"/>
            <a:ext cx="1188720" cy="45720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5. EXPLOIT TEST</a:t>
            </a:r>
            <a:endParaRPr lang="en-US" sz="1300" dirty="0"/>
          </a:p>
        </p:txBody>
      </p:sp>
      <p:sp>
        <p:nvSpPr>
          <p:cNvPr id="80" name="Text 61"/>
          <p:cNvSpPr txBox="1"/>
          <p:nvPr/>
        </p:nvSpPr>
        <p:spPr>
          <a:xfrm>
            <a:off x="15919704" y="521208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must fail on the</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original code</a:t>
            </a:r>
            <a:endParaRPr lang="en-US" sz="1100" dirty="0"/>
          </a:p>
        </p:txBody>
      </p:sp>
      <p:sp>
        <p:nvSpPr>
          <p:cNvPr id="81" name="Shape 62"/>
          <p:cNvSpPr/>
          <p:nvPr/>
        </p:nvSpPr>
        <p:spPr>
          <a:xfrm flipH="1">
            <a:off x="15535656" y="5212080"/>
            <a:ext cx="274320" cy="914"/>
          </a:xfrm>
          <a:prstGeom prst="line">
            <a:avLst/>
          </a:prstGeom>
          <a:noFill/>
          <a:ln w="25400">
            <a:solidFill>
              <a:srgbClr val="1B2A6B"/>
            </a:solidFill>
            <a:prstDash val="solid"/>
            <a:tailEnd type="triangle"/>
          </a:ln>
        </p:spPr>
      </p:sp>
      <p:sp>
        <p:nvSpPr>
          <p:cNvPr id="82" name="Shape 63"/>
          <p:cNvSpPr/>
          <p:nvPr/>
        </p:nvSpPr>
        <p:spPr>
          <a:xfrm>
            <a:off x="13633704" y="4480560"/>
            <a:ext cx="1901952" cy="1463040"/>
          </a:xfrm>
          <a:prstGeom prst="roundRect">
            <a:avLst>
              <a:gd name="adj" fmla="val 5000"/>
            </a:avLst>
          </a:prstGeom>
          <a:solidFill>
            <a:srgbClr val="FFFFFF"/>
          </a:solidFill>
          <a:ln w="15875">
            <a:solidFill>
              <a:srgbClr val="8E44AD"/>
            </a:solidFill>
            <a:prstDash val="solid"/>
          </a:ln>
        </p:spPr>
      </p:sp>
      <p:sp>
        <p:nvSpPr>
          <p:cNvPr id="83" name="Shape 64"/>
          <p:cNvSpPr/>
          <p:nvPr/>
        </p:nvSpPr>
        <p:spPr>
          <a:xfrm>
            <a:off x="13743432" y="4608576"/>
            <a:ext cx="530352" cy="530352"/>
          </a:xfrm>
          <a:prstGeom prst="ellipse">
            <a:avLst/>
          </a:prstGeom>
          <a:solidFill>
            <a:srgbClr val="8E44AD"/>
          </a:solidFill>
          <a:ln/>
        </p:spPr>
      </p:sp>
      <p:pic>
        <p:nvPicPr>
          <p:cNvPr id="84" name="Image 17" descr="preencoded.png">    </p:cNvPr>
          <p:cNvPicPr>
            <a:picLocks noChangeAspect="1"/>
          </p:cNvPicPr>
          <p:nvPr/>
        </p:nvPicPr>
        <p:blipFill>
          <a:blip r:embed="rId18"/>
          <a:stretch>
            <a:fillRect/>
          </a:stretch>
        </p:blipFill>
        <p:spPr>
          <a:xfrm>
            <a:off x="13860109" y="4725253"/>
            <a:ext cx="296997" cy="296997"/>
          </a:xfrm>
          <a:prstGeom prst="rect">
            <a:avLst/>
          </a:prstGeom>
        </p:spPr>
      </p:pic>
      <p:sp>
        <p:nvSpPr>
          <p:cNvPr id="85" name="Text 65"/>
          <p:cNvSpPr txBox="1"/>
          <p:nvPr/>
        </p:nvSpPr>
        <p:spPr>
          <a:xfrm>
            <a:off x="14328648" y="4645152"/>
            <a:ext cx="1188720" cy="457200"/>
          </a:xfrm>
          <a:prstGeom prst="rect">
            <a:avLst/>
          </a:prstGeom>
          <a:noFill/>
          <a:ln/>
        </p:spPr>
        <p:txBody>
          <a:bodyPr wrap="square" lIns="0" tIns="0" rIns="0" bIns="0" rtlCol="0" anchor="ctr"/>
          <a:lstStyle/>
          <a:p>
            <a:pPr indent="0" marL="0">
              <a:buNone/>
            </a:pPr>
            <a:r>
              <a:rPr lang="en-US" sz="1300" b="1" dirty="0">
                <a:solidFill>
                  <a:srgbClr val="8E44AD"/>
                </a:solidFill>
                <a:latin typeface="Calibri" pitchFamily="34" charset="0"/>
                <a:ea typeface="Calibri" pitchFamily="34" charset="-122"/>
                <a:cs typeface="Calibri" pitchFamily="34" charset="-120"/>
              </a:rPr>
              <a:t>6. PATCH</a:t>
            </a:r>
            <a:endParaRPr lang="en-US" sz="1300" dirty="0"/>
          </a:p>
        </p:txBody>
      </p:sp>
      <p:sp>
        <p:nvSpPr>
          <p:cNvPr id="86" name="Text 66"/>
          <p:cNvSpPr txBox="1"/>
          <p:nvPr/>
        </p:nvSpPr>
        <p:spPr>
          <a:xfrm>
            <a:off x="13743432" y="521208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find/replace edits,</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 2 files · ≤ 40 lines</a:t>
            </a:r>
            <a:endParaRPr lang="en-US" sz="1100" dirty="0"/>
          </a:p>
        </p:txBody>
      </p:sp>
      <p:sp>
        <p:nvSpPr>
          <p:cNvPr id="87" name="Shape 67"/>
          <p:cNvSpPr/>
          <p:nvPr/>
        </p:nvSpPr>
        <p:spPr>
          <a:xfrm flipH="1">
            <a:off x="13359384" y="5212080"/>
            <a:ext cx="274320" cy="914"/>
          </a:xfrm>
          <a:prstGeom prst="line">
            <a:avLst/>
          </a:prstGeom>
          <a:noFill/>
          <a:ln w="25400">
            <a:solidFill>
              <a:srgbClr val="1B2A6B"/>
            </a:solidFill>
            <a:prstDash val="solid"/>
            <a:tailEnd type="triangle"/>
          </a:ln>
        </p:spPr>
      </p:sp>
      <p:sp>
        <p:nvSpPr>
          <p:cNvPr id="88" name="Shape 68"/>
          <p:cNvSpPr/>
          <p:nvPr/>
        </p:nvSpPr>
        <p:spPr>
          <a:xfrm>
            <a:off x="11457432" y="4480560"/>
            <a:ext cx="1901952" cy="1463040"/>
          </a:xfrm>
          <a:prstGeom prst="roundRect">
            <a:avLst>
              <a:gd name="adj" fmla="val 5000"/>
            </a:avLst>
          </a:prstGeom>
          <a:solidFill>
            <a:srgbClr val="FFFFFF"/>
          </a:solidFill>
          <a:ln w="15875">
            <a:solidFill>
              <a:srgbClr val="2E7D32"/>
            </a:solidFill>
            <a:prstDash val="solid"/>
          </a:ln>
        </p:spPr>
      </p:sp>
      <p:sp>
        <p:nvSpPr>
          <p:cNvPr id="89" name="Shape 69"/>
          <p:cNvSpPr/>
          <p:nvPr/>
        </p:nvSpPr>
        <p:spPr>
          <a:xfrm>
            <a:off x="11567160" y="4608576"/>
            <a:ext cx="530352" cy="530352"/>
          </a:xfrm>
          <a:prstGeom prst="ellipse">
            <a:avLst/>
          </a:prstGeom>
          <a:solidFill>
            <a:srgbClr val="2E7D32"/>
          </a:solidFill>
          <a:ln/>
        </p:spPr>
      </p:sp>
      <p:pic>
        <p:nvPicPr>
          <p:cNvPr id="90" name="Image 18" descr="preencoded.png">    </p:cNvPr>
          <p:cNvPicPr>
            <a:picLocks noChangeAspect="1"/>
          </p:cNvPicPr>
          <p:nvPr/>
        </p:nvPicPr>
        <p:blipFill>
          <a:blip r:embed="rId19"/>
          <a:stretch>
            <a:fillRect/>
          </a:stretch>
        </p:blipFill>
        <p:spPr>
          <a:xfrm>
            <a:off x="11683837" y="4725253"/>
            <a:ext cx="296997" cy="296997"/>
          </a:xfrm>
          <a:prstGeom prst="rect">
            <a:avLst/>
          </a:prstGeom>
        </p:spPr>
      </p:pic>
      <p:sp>
        <p:nvSpPr>
          <p:cNvPr id="91" name="Text 70"/>
          <p:cNvSpPr txBox="1"/>
          <p:nvPr/>
        </p:nvSpPr>
        <p:spPr>
          <a:xfrm>
            <a:off x="12152376" y="4645152"/>
            <a:ext cx="1188720" cy="457200"/>
          </a:xfrm>
          <a:prstGeom prst="rect">
            <a:avLst/>
          </a:prstGeom>
          <a:noFill/>
          <a:ln/>
        </p:spPr>
        <p:txBody>
          <a:bodyPr wrap="square" lIns="0" tIns="0" rIns="0" bIns="0" rtlCol="0" anchor="ctr"/>
          <a:lstStyle/>
          <a:p>
            <a:pPr indent="0" marL="0">
              <a:buNone/>
            </a:pPr>
            <a:r>
              <a:rPr lang="en-US" sz="1300" b="1" dirty="0">
                <a:solidFill>
                  <a:srgbClr val="2E7D32"/>
                </a:solidFill>
                <a:latin typeface="Calibri" pitchFamily="34" charset="0"/>
                <a:ea typeface="Calibri" pitchFamily="34" charset="-122"/>
                <a:cs typeface="Calibri" pitchFamily="34" charset="-120"/>
              </a:rPr>
              <a:t>7. VERIFY</a:t>
            </a:r>
            <a:endParaRPr lang="en-US" sz="1300" dirty="0"/>
          </a:p>
        </p:txBody>
      </p:sp>
      <p:sp>
        <p:nvSpPr>
          <p:cNvPr id="92" name="Text 71"/>
          <p:cNvSpPr txBox="1"/>
          <p:nvPr/>
        </p:nvSpPr>
        <p:spPr>
          <a:xfrm>
            <a:off x="11567160" y="521208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5 gates on the</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patched copy</a:t>
            </a:r>
            <a:endParaRPr lang="en-US" sz="1100" dirty="0"/>
          </a:p>
        </p:txBody>
      </p:sp>
      <p:sp>
        <p:nvSpPr>
          <p:cNvPr id="93" name="Shape 72"/>
          <p:cNvSpPr/>
          <p:nvPr/>
        </p:nvSpPr>
        <p:spPr>
          <a:xfrm flipH="1">
            <a:off x="11183112" y="5212080"/>
            <a:ext cx="274320" cy="914"/>
          </a:xfrm>
          <a:prstGeom prst="line">
            <a:avLst/>
          </a:prstGeom>
          <a:noFill/>
          <a:ln w="25400">
            <a:solidFill>
              <a:srgbClr val="1B2A6B"/>
            </a:solidFill>
            <a:prstDash val="solid"/>
            <a:tailEnd type="triangle"/>
          </a:ln>
        </p:spPr>
      </p:sp>
      <p:sp>
        <p:nvSpPr>
          <p:cNvPr id="94" name="Shape 73"/>
          <p:cNvSpPr/>
          <p:nvPr/>
        </p:nvSpPr>
        <p:spPr>
          <a:xfrm>
            <a:off x="9281160" y="4480560"/>
            <a:ext cx="1901952" cy="1463040"/>
          </a:xfrm>
          <a:prstGeom prst="roundRect">
            <a:avLst>
              <a:gd name="adj" fmla="val 5000"/>
            </a:avLst>
          </a:prstGeom>
          <a:solidFill>
            <a:srgbClr val="FFFFFF"/>
          </a:solidFill>
          <a:ln w="15875">
            <a:solidFill>
              <a:srgbClr val="1B2A6B"/>
            </a:solidFill>
            <a:prstDash val="solid"/>
          </a:ln>
        </p:spPr>
      </p:sp>
      <p:sp>
        <p:nvSpPr>
          <p:cNvPr id="95" name="Shape 74"/>
          <p:cNvSpPr/>
          <p:nvPr/>
        </p:nvSpPr>
        <p:spPr>
          <a:xfrm>
            <a:off x="9390888" y="4608576"/>
            <a:ext cx="530352" cy="530352"/>
          </a:xfrm>
          <a:prstGeom prst="ellipse">
            <a:avLst/>
          </a:prstGeom>
          <a:solidFill>
            <a:srgbClr val="1B2A6B"/>
          </a:solidFill>
          <a:ln/>
        </p:spPr>
      </p:sp>
      <p:pic>
        <p:nvPicPr>
          <p:cNvPr id="96" name="Image 19" descr="preencoded.png">    </p:cNvPr>
          <p:cNvPicPr>
            <a:picLocks noChangeAspect="1"/>
          </p:cNvPicPr>
          <p:nvPr/>
        </p:nvPicPr>
        <p:blipFill>
          <a:blip r:embed="rId20"/>
          <a:stretch>
            <a:fillRect/>
          </a:stretch>
        </p:blipFill>
        <p:spPr>
          <a:xfrm>
            <a:off x="9507565" y="4725253"/>
            <a:ext cx="296997" cy="296997"/>
          </a:xfrm>
          <a:prstGeom prst="rect">
            <a:avLst/>
          </a:prstGeom>
        </p:spPr>
      </p:pic>
      <p:sp>
        <p:nvSpPr>
          <p:cNvPr id="97" name="Text 75"/>
          <p:cNvSpPr txBox="1"/>
          <p:nvPr/>
        </p:nvSpPr>
        <p:spPr>
          <a:xfrm>
            <a:off x="9976104" y="4645152"/>
            <a:ext cx="1188720" cy="457200"/>
          </a:xfrm>
          <a:prstGeom prst="rect">
            <a:avLst/>
          </a:prstGeom>
          <a:noFill/>
          <a:ln/>
        </p:spPr>
        <p:txBody>
          <a:bodyPr wrap="square" lIns="0" tIns="0" rIns="0" bIns="0" rtlCol="0" anchor="ctr"/>
          <a:lstStyle/>
          <a:p>
            <a:pPr indent="0" marL="0">
              <a:buNone/>
            </a:pPr>
            <a:r>
              <a:rPr lang="en-US" sz="1300" b="1" dirty="0">
                <a:solidFill>
                  <a:srgbClr val="1B2A6B"/>
                </a:solidFill>
                <a:latin typeface="Calibri" pitchFamily="34" charset="0"/>
                <a:ea typeface="Calibri" pitchFamily="34" charset="-122"/>
                <a:cs typeface="Calibri" pitchFamily="34" charset="-120"/>
              </a:rPr>
              <a:t>8. SHIP</a:t>
            </a:r>
            <a:endParaRPr lang="en-US" sz="1300" dirty="0"/>
          </a:p>
        </p:txBody>
      </p:sp>
      <p:sp>
        <p:nvSpPr>
          <p:cNvPr id="98" name="Text 76"/>
          <p:cNvSpPr txBox="1"/>
          <p:nvPr/>
        </p:nvSpPr>
        <p:spPr>
          <a:xfrm>
            <a:off x="9390888" y="5212080"/>
            <a:ext cx="1737360" cy="658368"/>
          </a:xfrm>
          <a:prstGeom prst="rect">
            <a:avLst/>
          </a:prstGeom>
          <a:noFill/>
          <a:ln/>
        </p:spPr>
        <p:txBody>
          <a:bodyPr wrap="square" lIns="0" tIns="0" rIns="0" bIns="0" rtlCol="0" anchor="t"/>
          <a:lstStyle/>
          <a:p>
            <a:pPr indent="0" marL="0">
              <a:buNone/>
            </a:pPr>
            <a:r>
              <a:rPr lang="en-US" sz="1100" dirty="0">
                <a:solidFill>
                  <a:srgbClr val="4A5163"/>
                </a:solidFill>
                <a:latin typeface="Calibri" pitchFamily="34" charset="0"/>
                <a:ea typeface="Calibri" pitchFamily="34" charset="-122"/>
                <a:cs typeface="Calibri" pitchFamily="34" charset="-120"/>
              </a:rPr>
              <a:t>branch + PR +</a:t>
            </a:r>
            <a:endParaRPr lang="en-US" sz="1100" dirty="0"/>
          </a:p>
          <a:p>
            <a:pPr indent="0" marL="0">
              <a:buNone/>
            </a:pPr>
            <a:r>
              <a:rPr lang="en-US" sz="1100" dirty="0">
                <a:solidFill>
                  <a:srgbClr val="4A5163"/>
                </a:solidFill>
                <a:latin typeface="Calibri" pitchFamily="34" charset="0"/>
                <a:ea typeface="Calibri" pitchFamily="34" charset="-122"/>
                <a:cs typeface="Calibri" pitchFamily="34" charset="-120"/>
              </a:rPr>
              <a:t>evidence pack</a:t>
            </a:r>
            <a:endParaRPr lang="en-US" sz="1100" dirty="0"/>
          </a:p>
        </p:txBody>
      </p:sp>
      <p:sp>
        <p:nvSpPr>
          <p:cNvPr id="99" name="Shape 77"/>
          <p:cNvSpPr/>
          <p:nvPr/>
        </p:nvSpPr>
        <p:spPr>
          <a:xfrm>
            <a:off x="16760952" y="4160520"/>
            <a:ext cx="914" cy="320040"/>
          </a:xfrm>
          <a:prstGeom prst="line">
            <a:avLst/>
          </a:prstGeom>
          <a:noFill/>
          <a:ln w="25400">
            <a:solidFill>
              <a:srgbClr val="1B2A6B"/>
            </a:solidFill>
            <a:prstDash val="solid"/>
            <a:tailEnd type="triangle"/>
          </a:ln>
        </p:spPr>
      </p:sp>
      <p:sp>
        <p:nvSpPr>
          <p:cNvPr id="100" name="Shape 78"/>
          <p:cNvSpPr/>
          <p:nvPr/>
        </p:nvSpPr>
        <p:spPr>
          <a:xfrm>
            <a:off x="9281160" y="6144768"/>
            <a:ext cx="8558784" cy="457200"/>
          </a:xfrm>
          <a:prstGeom prst="roundRect">
            <a:avLst>
              <a:gd name="adj" fmla="val 50000"/>
            </a:avLst>
          </a:prstGeom>
          <a:solidFill>
            <a:srgbClr val="FFF3E6"/>
          </a:solidFill>
          <a:ln w="15875">
            <a:solidFill>
              <a:srgbClr val="F5C08A"/>
            </a:solidFill>
            <a:prstDash val="solid"/>
          </a:ln>
        </p:spPr>
      </p:sp>
      <p:sp>
        <p:nvSpPr>
          <p:cNvPr id="101" name="Text 79"/>
          <p:cNvSpPr txBox="1"/>
          <p:nvPr/>
        </p:nvSpPr>
        <p:spPr>
          <a:xfrm>
            <a:off x="9418320" y="6144768"/>
            <a:ext cx="8321040" cy="457200"/>
          </a:xfrm>
          <a:prstGeom prst="rect">
            <a:avLst/>
          </a:prstGeom>
          <a:noFill/>
          <a:ln/>
        </p:spPr>
        <p:txBody>
          <a:bodyPr wrap="square" lIns="0" tIns="0" rIns="0" bIns="0" rtlCol="0" anchor="ctr"/>
          <a:lstStyle/>
          <a:p>
            <a:pPr indent="0" marL="0">
              <a:buNone/>
            </a:pPr>
            <a:r>
              <a:rPr lang="en-US" sz="1300" b="1" dirty="0">
                <a:solidFill>
                  <a:srgbClr val="F28C28"/>
                </a:solidFill>
                <a:latin typeface="Calibri" pitchFamily="34" charset="0"/>
                <a:ea typeface="Calibri" pitchFamily="34" charset="-122"/>
                <a:cs typeface="Calibri" pitchFamily="34" charset="-120"/>
              </a:rPr>
              <a:t>↺  Retry loop: </a:t>
            </a:r>
            <a:pPr indent="0" marL="0">
              <a:buNone/>
            </a:pPr>
            <a:r>
              <a:rPr lang="en-US" sz="1300" dirty="0">
                <a:solidFill>
                  <a:srgbClr val="1E2230"/>
                </a:solidFill>
                <a:latin typeface="Calibri" pitchFamily="34" charset="0"/>
                <a:ea typeface="Calibri" pitchFamily="34" charset="-122"/>
                <a:cs typeface="Calibri" pitchFamily="34" charset="-120"/>
              </a:rPr>
              <a:t>a failed gate is fed back to the model, and a fix is only kept when every gate passes</a:t>
            </a:r>
            <a:endParaRPr lang="en-US" sz="1300" dirty="0"/>
          </a:p>
        </p:txBody>
      </p:sp>
      <p:sp>
        <p:nvSpPr>
          <p:cNvPr id="102" name="Shape 80"/>
          <p:cNvSpPr/>
          <p:nvPr/>
        </p:nvSpPr>
        <p:spPr>
          <a:xfrm>
            <a:off x="9281160" y="6766560"/>
            <a:ext cx="1609344" cy="512064"/>
          </a:xfrm>
          <a:prstGeom prst="roundRect">
            <a:avLst>
              <a:gd name="adj" fmla="val 50000"/>
            </a:avLst>
          </a:prstGeom>
          <a:solidFill>
            <a:srgbClr val="C0392B"/>
          </a:solidFill>
          <a:ln/>
        </p:spPr>
      </p:sp>
      <p:sp>
        <p:nvSpPr>
          <p:cNvPr id="103" name="Text 81"/>
          <p:cNvSpPr txBox="1"/>
          <p:nvPr/>
        </p:nvSpPr>
        <p:spPr>
          <a:xfrm>
            <a:off x="9281160" y="6766560"/>
            <a:ext cx="1609344"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Exploit: fail → pass</a:t>
            </a:r>
            <a:endParaRPr lang="en-US" sz="1150" dirty="0"/>
          </a:p>
        </p:txBody>
      </p:sp>
      <p:sp>
        <p:nvSpPr>
          <p:cNvPr id="104" name="Shape 82"/>
          <p:cNvSpPr/>
          <p:nvPr/>
        </p:nvSpPr>
        <p:spPr>
          <a:xfrm>
            <a:off x="11000232" y="6766560"/>
            <a:ext cx="1609344" cy="512064"/>
          </a:xfrm>
          <a:prstGeom prst="roundRect">
            <a:avLst>
              <a:gd name="adj" fmla="val 50000"/>
            </a:avLst>
          </a:prstGeom>
          <a:solidFill>
            <a:srgbClr val="2E7D32"/>
          </a:solidFill>
          <a:ln/>
        </p:spPr>
      </p:sp>
      <p:sp>
        <p:nvSpPr>
          <p:cNvPr id="105" name="Text 83"/>
          <p:cNvSpPr txBox="1"/>
          <p:nvPr/>
        </p:nvSpPr>
        <p:spPr>
          <a:xfrm>
            <a:off x="11000232" y="6766560"/>
            <a:ext cx="1609344"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Suite: 0 new failures</a:t>
            </a:r>
            <a:endParaRPr lang="en-US" sz="1150" dirty="0"/>
          </a:p>
        </p:txBody>
      </p:sp>
      <p:sp>
        <p:nvSpPr>
          <p:cNvPr id="106" name="Shape 84"/>
          <p:cNvSpPr/>
          <p:nvPr/>
        </p:nvSpPr>
        <p:spPr>
          <a:xfrm>
            <a:off x="12719304" y="6766560"/>
            <a:ext cx="1609344" cy="512064"/>
          </a:xfrm>
          <a:prstGeom prst="roundRect">
            <a:avLst>
              <a:gd name="adj" fmla="val 50000"/>
            </a:avLst>
          </a:prstGeom>
          <a:solidFill>
            <a:srgbClr val="1565C0"/>
          </a:solidFill>
          <a:ln/>
        </p:spPr>
      </p:sp>
      <p:sp>
        <p:nvSpPr>
          <p:cNvPr id="107" name="Text 85"/>
          <p:cNvSpPr txBox="1"/>
          <p:nvPr/>
        </p:nvSpPr>
        <p:spPr>
          <a:xfrm>
            <a:off x="12719304" y="6766560"/>
            <a:ext cx="1609344"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Syntax: parses</a:t>
            </a:r>
            <a:endParaRPr lang="en-US" sz="1150" dirty="0"/>
          </a:p>
        </p:txBody>
      </p:sp>
      <p:sp>
        <p:nvSpPr>
          <p:cNvPr id="108" name="Shape 86"/>
          <p:cNvSpPr/>
          <p:nvPr/>
        </p:nvSpPr>
        <p:spPr>
          <a:xfrm>
            <a:off x="14438376" y="6766560"/>
            <a:ext cx="1609344" cy="512064"/>
          </a:xfrm>
          <a:prstGeom prst="roundRect">
            <a:avLst>
              <a:gd name="adj" fmla="val 50000"/>
            </a:avLst>
          </a:prstGeom>
          <a:solidFill>
            <a:srgbClr val="8E44AD"/>
          </a:solidFill>
          <a:ln/>
        </p:spPr>
      </p:sp>
      <p:sp>
        <p:nvSpPr>
          <p:cNvPr id="109" name="Text 87"/>
          <p:cNvSpPr txBox="1"/>
          <p:nvPr/>
        </p:nvSpPr>
        <p:spPr>
          <a:xfrm>
            <a:off x="14438376" y="6766560"/>
            <a:ext cx="1609344"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Scope: small patch</a:t>
            </a:r>
            <a:endParaRPr lang="en-US" sz="1150" dirty="0"/>
          </a:p>
        </p:txBody>
      </p:sp>
      <p:sp>
        <p:nvSpPr>
          <p:cNvPr id="110" name="Shape 88"/>
          <p:cNvSpPr/>
          <p:nvPr/>
        </p:nvSpPr>
        <p:spPr>
          <a:xfrm>
            <a:off x="16157448" y="6766560"/>
            <a:ext cx="1609344" cy="512064"/>
          </a:xfrm>
          <a:prstGeom prst="roundRect">
            <a:avLst>
              <a:gd name="adj" fmla="val 50000"/>
            </a:avLst>
          </a:prstGeom>
          <a:solidFill>
            <a:srgbClr val="E67E22"/>
          </a:solidFill>
          <a:ln/>
        </p:spPr>
      </p:sp>
      <p:sp>
        <p:nvSpPr>
          <p:cNvPr id="111" name="Text 89"/>
          <p:cNvSpPr txBox="1"/>
          <p:nvPr/>
        </p:nvSpPr>
        <p:spPr>
          <a:xfrm>
            <a:off x="16157448" y="6766560"/>
            <a:ext cx="1609344"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Rule re-check</a:t>
            </a:r>
            <a:endParaRPr lang="en-US" sz="1150" dirty="0"/>
          </a:p>
        </p:txBody>
      </p:sp>
      <p:sp>
        <p:nvSpPr>
          <p:cNvPr id="112" name="Text 90"/>
          <p:cNvSpPr txBox="1"/>
          <p:nvPr/>
        </p:nvSpPr>
        <p:spPr>
          <a:xfrm>
            <a:off x="9281160" y="7452360"/>
            <a:ext cx="8595360" cy="457200"/>
          </a:xfrm>
          <a:prstGeom prst="rect">
            <a:avLst/>
          </a:prstGeom>
          <a:noFill/>
          <a:ln/>
        </p:spPr>
        <p:txBody>
          <a:bodyPr wrap="square" lIns="0" tIns="0" rIns="0" bIns="0" rtlCol="0" anchor="t"/>
          <a:lstStyle/>
          <a:p>
            <a:pPr indent="0" marL="0">
              <a:buNone/>
            </a:pPr>
            <a:r>
              <a:rPr lang="en-US" sz="1300" i="1" dirty="0">
                <a:solidFill>
                  <a:srgbClr val="4A5163"/>
                </a:solidFill>
                <a:latin typeface="Calibri" pitchFamily="34" charset="0"/>
                <a:ea typeface="Calibri" pitchFamily="34" charset="-122"/>
                <a:cs typeface="Calibri" pitchFamily="34" charset="-120"/>
              </a:rPr>
              <a:t>Real run on a 4-bug repository: root cause 4.5 s · exploits 1 s · verify 1.4 s → 4 / 4 verified in 11 s</a:t>
            </a:r>
            <a:endParaRPr lang="en-US" sz="1300" dirty="0"/>
          </a:p>
        </p:txBody>
      </p:sp>
      <p:sp>
        <p:nvSpPr>
          <p:cNvPr id="113" name="Shape 91"/>
          <p:cNvSpPr/>
          <p:nvPr/>
        </p:nvSpPr>
        <p:spPr>
          <a:xfrm>
            <a:off x="9070848" y="8321040"/>
            <a:ext cx="8988552" cy="1783080"/>
          </a:xfrm>
          <a:prstGeom prst="roundRect">
            <a:avLst>
              <a:gd name="adj" fmla="val 7179"/>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14" name="Shape 92"/>
          <p:cNvSpPr/>
          <p:nvPr/>
        </p:nvSpPr>
        <p:spPr>
          <a:xfrm>
            <a:off x="9326880" y="8503920"/>
            <a:ext cx="658368" cy="658368"/>
          </a:xfrm>
          <a:prstGeom prst="ellipse">
            <a:avLst/>
          </a:prstGeom>
          <a:solidFill>
            <a:srgbClr val="1B2A6B"/>
          </a:solidFill>
          <a:ln/>
        </p:spPr>
      </p:sp>
      <p:pic>
        <p:nvPicPr>
          <p:cNvPr id="115" name="Image 20" descr="preencoded.png">    </p:cNvPr>
          <p:cNvPicPr>
            <a:picLocks noChangeAspect="1"/>
          </p:cNvPicPr>
          <p:nvPr/>
        </p:nvPicPr>
        <p:blipFill>
          <a:blip r:embed="rId21"/>
          <a:stretch>
            <a:fillRect/>
          </a:stretch>
        </p:blipFill>
        <p:spPr>
          <a:xfrm>
            <a:off x="9471721" y="8648761"/>
            <a:ext cx="368686" cy="368686"/>
          </a:xfrm>
          <a:prstGeom prst="rect">
            <a:avLst/>
          </a:prstGeom>
        </p:spPr>
      </p:pic>
      <p:sp>
        <p:nvSpPr>
          <p:cNvPr id="116" name="Text 93"/>
          <p:cNvSpPr txBox="1"/>
          <p:nvPr/>
        </p:nvSpPr>
        <p:spPr>
          <a:xfrm>
            <a:off x="9162288" y="9217152"/>
            <a:ext cx="1005840" cy="777240"/>
          </a:xfrm>
          <a:prstGeom prst="rect">
            <a:avLst/>
          </a:prstGeom>
          <a:noFill/>
          <a:ln/>
        </p:spPr>
        <p:txBody>
          <a:bodyPr wrap="square" lIns="0" tIns="0" rIns="0" bIns="0" rtlCol="0" anchor="t"/>
          <a:lstStyle/>
          <a:p>
            <a:pPr algn="ctr" indent="0" marL="0">
              <a:buNone/>
            </a:pPr>
            <a:r>
              <a:rPr lang="en-US" sz="1500" b="1" dirty="0">
                <a:solidFill>
                  <a:srgbClr val="1E2230"/>
                </a:solidFill>
                <a:latin typeface="Calibri" pitchFamily="34" charset="0"/>
                <a:ea typeface="Calibri" pitchFamily="34" charset="-122"/>
                <a:cs typeface="Calibri" pitchFamily="34" charset="-120"/>
              </a:rPr>
              <a:t>TARGET</a:t>
            </a:r>
            <a:endParaRPr lang="en-US" sz="1500" dirty="0"/>
          </a:p>
          <a:p>
            <a:pPr algn="ctr" indent="0" marL="0">
              <a:buNone/>
            </a:pPr>
            <a:r>
              <a:rPr lang="en-US" sz="1500" b="1" dirty="0">
                <a:solidFill>
                  <a:srgbClr val="1E2230"/>
                </a:solidFill>
                <a:latin typeface="Calibri" pitchFamily="34" charset="0"/>
                <a:ea typeface="Calibri" pitchFamily="34" charset="-122"/>
                <a:cs typeface="Calibri" pitchFamily="34" charset="-120"/>
              </a:rPr>
              <a:t>USERS</a:t>
            </a:r>
            <a:endParaRPr lang="en-US" sz="1500" dirty="0"/>
          </a:p>
        </p:txBody>
      </p:sp>
      <p:sp>
        <p:nvSpPr>
          <p:cNvPr id="117" name="Shape 94"/>
          <p:cNvSpPr/>
          <p:nvPr/>
        </p:nvSpPr>
        <p:spPr>
          <a:xfrm>
            <a:off x="10378440" y="8430768"/>
            <a:ext cx="7543800" cy="457200"/>
          </a:xfrm>
          <a:prstGeom prst="roundRect">
            <a:avLst>
              <a:gd name="adj" fmla="val 12000"/>
            </a:avLst>
          </a:prstGeom>
          <a:solidFill>
            <a:srgbClr val="EEF0FB"/>
          </a:solidFill>
          <a:ln w="15875">
            <a:solidFill>
              <a:srgbClr val="B9C0E6"/>
            </a:solidFill>
            <a:prstDash val="solid"/>
          </a:ln>
        </p:spPr>
      </p:sp>
      <p:sp>
        <p:nvSpPr>
          <p:cNvPr id="118" name="Text 95"/>
          <p:cNvSpPr txBox="1"/>
          <p:nvPr/>
        </p:nvSpPr>
        <p:spPr>
          <a:xfrm>
            <a:off x="10515600" y="8430768"/>
            <a:ext cx="7315200" cy="45720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Open-source maintainers: </a:t>
            </a:r>
            <a:pPr indent="0" marL="0">
              <a:buNone/>
            </a:pPr>
            <a:r>
              <a:rPr lang="en-US" sz="1450" dirty="0">
                <a:solidFill>
                  <a:srgbClr val="1E2230"/>
                </a:solidFill>
                <a:latin typeface="Calibri" pitchFamily="34" charset="0"/>
                <a:ea typeface="Calibri" pitchFamily="34" charset="-122"/>
                <a:cs typeface="Calibri" pitchFamily="34" charset="-120"/>
              </a:rPr>
              <a:t>verified PRs instead of raw alerts</a:t>
            </a:r>
            <a:endParaRPr lang="en-US" sz="1450" dirty="0"/>
          </a:p>
        </p:txBody>
      </p:sp>
      <p:sp>
        <p:nvSpPr>
          <p:cNvPr id="119" name="Shape 96"/>
          <p:cNvSpPr/>
          <p:nvPr/>
        </p:nvSpPr>
        <p:spPr>
          <a:xfrm>
            <a:off x="10378440" y="8979408"/>
            <a:ext cx="7543800" cy="457200"/>
          </a:xfrm>
          <a:prstGeom prst="roundRect">
            <a:avLst>
              <a:gd name="adj" fmla="val 12000"/>
            </a:avLst>
          </a:prstGeom>
          <a:solidFill>
            <a:srgbClr val="EEF0FB"/>
          </a:solidFill>
          <a:ln w="15875">
            <a:solidFill>
              <a:srgbClr val="B9C0E6"/>
            </a:solidFill>
            <a:prstDash val="solid"/>
          </a:ln>
        </p:spPr>
      </p:sp>
      <p:sp>
        <p:nvSpPr>
          <p:cNvPr id="120" name="Text 97"/>
          <p:cNvSpPr txBox="1"/>
          <p:nvPr/>
        </p:nvSpPr>
        <p:spPr>
          <a:xfrm>
            <a:off x="10515600" y="8979408"/>
            <a:ext cx="7315200" cy="45720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Security / DevSecOps teams: </a:t>
            </a:r>
            <a:pPr indent="0" marL="0">
              <a:buNone/>
            </a:pPr>
            <a:r>
              <a:rPr lang="en-US" sz="1450" dirty="0">
                <a:solidFill>
                  <a:srgbClr val="1E2230"/>
                </a:solidFill>
                <a:latin typeface="Calibri" pitchFamily="34" charset="0"/>
                <a:ea typeface="Calibri" pitchFamily="34" charset="-122"/>
                <a:cs typeface="Calibri" pitchFamily="34" charset="-120"/>
              </a:rPr>
              <a:t>triage and proof done automatically</a:t>
            </a:r>
            <a:endParaRPr lang="en-US" sz="1450" dirty="0"/>
          </a:p>
        </p:txBody>
      </p:sp>
      <p:sp>
        <p:nvSpPr>
          <p:cNvPr id="121" name="Shape 98"/>
          <p:cNvSpPr/>
          <p:nvPr/>
        </p:nvSpPr>
        <p:spPr>
          <a:xfrm>
            <a:off x="10378440" y="9528048"/>
            <a:ext cx="7543800" cy="457200"/>
          </a:xfrm>
          <a:prstGeom prst="roundRect">
            <a:avLst>
              <a:gd name="adj" fmla="val 12000"/>
            </a:avLst>
          </a:prstGeom>
          <a:solidFill>
            <a:srgbClr val="EEF0FB"/>
          </a:solidFill>
          <a:ln w="15875">
            <a:solidFill>
              <a:srgbClr val="B9C0E6"/>
            </a:solidFill>
            <a:prstDash val="solid"/>
          </a:ln>
        </p:spPr>
      </p:sp>
      <p:sp>
        <p:nvSpPr>
          <p:cNvPr id="122" name="Text 99"/>
          <p:cNvSpPr txBox="1"/>
          <p:nvPr/>
        </p:nvSpPr>
        <p:spPr>
          <a:xfrm>
            <a:off x="10515600" y="9528048"/>
            <a:ext cx="7315200" cy="45720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Students &amp; developers: </a:t>
            </a:r>
            <a:pPr indent="0" marL="0">
              <a:buNone/>
            </a:pPr>
            <a:r>
              <a:rPr lang="en-US" sz="1450" dirty="0">
                <a:solidFill>
                  <a:srgbClr val="1E2230"/>
                </a:solidFill>
                <a:latin typeface="Calibri" pitchFamily="34" charset="0"/>
                <a:ea typeface="Calibri" pitchFamily="34" charset="-122"/>
                <a:cs typeface="Calibri" pitchFamily="34" charset="-120"/>
              </a:rPr>
              <a:t>learn secure fixes from their own commits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3_x108_0_0_1440x810.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C:\Users\Admin\AppData\Local\Temp\claude\C--Users-Admin-Documents-Projects-HackOnTrack\4c97a385-1eae-4d0d-a267-e15be26504cc\scratchpad\deck\img\p2_x117_21_9_121x119.png">    </p:cNvPr>
          <p:cNvPicPr>
            <a:picLocks noChangeAspect="1"/>
          </p:cNvPicPr>
          <p:nvPr/>
        </p:nvPicPr>
        <p:blipFill>
          <a:blip r:embed="rId2"/>
          <a:stretch>
            <a:fillRect/>
          </a:stretch>
        </p:blipFill>
        <p:spPr>
          <a:xfrm>
            <a:off x="256032" y="128016"/>
            <a:ext cx="1536192" cy="1508760"/>
          </a:xfrm>
          <a:prstGeom prst="rect">
            <a:avLst/>
          </a:prstGeom>
        </p:spPr>
      </p:pic>
      <p:pic>
        <p:nvPicPr>
          <p:cNvPr id="4" name="Image 2" descr="C:\Users\Admin\AppData\Local\Temp\claude\C--Users-Admin-Documents-Projects-HackOnTrack\4c97a385-1eae-4d0d-a267-e15be26504cc\scratchpad\deck\img\p2_x115_1297_9_119x119.png">    </p:cNvPr>
          <p:cNvPicPr>
            <a:picLocks noChangeAspect="1"/>
          </p:cNvPicPr>
          <p:nvPr/>
        </p:nvPicPr>
        <p:blipFill>
          <a:blip r:embed="rId3"/>
          <a:stretch>
            <a:fillRect/>
          </a:stretch>
        </p:blipFill>
        <p:spPr>
          <a:xfrm>
            <a:off x="16477488" y="128016"/>
            <a:ext cx="1508760" cy="1508760"/>
          </a:xfrm>
          <a:prstGeom prst="rect">
            <a:avLst/>
          </a:prstGeom>
        </p:spPr>
      </p:pic>
      <p:pic>
        <p:nvPicPr>
          <p:cNvPr id="5" name="Image 3" descr="C:\Users\Admin\AppData\Local\Temp\claude\C--Users-Admin-Documents-Projects-HackOnTrack\4c97a385-1eae-4d0d-a267-e15be26504cc\scratchpad\deck\img\title_r1_1.png">    </p:cNvPr>
          <p:cNvPicPr>
            <a:picLocks noChangeAspect="1"/>
          </p:cNvPicPr>
          <p:nvPr/>
        </p:nvPicPr>
        <p:blipFill>
          <a:blip r:embed="rId4"/>
          <a:stretch>
            <a:fillRect/>
          </a:stretch>
        </p:blipFill>
        <p:spPr>
          <a:xfrm>
            <a:off x="4537099" y="320040"/>
            <a:ext cx="9213802" cy="1097280"/>
          </a:xfrm>
          <a:prstGeom prst="rect">
            <a:avLst/>
          </a:prstGeom>
        </p:spPr>
      </p:pic>
      <p:sp>
        <p:nvSpPr>
          <p:cNvPr id="6" name="Shape 0"/>
          <p:cNvSpPr/>
          <p:nvPr/>
        </p:nvSpPr>
        <p:spPr>
          <a:xfrm>
            <a:off x="274320" y="1810512"/>
            <a:ext cx="9555480" cy="8275320"/>
          </a:xfrm>
          <a:prstGeom prst="roundRect">
            <a:avLst>
              <a:gd name="adj" fmla="val 1547"/>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7" name="Shape 1"/>
          <p:cNvSpPr/>
          <p:nvPr/>
        </p:nvSpPr>
        <p:spPr>
          <a:xfrm>
            <a:off x="731520" y="2011680"/>
            <a:ext cx="2880360" cy="566928"/>
          </a:xfrm>
          <a:prstGeom prst="roundRect">
            <a:avLst>
              <a:gd name="adj" fmla="val 50000"/>
            </a:avLst>
          </a:prstGeom>
          <a:solidFill>
            <a:srgbClr val="F28C28"/>
          </a:solidFill>
          <a:ln/>
        </p:spPr>
      </p:sp>
      <p:sp>
        <p:nvSpPr>
          <p:cNvPr id="8" name="Shape 2"/>
          <p:cNvSpPr/>
          <p:nvPr/>
        </p:nvSpPr>
        <p:spPr>
          <a:xfrm>
            <a:off x="457200" y="1956816"/>
            <a:ext cx="676656" cy="676656"/>
          </a:xfrm>
          <a:prstGeom prst="ellipse">
            <a:avLst/>
          </a:prstGeom>
          <a:solidFill>
            <a:srgbClr val="FFFFFF"/>
          </a:solidFill>
          <a:ln/>
        </p:spPr>
      </p:sp>
      <p:pic>
        <p:nvPicPr>
          <p:cNvPr id="9" name="Image 4" descr="preencoded.png">    </p:cNvPr>
          <p:cNvPicPr>
            <a:picLocks noChangeAspect="1"/>
          </p:cNvPicPr>
          <p:nvPr/>
        </p:nvPicPr>
        <p:blipFill>
          <a:blip r:embed="rId5"/>
          <a:stretch>
            <a:fillRect/>
          </a:stretch>
        </p:blipFill>
        <p:spPr>
          <a:xfrm>
            <a:off x="606064" y="2105680"/>
            <a:ext cx="378927" cy="378927"/>
          </a:xfrm>
          <a:prstGeom prst="rect">
            <a:avLst/>
          </a:prstGeom>
        </p:spPr>
      </p:pic>
      <p:sp>
        <p:nvSpPr>
          <p:cNvPr id="10" name="Shape 3"/>
          <p:cNvSpPr/>
          <p:nvPr/>
        </p:nvSpPr>
        <p:spPr>
          <a:xfrm>
            <a:off x="457200" y="1956816"/>
            <a:ext cx="676656" cy="676656"/>
          </a:xfrm>
          <a:prstGeom prst="ellipse">
            <a:avLst/>
          </a:prstGeom>
          <a:ln w="25400">
            <a:solidFill>
              <a:srgbClr val="F28C28"/>
            </a:solidFill>
            <a:prstDash val="solid"/>
          </a:ln>
        </p:spPr>
      </p:sp>
      <p:sp>
        <p:nvSpPr>
          <p:cNvPr id="11" name="Text 4"/>
          <p:cNvSpPr txBox="1"/>
          <p:nvPr/>
        </p:nvSpPr>
        <p:spPr>
          <a:xfrm>
            <a:off x="1252728" y="2011680"/>
            <a:ext cx="233172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KEY FEATURES</a:t>
            </a:r>
            <a:endParaRPr lang="en-US" sz="1900" dirty="0"/>
          </a:p>
        </p:txBody>
      </p:sp>
      <p:sp>
        <p:nvSpPr>
          <p:cNvPr id="12" name="Text 5"/>
          <p:cNvSpPr txBox="1"/>
          <p:nvPr/>
        </p:nvSpPr>
        <p:spPr>
          <a:xfrm>
            <a:off x="548640" y="2743200"/>
            <a:ext cx="9098280" cy="3703320"/>
          </a:xfrm>
          <a:prstGeom prst="rect">
            <a:avLst/>
          </a:prstGeom>
          <a:noFill/>
          <a:ln/>
        </p:spPr>
        <p:txBody>
          <a:bodyPr wrap="square" lIns="0" tIns="0" rIns="0" bIns="0" rtlCol="0" anchor="t"/>
          <a:lstStyle/>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Proof-carrying patches: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every fix ships with an exploit test (fails before, passes after) and a before/after run of the repo's own suite</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Auto push detection: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GitHub webhook + 60 s watcher re-scan every pushed repo; new problems are flagged on the dashboard</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Commit-level fixing: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check any single commit, see the finding and the fix, then commit or ignore it from the chat</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Multi-language: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Python, JavaScript, TypeScript · pytest, jest, vitest, mocha, node:test</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Fix all: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up to 4 findings patched in parallel (one model call each); 11–15 s on our test repos</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False-positive triage: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findings the agent proves unreachable are marked "Not exploitable" with the reason</a:t>
            </a:r>
            <a:endParaRPr lang="en-US" sz="1500" dirty="0"/>
          </a:p>
        </p:txBody>
      </p:sp>
      <p:sp>
        <p:nvSpPr>
          <p:cNvPr id="13" name="Shape 6"/>
          <p:cNvSpPr/>
          <p:nvPr/>
        </p:nvSpPr>
        <p:spPr>
          <a:xfrm>
            <a:off x="731520" y="6510528"/>
            <a:ext cx="4572000" cy="566928"/>
          </a:xfrm>
          <a:prstGeom prst="roundRect">
            <a:avLst>
              <a:gd name="adj" fmla="val 50000"/>
            </a:avLst>
          </a:prstGeom>
          <a:solidFill>
            <a:srgbClr val="F28C28"/>
          </a:solidFill>
          <a:ln/>
        </p:spPr>
      </p:sp>
      <p:sp>
        <p:nvSpPr>
          <p:cNvPr id="14" name="Shape 7"/>
          <p:cNvSpPr/>
          <p:nvPr/>
        </p:nvSpPr>
        <p:spPr>
          <a:xfrm>
            <a:off x="457200" y="6455664"/>
            <a:ext cx="676656" cy="676656"/>
          </a:xfrm>
          <a:prstGeom prst="ellipse">
            <a:avLst/>
          </a:prstGeom>
          <a:solidFill>
            <a:srgbClr val="FFFFFF"/>
          </a:solidFill>
          <a:ln/>
        </p:spPr>
      </p:sp>
      <p:pic>
        <p:nvPicPr>
          <p:cNvPr id="15" name="Image 5" descr="preencoded.png">    </p:cNvPr>
          <p:cNvPicPr>
            <a:picLocks noChangeAspect="1"/>
          </p:cNvPicPr>
          <p:nvPr/>
        </p:nvPicPr>
        <p:blipFill>
          <a:blip r:embed="rId6"/>
          <a:stretch>
            <a:fillRect/>
          </a:stretch>
        </p:blipFill>
        <p:spPr>
          <a:xfrm>
            <a:off x="606064" y="6604528"/>
            <a:ext cx="378927" cy="378927"/>
          </a:xfrm>
          <a:prstGeom prst="rect">
            <a:avLst/>
          </a:prstGeom>
        </p:spPr>
      </p:pic>
      <p:sp>
        <p:nvSpPr>
          <p:cNvPr id="16" name="Shape 8"/>
          <p:cNvSpPr/>
          <p:nvPr/>
        </p:nvSpPr>
        <p:spPr>
          <a:xfrm>
            <a:off x="457200" y="6455664"/>
            <a:ext cx="676656" cy="676656"/>
          </a:xfrm>
          <a:prstGeom prst="ellipse">
            <a:avLst/>
          </a:prstGeom>
          <a:ln w="25400">
            <a:solidFill>
              <a:srgbClr val="F28C28"/>
            </a:solidFill>
            <a:prstDash val="solid"/>
          </a:ln>
        </p:spPr>
      </p:sp>
      <p:sp>
        <p:nvSpPr>
          <p:cNvPr id="17" name="Text 9"/>
          <p:cNvSpPr txBox="1"/>
          <p:nvPr/>
        </p:nvSpPr>
        <p:spPr>
          <a:xfrm>
            <a:off x="1252728" y="6510528"/>
            <a:ext cx="40233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INNOVATION &amp; UNIQUENESS</a:t>
            </a:r>
            <a:endParaRPr lang="en-US" sz="1900" dirty="0"/>
          </a:p>
        </p:txBody>
      </p:sp>
      <p:sp>
        <p:nvSpPr>
          <p:cNvPr id="18" name="Text 10"/>
          <p:cNvSpPr txBox="1"/>
          <p:nvPr/>
        </p:nvSpPr>
        <p:spPr>
          <a:xfrm>
            <a:off x="548640" y="7223760"/>
            <a:ext cx="9098280" cy="2743200"/>
          </a:xfrm>
          <a:prstGeom prst="rect">
            <a:avLst/>
          </a:prstGeom>
          <a:noFill/>
          <a:ln/>
        </p:spPr>
        <p:txBody>
          <a:bodyPr wrap="square" lIns="0" tIns="0" rIns="0" bIns="0" rtlCol="0" anchor="t"/>
          <a:lstStyle/>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Chat interface: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ask KAIZEN about any result; fixes are shown side by side (current code | with the fix)</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Learning mode: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every fix links CWE, OWASP and PortSwigger material; a Learning page groups your own mistakes</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Guess-the-bug quiz: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after you act on a fix, name the bug class from the vulnerable code (+XP)</a:t>
            </a:r>
            <a:endParaRPr lang="en-US" sz="1500" dirty="0"/>
          </a:p>
          <a:p>
            <a:pPr indent="0" marL="0">
              <a:spcAft>
                <a:spcPts val="500"/>
              </a:spcAft>
              <a:buNone/>
            </a:pPr>
            <a:r>
              <a:rPr lang="en-US" sz="1500" b="1" dirty="0">
                <a:solidFill>
                  <a:srgbClr val="1F9D55"/>
                </a:solidFill>
                <a:latin typeface="Calibri" pitchFamily="34" charset="0"/>
                <a:ea typeface="Calibri" pitchFamily="34" charset="-122"/>
                <a:cs typeface="Calibri" pitchFamily="34" charset="-120"/>
              </a:rPr>
              <a:t>✓  </a:t>
            </a:r>
            <a:pPr indent="0" marL="0">
              <a:spcAft>
                <a:spcPts val="500"/>
              </a:spcAft>
              <a:buNone/>
            </a:pPr>
            <a:r>
              <a:rPr lang="en-US" sz="1500" b="1" dirty="0">
                <a:solidFill>
                  <a:srgbClr val="1E2230"/>
                </a:solidFill>
                <a:latin typeface="Calibri" pitchFamily="34" charset="0"/>
                <a:ea typeface="Calibri" pitchFamily="34" charset="-122"/>
                <a:cs typeface="Calibri" pitchFamily="34" charset="-120"/>
              </a:rPr>
              <a:t>Quests &amp; rewards: </a:t>
            </a:r>
            <a:pPr indent="0" marL="0">
              <a:spcAft>
                <a:spcPts val="500"/>
              </a:spcAft>
              <a:buNone/>
            </a:pPr>
            <a:r>
              <a:rPr lang="en-US" sz="1500" dirty="0">
                <a:solidFill>
                  <a:srgbClr val="1E2230"/>
                </a:solidFill>
                <a:latin typeface="Calibri" pitchFamily="34" charset="0"/>
                <a:ea typeface="Calibri" pitchFamily="34" charset="-122"/>
                <a:cs typeface="Calibri" pitchFamily="34" charset="-120"/>
              </a:rPr>
              <a:t>XP, 6 levels, quests and demo coupons; opt-in, off by default</a:t>
            </a:r>
            <a:endParaRPr lang="en-US" sz="1500" dirty="0"/>
          </a:p>
        </p:txBody>
      </p:sp>
      <p:sp>
        <p:nvSpPr>
          <p:cNvPr id="19" name="Shape 11"/>
          <p:cNvSpPr/>
          <p:nvPr/>
        </p:nvSpPr>
        <p:spPr>
          <a:xfrm>
            <a:off x="10012680" y="1810512"/>
            <a:ext cx="8028432" cy="8275320"/>
          </a:xfrm>
          <a:prstGeom prst="roundRect">
            <a:avLst>
              <a:gd name="adj" fmla="val 1595"/>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20" name="Shape 12"/>
          <p:cNvSpPr/>
          <p:nvPr/>
        </p:nvSpPr>
        <p:spPr>
          <a:xfrm>
            <a:off x="10204704" y="2020824"/>
            <a:ext cx="7662672" cy="4032504"/>
          </a:xfrm>
          <a:prstGeom prst="roundRect">
            <a:avLst>
              <a:gd name="adj" fmla="val 1361"/>
            </a:avLst>
          </a:prstGeom>
          <a:solidFill>
            <a:srgbClr val="D7DBE6"/>
          </a:solidFill>
          <a:ln/>
        </p:spPr>
      </p:sp>
      <p:pic>
        <p:nvPicPr>
          <p:cNvPr id="21" name="Image 6" descr="C:\Users\Admin\AppData\Local\Temp\claude\C--Users-Admin-Documents-Projects-HackOnTrack\4c97a385-1eae-4d0d-a267-e15be26504cc\scratchpad\deck\shots\c_dashboard.png">    </p:cNvPr>
          <p:cNvPicPr>
            <a:picLocks noChangeAspect="1"/>
          </p:cNvPicPr>
          <p:nvPr/>
        </p:nvPicPr>
        <p:blipFill>
          <a:blip r:embed="rId7"/>
          <a:stretch>
            <a:fillRect/>
          </a:stretch>
        </p:blipFill>
        <p:spPr>
          <a:xfrm>
            <a:off x="10241280" y="2057400"/>
            <a:ext cx="7589520" cy="3959352"/>
          </a:xfrm>
          <a:prstGeom prst="rect">
            <a:avLst/>
          </a:prstGeom>
        </p:spPr>
      </p:pic>
      <p:sp>
        <p:nvSpPr>
          <p:cNvPr id="22" name="Text 13"/>
          <p:cNvSpPr txBox="1"/>
          <p:nvPr/>
        </p:nvSpPr>
        <p:spPr>
          <a:xfrm>
            <a:off x="10241280" y="6080760"/>
            <a:ext cx="7589520" cy="329184"/>
          </a:xfrm>
          <a:prstGeom prst="rect">
            <a:avLst/>
          </a:prstGeom>
          <a:noFill/>
          <a:ln/>
        </p:spPr>
        <p:txBody>
          <a:bodyPr wrap="square" lIns="0" tIns="0" rIns="0" bIns="0" rtlCol="0" anchor="t"/>
          <a:lstStyle/>
          <a:p>
            <a:pPr algn="ctr" indent="0" marL="0">
              <a:buNone/>
            </a:pPr>
            <a:r>
              <a:rPr lang="en-US" sz="1300" b="1" dirty="0">
                <a:solidFill>
                  <a:srgbClr val="1B2A6B"/>
                </a:solidFill>
                <a:latin typeface="Calibri" pitchFamily="34" charset="0"/>
                <a:ea typeface="Calibri" pitchFamily="34" charset="-122"/>
                <a:cs typeface="Calibri" pitchFamily="34" charset="-120"/>
              </a:rPr>
              <a:t>Push flagged automatically · Fix all per repository</a:t>
            </a:r>
            <a:endParaRPr lang="en-US" sz="1300" dirty="0"/>
          </a:p>
        </p:txBody>
      </p:sp>
      <p:sp>
        <p:nvSpPr>
          <p:cNvPr id="23" name="Shape 14"/>
          <p:cNvSpPr/>
          <p:nvPr/>
        </p:nvSpPr>
        <p:spPr>
          <a:xfrm>
            <a:off x="10204704" y="6501384"/>
            <a:ext cx="3776472" cy="2816352"/>
          </a:xfrm>
          <a:prstGeom prst="roundRect">
            <a:avLst>
              <a:gd name="adj" fmla="val 1948"/>
            </a:avLst>
          </a:prstGeom>
          <a:solidFill>
            <a:srgbClr val="D7DBE6"/>
          </a:solidFill>
          <a:ln/>
        </p:spPr>
      </p:sp>
      <p:pic>
        <p:nvPicPr>
          <p:cNvPr id="24" name="Image 7" descr="C:\Users\Admin\AppData\Local\Temp\claude\C--Users-Admin-Documents-Projects-HackOnTrack\4c97a385-1eae-4d0d-a267-e15be26504cc\scratchpad\deck\shots\c_fixview.png">    </p:cNvPr>
          <p:cNvPicPr>
            <a:picLocks noChangeAspect="1"/>
          </p:cNvPicPr>
          <p:nvPr/>
        </p:nvPicPr>
        <p:blipFill>
          <a:blip r:embed="rId8"/>
          <a:stretch>
            <a:fillRect/>
          </a:stretch>
        </p:blipFill>
        <p:spPr>
          <a:xfrm>
            <a:off x="10241280" y="6537960"/>
            <a:ext cx="3703320" cy="2743200"/>
          </a:xfrm>
          <a:prstGeom prst="rect">
            <a:avLst/>
          </a:prstGeom>
        </p:spPr>
      </p:pic>
      <p:sp>
        <p:nvSpPr>
          <p:cNvPr id="25" name="Shape 15"/>
          <p:cNvSpPr/>
          <p:nvPr/>
        </p:nvSpPr>
        <p:spPr>
          <a:xfrm>
            <a:off x="14090904" y="6501384"/>
            <a:ext cx="3776472" cy="2551176"/>
          </a:xfrm>
          <a:prstGeom prst="roundRect">
            <a:avLst>
              <a:gd name="adj" fmla="val 2151"/>
            </a:avLst>
          </a:prstGeom>
          <a:solidFill>
            <a:srgbClr val="D7DBE6"/>
          </a:solidFill>
          <a:ln/>
        </p:spPr>
      </p:sp>
      <p:pic>
        <p:nvPicPr>
          <p:cNvPr id="26" name="Image 8" descr="C:\Users\Admin\AppData\Local\Temp\claude\C--Users-Admin-Documents-Projects-HackOnTrack\4c97a385-1eae-4d0d-a267-e15be26504cc\scratchpad\deck\shots\c_quiz.png">    </p:cNvPr>
          <p:cNvPicPr>
            <a:picLocks noChangeAspect="1"/>
          </p:cNvPicPr>
          <p:nvPr/>
        </p:nvPicPr>
        <p:blipFill>
          <a:blip r:embed="rId9"/>
          <a:stretch>
            <a:fillRect/>
          </a:stretch>
        </p:blipFill>
        <p:spPr>
          <a:xfrm>
            <a:off x="14127480" y="6537960"/>
            <a:ext cx="3703320" cy="2478024"/>
          </a:xfrm>
          <a:prstGeom prst="rect">
            <a:avLst/>
          </a:prstGeom>
        </p:spPr>
      </p:pic>
      <p:sp>
        <p:nvSpPr>
          <p:cNvPr id="27" name="Text 16"/>
          <p:cNvSpPr txBox="1"/>
          <p:nvPr/>
        </p:nvSpPr>
        <p:spPr>
          <a:xfrm>
            <a:off x="10241280" y="9326880"/>
            <a:ext cx="3703320" cy="329184"/>
          </a:xfrm>
          <a:prstGeom prst="rect">
            <a:avLst/>
          </a:prstGeom>
          <a:noFill/>
          <a:ln/>
        </p:spPr>
        <p:txBody>
          <a:bodyPr wrap="square" lIns="0" tIns="0" rIns="0" bIns="0" rtlCol="0" anchor="t"/>
          <a:lstStyle/>
          <a:p>
            <a:pPr algn="ctr" indent="0" marL="0">
              <a:buNone/>
            </a:pPr>
            <a:r>
              <a:rPr lang="en-US" sz="1300" b="1" dirty="0">
                <a:solidFill>
                  <a:srgbClr val="1B2A6B"/>
                </a:solidFill>
                <a:latin typeface="Calibri" pitchFamily="34" charset="0"/>
                <a:ea typeface="Calibri" pitchFamily="34" charset="-122"/>
                <a:cs typeface="Calibri" pitchFamily="34" charset="-120"/>
              </a:rPr>
              <a:t>Side-by-side fix in the chat</a:t>
            </a:r>
            <a:endParaRPr lang="en-US" sz="1300" dirty="0"/>
          </a:p>
        </p:txBody>
      </p:sp>
      <p:sp>
        <p:nvSpPr>
          <p:cNvPr id="28" name="Text 17"/>
          <p:cNvSpPr txBox="1"/>
          <p:nvPr/>
        </p:nvSpPr>
        <p:spPr>
          <a:xfrm>
            <a:off x="14127480" y="9326880"/>
            <a:ext cx="3703320" cy="329184"/>
          </a:xfrm>
          <a:prstGeom prst="rect">
            <a:avLst/>
          </a:prstGeom>
          <a:noFill/>
          <a:ln/>
        </p:spPr>
        <p:txBody>
          <a:bodyPr wrap="square" lIns="0" tIns="0" rIns="0" bIns="0" rtlCol="0" anchor="t"/>
          <a:lstStyle/>
          <a:p>
            <a:pPr algn="ctr" indent="0" marL="0">
              <a:buNone/>
            </a:pPr>
            <a:r>
              <a:rPr lang="en-US" sz="1300" b="1" dirty="0">
                <a:solidFill>
                  <a:srgbClr val="1B2A6B"/>
                </a:solidFill>
                <a:latin typeface="Calibri" pitchFamily="34" charset="0"/>
                <a:ea typeface="Calibri" pitchFamily="34" charset="-122"/>
                <a:cs typeface="Calibri" pitchFamily="34" charset="-120"/>
              </a:rPr>
              <a:t>Guess-the-bug quiz (+XP)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3_x108_0_0_1440x810.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C:\Users\Admin\AppData\Local\Temp\claude\C--Users-Admin-Documents-Projects-HackOnTrack\4c97a385-1eae-4d0d-a267-e15be26504cc\scratchpad\deck\img\p2_x117_21_9_121x119.png">    </p:cNvPr>
          <p:cNvPicPr>
            <a:picLocks noChangeAspect="1"/>
          </p:cNvPicPr>
          <p:nvPr/>
        </p:nvPicPr>
        <p:blipFill>
          <a:blip r:embed="rId2"/>
          <a:stretch>
            <a:fillRect/>
          </a:stretch>
        </p:blipFill>
        <p:spPr>
          <a:xfrm>
            <a:off x="256032" y="128016"/>
            <a:ext cx="1536192" cy="1508760"/>
          </a:xfrm>
          <a:prstGeom prst="rect">
            <a:avLst/>
          </a:prstGeom>
        </p:spPr>
      </p:pic>
      <p:pic>
        <p:nvPicPr>
          <p:cNvPr id="4" name="Image 2" descr="C:\Users\Admin\AppData\Local\Temp\claude\C--Users-Admin-Documents-Projects-HackOnTrack\4c97a385-1eae-4d0d-a267-e15be26504cc\scratchpad\deck\img\p2_x115_1297_9_119x119.png">    </p:cNvPr>
          <p:cNvPicPr>
            <a:picLocks noChangeAspect="1"/>
          </p:cNvPicPr>
          <p:nvPr/>
        </p:nvPicPr>
        <p:blipFill>
          <a:blip r:embed="rId3"/>
          <a:stretch>
            <a:fillRect/>
          </a:stretch>
        </p:blipFill>
        <p:spPr>
          <a:xfrm>
            <a:off x="16477488" y="128016"/>
            <a:ext cx="1508760" cy="1508760"/>
          </a:xfrm>
          <a:prstGeom prst="rect">
            <a:avLst/>
          </a:prstGeom>
        </p:spPr>
      </p:pic>
      <p:pic>
        <p:nvPicPr>
          <p:cNvPr id="5" name="Image 3" descr="C:\Users\Admin\AppData\Local\Temp\claude\C--Users-Admin-Documents-Projects-HackOnTrack\4c97a385-1eae-4d0d-a267-e15be26504cc\scratchpad\deck\img\title_r2_0.png">    </p:cNvPr>
          <p:cNvPicPr>
            <a:picLocks noChangeAspect="1"/>
          </p:cNvPicPr>
          <p:nvPr/>
        </p:nvPicPr>
        <p:blipFill>
          <a:blip r:embed="rId4"/>
          <a:stretch>
            <a:fillRect/>
          </a:stretch>
        </p:blipFill>
        <p:spPr>
          <a:xfrm>
            <a:off x="4058982" y="356616"/>
            <a:ext cx="10170036" cy="1024128"/>
          </a:xfrm>
          <a:prstGeom prst="rect">
            <a:avLst/>
          </a:prstGeom>
        </p:spPr>
      </p:pic>
      <p:sp>
        <p:nvSpPr>
          <p:cNvPr id="6" name="Shape 0"/>
          <p:cNvSpPr/>
          <p:nvPr/>
        </p:nvSpPr>
        <p:spPr>
          <a:xfrm>
            <a:off x="137160" y="1783080"/>
            <a:ext cx="12618720" cy="6949440"/>
          </a:xfrm>
          <a:prstGeom prst="roundRect">
            <a:avLst>
              <a:gd name="adj" fmla="val 1053"/>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7" name="Text 1"/>
          <p:cNvSpPr txBox="1"/>
          <p:nvPr/>
        </p:nvSpPr>
        <p:spPr>
          <a:xfrm>
            <a:off x="137160" y="1847088"/>
            <a:ext cx="12618720" cy="411480"/>
          </a:xfrm>
          <a:prstGeom prst="rect">
            <a:avLst/>
          </a:prstGeom>
          <a:noFill/>
          <a:ln/>
        </p:spPr>
        <p:txBody>
          <a:bodyPr wrap="square" lIns="0" tIns="0" rIns="0" bIns="0" rtlCol="0" anchor="t"/>
          <a:lstStyle/>
          <a:p>
            <a:pPr algn="ctr" indent="0" marL="0">
              <a:buNone/>
            </a:pPr>
            <a:r>
              <a:rPr lang="en-US" sz="2100" b="1" dirty="0">
                <a:solidFill>
                  <a:srgbClr val="1E2230"/>
                </a:solidFill>
                <a:latin typeface="Calibri" pitchFamily="34" charset="0"/>
                <a:ea typeface="Calibri" pitchFamily="34" charset="-122"/>
                <a:cs typeface="Calibri" pitchFamily="34" charset="-120"/>
              </a:rPr>
              <a:t>SYSTEM ARCHITECTURE</a:t>
            </a:r>
            <a:endParaRPr lang="en-US" sz="2100" dirty="0"/>
          </a:p>
        </p:txBody>
      </p:sp>
      <p:sp>
        <p:nvSpPr>
          <p:cNvPr id="8" name="Shape 2"/>
          <p:cNvSpPr/>
          <p:nvPr/>
        </p:nvSpPr>
        <p:spPr>
          <a:xfrm>
            <a:off x="320040" y="2377440"/>
            <a:ext cx="2011680" cy="5440680"/>
          </a:xfrm>
          <a:prstGeom prst="roundRect">
            <a:avLst>
              <a:gd name="adj" fmla="val 2273"/>
            </a:avLst>
          </a:prstGeom>
          <a:solidFill>
            <a:srgbClr val="FFF6EC"/>
          </a:solidFill>
          <a:ln w="15875">
            <a:solidFill>
              <a:srgbClr val="E8B27A"/>
            </a:solidFill>
            <a:prstDash val="solid"/>
          </a:ln>
        </p:spPr>
      </p:sp>
      <p:sp>
        <p:nvSpPr>
          <p:cNvPr id="9" name="Text 3"/>
          <p:cNvSpPr txBox="1"/>
          <p:nvPr/>
        </p:nvSpPr>
        <p:spPr>
          <a:xfrm>
            <a:off x="320040" y="2432304"/>
            <a:ext cx="2011680" cy="548640"/>
          </a:xfrm>
          <a:prstGeom prst="rect">
            <a:avLst/>
          </a:prstGeom>
          <a:noFill/>
          <a:ln/>
        </p:spPr>
        <p:txBody>
          <a:bodyPr wrap="square" lIns="0" tIns="0" rIns="0" bIns="0" rtlCol="0" anchor="t"/>
          <a:lstStyle/>
          <a:p>
            <a:pPr algn="ctr" indent="0" marL="0">
              <a:buNone/>
            </a:pPr>
            <a:r>
              <a:rPr lang="en-US" sz="1300" b="1" dirty="0">
                <a:solidFill>
                  <a:srgbClr val="1E2230"/>
                </a:solidFill>
                <a:latin typeface="Calibri" pitchFamily="34" charset="0"/>
                <a:ea typeface="Calibri" pitchFamily="34" charset="-122"/>
                <a:cs typeface="Calibri" pitchFamily="34" charset="-120"/>
              </a:rPr>
              <a:t>CLIENT LAYER</a:t>
            </a:r>
            <a:endParaRPr lang="en-US" sz="1300" dirty="0"/>
          </a:p>
          <a:p>
            <a:pPr algn="ctr" indent="0" marL="0">
              <a:buNone/>
            </a:pPr>
            <a:r>
              <a:rPr lang="en-US" sz="1300" b="1" dirty="0">
                <a:solidFill>
                  <a:srgbClr val="1E2230"/>
                </a:solidFill>
                <a:latin typeface="Calibri" pitchFamily="34" charset="0"/>
                <a:ea typeface="Calibri" pitchFamily="34" charset="-122"/>
                <a:cs typeface="Calibri" pitchFamily="34" charset="-120"/>
              </a:rPr>
              <a:t>(Browser · JS)</a:t>
            </a:r>
            <a:endParaRPr lang="en-US" sz="1300" dirty="0"/>
          </a:p>
        </p:txBody>
      </p:sp>
      <p:sp>
        <p:nvSpPr>
          <p:cNvPr id="10" name="Shape 4"/>
          <p:cNvSpPr/>
          <p:nvPr/>
        </p:nvSpPr>
        <p:spPr>
          <a:xfrm>
            <a:off x="457200" y="3127248"/>
            <a:ext cx="1737360" cy="713232"/>
          </a:xfrm>
          <a:prstGeom prst="roundRect">
            <a:avLst>
              <a:gd name="adj" fmla="val 7692"/>
            </a:avLst>
          </a:prstGeom>
          <a:solidFill>
            <a:srgbClr val="FFFFFF"/>
          </a:solidFill>
          <a:ln w="15875">
            <a:solidFill>
              <a:srgbClr val="C9CDD8"/>
            </a:solidFill>
            <a:prstDash val="solid"/>
          </a:ln>
        </p:spPr>
      </p:sp>
      <p:pic>
        <p:nvPicPr>
          <p:cNvPr id="11" name="Image 4" descr="preencoded.png">    </p:cNvPr>
          <p:cNvPicPr>
            <a:picLocks noChangeAspect="1"/>
          </p:cNvPicPr>
          <p:nvPr/>
        </p:nvPicPr>
        <p:blipFill>
          <a:blip r:embed="rId5"/>
          <a:stretch>
            <a:fillRect/>
          </a:stretch>
        </p:blipFill>
        <p:spPr>
          <a:xfrm>
            <a:off x="566928" y="3310128"/>
            <a:ext cx="347472" cy="347472"/>
          </a:xfrm>
          <a:prstGeom prst="rect">
            <a:avLst/>
          </a:prstGeom>
        </p:spPr>
      </p:pic>
      <p:sp>
        <p:nvSpPr>
          <p:cNvPr id="12" name="Text 5"/>
          <p:cNvSpPr txBox="1"/>
          <p:nvPr/>
        </p:nvSpPr>
        <p:spPr>
          <a:xfrm>
            <a:off x="987552" y="3127248"/>
            <a:ext cx="1188720" cy="713232"/>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Dashboard</a:t>
            </a:r>
            <a:endParaRPr lang="en-US" sz="1400" dirty="0"/>
          </a:p>
        </p:txBody>
      </p:sp>
      <p:sp>
        <p:nvSpPr>
          <p:cNvPr id="13" name="Shape 6"/>
          <p:cNvSpPr/>
          <p:nvPr/>
        </p:nvSpPr>
        <p:spPr>
          <a:xfrm>
            <a:off x="457200" y="4041648"/>
            <a:ext cx="1737360" cy="713232"/>
          </a:xfrm>
          <a:prstGeom prst="roundRect">
            <a:avLst>
              <a:gd name="adj" fmla="val 7692"/>
            </a:avLst>
          </a:prstGeom>
          <a:solidFill>
            <a:srgbClr val="FFFFFF"/>
          </a:solidFill>
          <a:ln w="15875">
            <a:solidFill>
              <a:srgbClr val="C9CDD8"/>
            </a:solidFill>
            <a:prstDash val="solid"/>
          </a:ln>
        </p:spPr>
      </p:sp>
      <p:pic>
        <p:nvPicPr>
          <p:cNvPr id="14" name="Image 5" descr="preencoded.png">    </p:cNvPr>
          <p:cNvPicPr>
            <a:picLocks noChangeAspect="1"/>
          </p:cNvPicPr>
          <p:nvPr/>
        </p:nvPicPr>
        <p:blipFill>
          <a:blip r:embed="rId6"/>
          <a:stretch>
            <a:fillRect/>
          </a:stretch>
        </p:blipFill>
        <p:spPr>
          <a:xfrm>
            <a:off x="566928" y="4224528"/>
            <a:ext cx="347472" cy="347472"/>
          </a:xfrm>
          <a:prstGeom prst="rect">
            <a:avLst/>
          </a:prstGeom>
        </p:spPr>
      </p:pic>
      <p:sp>
        <p:nvSpPr>
          <p:cNvPr id="15" name="Text 7"/>
          <p:cNvSpPr txBox="1"/>
          <p:nvPr/>
        </p:nvSpPr>
        <p:spPr>
          <a:xfrm>
            <a:off x="987552" y="4041648"/>
            <a:ext cx="1188720" cy="713232"/>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Chat</a:t>
            </a:r>
            <a:endParaRPr lang="en-US" sz="1400" dirty="0"/>
          </a:p>
        </p:txBody>
      </p:sp>
      <p:sp>
        <p:nvSpPr>
          <p:cNvPr id="16" name="Shape 8"/>
          <p:cNvSpPr/>
          <p:nvPr/>
        </p:nvSpPr>
        <p:spPr>
          <a:xfrm>
            <a:off x="457200" y="4956048"/>
            <a:ext cx="1737360" cy="713232"/>
          </a:xfrm>
          <a:prstGeom prst="roundRect">
            <a:avLst>
              <a:gd name="adj" fmla="val 7692"/>
            </a:avLst>
          </a:prstGeom>
          <a:solidFill>
            <a:srgbClr val="FFFFFF"/>
          </a:solidFill>
          <a:ln w="15875">
            <a:solidFill>
              <a:srgbClr val="C9CDD8"/>
            </a:solidFill>
            <a:prstDash val="solid"/>
          </a:ln>
        </p:spPr>
      </p:sp>
      <p:pic>
        <p:nvPicPr>
          <p:cNvPr id="17" name="Image 6" descr="preencoded.png">    </p:cNvPr>
          <p:cNvPicPr>
            <a:picLocks noChangeAspect="1"/>
          </p:cNvPicPr>
          <p:nvPr/>
        </p:nvPicPr>
        <p:blipFill>
          <a:blip r:embed="rId7"/>
          <a:stretch>
            <a:fillRect/>
          </a:stretch>
        </p:blipFill>
        <p:spPr>
          <a:xfrm>
            <a:off x="566928" y="5138928"/>
            <a:ext cx="347472" cy="347472"/>
          </a:xfrm>
          <a:prstGeom prst="rect">
            <a:avLst/>
          </a:prstGeom>
        </p:spPr>
      </p:pic>
      <p:sp>
        <p:nvSpPr>
          <p:cNvPr id="18" name="Text 9"/>
          <p:cNvSpPr txBox="1"/>
          <p:nvPr/>
        </p:nvSpPr>
        <p:spPr>
          <a:xfrm>
            <a:off x="987552" y="4956048"/>
            <a:ext cx="1188720" cy="713232"/>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Commits</a:t>
            </a:r>
            <a:endParaRPr lang="en-US" sz="1400" dirty="0"/>
          </a:p>
        </p:txBody>
      </p:sp>
      <p:sp>
        <p:nvSpPr>
          <p:cNvPr id="19" name="Shape 10"/>
          <p:cNvSpPr/>
          <p:nvPr/>
        </p:nvSpPr>
        <p:spPr>
          <a:xfrm>
            <a:off x="457200" y="5870448"/>
            <a:ext cx="1737360" cy="713232"/>
          </a:xfrm>
          <a:prstGeom prst="roundRect">
            <a:avLst>
              <a:gd name="adj" fmla="val 7692"/>
            </a:avLst>
          </a:prstGeom>
          <a:solidFill>
            <a:srgbClr val="FFFFFF"/>
          </a:solidFill>
          <a:ln w="15875">
            <a:solidFill>
              <a:srgbClr val="C9CDD8"/>
            </a:solidFill>
            <a:prstDash val="solid"/>
          </a:ln>
        </p:spPr>
      </p:sp>
      <p:pic>
        <p:nvPicPr>
          <p:cNvPr id="20" name="Image 7" descr="preencoded.png">    </p:cNvPr>
          <p:cNvPicPr>
            <a:picLocks noChangeAspect="1"/>
          </p:cNvPicPr>
          <p:nvPr/>
        </p:nvPicPr>
        <p:blipFill>
          <a:blip r:embed="rId8"/>
          <a:stretch>
            <a:fillRect/>
          </a:stretch>
        </p:blipFill>
        <p:spPr>
          <a:xfrm>
            <a:off x="566928" y="6053328"/>
            <a:ext cx="347472" cy="347472"/>
          </a:xfrm>
          <a:prstGeom prst="rect">
            <a:avLst/>
          </a:prstGeom>
        </p:spPr>
      </p:pic>
      <p:sp>
        <p:nvSpPr>
          <p:cNvPr id="21" name="Text 11"/>
          <p:cNvSpPr txBox="1"/>
          <p:nvPr/>
        </p:nvSpPr>
        <p:spPr>
          <a:xfrm>
            <a:off x="987552" y="5870448"/>
            <a:ext cx="1188720" cy="713232"/>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Learning</a:t>
            </a:r>
            <a:endParaRPr lang="en-US" sz="1400" dirty="0"/>
          </a:p>
        </p:txBody>
      </p:sp>
      <p:sp>
        <p:nvSpPr>
          <p:cNvPr id="22" name="Shape 12"/>
          <p:cNvSpPr/>
          <p:nvPr/>
        </p:nvSpPr>
        <p:spPr>
          <a:xfrm>
            <a:off x="457200" y="6784848"/>
            <a:ext cx="1737360" cy="713232"/>
          </a:xfrm>
          <a:prstGeom prst="roundRect">
            <a:avLst>
              <a:gd name="adj" fmla="val 7692"/>
            </a:avLst>
          </a:prstGeom>
          <a:solidFill>
            <a:srgbClr val="FFFFFF"/>
          </a:solidFill>
          <a:ln w="15875">
            <a:solidFill>
              <a:srgbClr val="C9CDD8"/>
            </a:solidFill>
            <a:prstDash val="solid"/>
          </a:ln>
        </p:spPr>
      </p:sp>
      <p:pic>
        <p:nvPicPr>
          <p:cNvPr id="23" name="Image 8" descr="preencoded.png">    </p:cNvPr>
          <p:cNvPicPr>
            <a:picLocks noChangeAspect="1"/>
          </p:cNvPicPr>
          <p:nvPr/>
        </p:nvPicPr>
        <p:blipFill>
          <a:blip r:embed="rId9"/>
          <a:stretch>
            <a:fillRect/>
          </a:stretch>
        </p:blipFill>
        <p:spPr>
          <a:xfrm>
            <a:off x="566928" y="6967728"/>
            <a:ext cx="347472" cy="347472"/>
          </a:xfrm>
          <a:prstGeom prst="rect">
            <a:avLst/>
          </a:prstGeom>
        </p:spPr>
      </p:pic>
      <p:sp>
        <p:nvSpPr>
          <p:cNvPr id="24" name="Text 13"/>
          <p:cNvSpPr txBox="1"/>
          <p:nvPr/>
        </p:nvSpPr>
        <p:spPr>
          <a:xfrm>
            <a:off x="987552" y="6784848"/>
            <a:ext cx="1188720" cy="713232"/>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Quests</a:t>
            </a:r>
            <a:endParaRPr lang="en-US" sz="1400" dirty="0"/>
          </a:p>
        </p:txBody>
      </p:sp>
      <p:sp>
        <p:nvSpPr>
          <p:cNvPr id="25" name="Shape 14"/>
          <p:cNvSpPr/>
          <p:nvPr/>
        </p:nvSpPr>
        <p:spPr>
          <a:xfrm>
            <a:off x="2331720" y="3749040"/>
            <a:ext cx="182880" cy="914"/>
          </a:xfrm>
          <a:prstGeom prst="line">
            <a:avLst/>
          </a:prstGeom>
          <a:noFill/>
          <a:ln w="25400">
            <a:solidFill>
              <a:srgbClr val="1B2A6B"/>
            </a:solidFill>
            <a:prstDash val="solid"/>
            <a:tailEnd type="triangle"/>
          </a:ln>
        </p:spPr>
      </p:sp>
      <p:sp>
        <p:nvSpPr>
          <p:cNvPr id="26" name="Shape 15"/>
          <p:cNvSpPr/>
          <p:nvPr/>
        </p:nvSpPr>
        <p:spPr>
          <a:xfrm flipH="1">
            <a:off x="2331720" y="4023360"/>
            <a:ext cx="182880" cy="914"/>
          </a:xfrm>
          <a:prstGeom prst="line">
            <a:avLst/>
          </a:prstGeom>
          <a:noFill/>
          <a:ln w="25400">
            <a:solidFill>
              <a:srgbClr val="1B2A6B"/>
            </a:solidFill>
            <a:prstDash val="solid"/>
            <a:tailEnd type="triangle"/>
          </a:ln>
        </p:spPr>
      </p:sp>
      <p:sp>
        <p:nvSpPr>
          <p:cNvPr id="27" name="Shape 16"/>
          <p:cNvSpPr/>
          <p:nvPr/>
        </p:nvSpPr>
        <p:spPr>
          <a:xfrm>
            <a:off x="2514600" y="2377440"/>
            <a:ext cx="7543800" cy="2651760"/>
          </a:xfrm>
          <a:prstGeom prst="roundRect">
            <a:avLst>
              <a:gd name="adj" fmla="val 1379"/>
            </a:avLst>
          </a:prstGeom>
          <a:solidFill>
            <a:srgbClr val="EEF6EC"/>
          </a:solidFill>
          <a:ln w="15875">
            <a:solidFill>
              <a:srgbClr val="8BBF84"/>
            </a:solidFill>
            <a:prstDash val="solid"/>
          </a:ln>
        </p:spPr>
      </p:sp>
      <p:sp>
        <p:nvSpPr>
          <p:cNvPr id="28" name="Text 17"/>
          <p:cNvSpPr txBox="1"/>
          <p:nvPr/>
        </p:nvSpPr>
        <p:spPr>
          <a:xfrm>
            <a:off x="2514600" y="2423160"/>
            <a:ext cx="7543800" cy="365760"/>
          </a:xfrm>
          <a:prstGeom prst="rect">
            <a:avLst/>
          </a:prstGeom>
          <a:noFill/>
          <a:ln/>
        </p:spPr>
        <p:txBody>
          <a:bodyPr wrap="square" lIns="0" tIns="0" rIns="0" bIns="0" rtlCol="0" anchor="t"/>
          <a:lstStyle/>
          <a:p>
            <a:pPr algn="ctr" indent="0" marL="0">
              <a:buNone/>
            </a:pPr>
            <a:r>
              <a:rPr lang="en-US" sz="1350" b="1" dirty="0">
                <a:solidFill>
                  <a:srgbClr val="1E2230"/>
                </a:solidFill>
                <a:latin typeface="Calibri" pitchFamily="34" charset="0"/>
                <a:ea typeface="Calibri" pitchFamily="34" charset="-122"/>
                <a:cs typeface="Calibri" pitchFamily="34" charset="-120"/>
              </a:rPr>
              <a:t>BACKEND LAYER</a:t>
            </a:r>
            <a:pPr algn="ctr" indent="0" marL="0">
              <a:buNone/>
            </a:pPr>
            <a:r>
              <a:rPr lang="en-US" sz="1350" dirty="0">
                <a:solidFill>
                  <a:srgbClr val="1E2230"/>
                </a:solidFill>
                <a:latin typeface="Calibri" pitchFamily="34" charset="0"/>
                <a:ea typeface="Calibri" pitchFamily="34" charset="-122"/>
                <a:cs typeface="Calibri" pitchFamily="34" charset="-120"/>
              </a:rPr>
              <a:t> (FastAPI · Python 3.13)</a:t>
            </a:r>
            <a:endParaRPr lang="en-US" sz="1350" dirty="0"/>
          </a:p>
        </p:txBody>
      </p:sp>
      <p:sp>
        <p:nvSpPr>
          <p:cNvPr id="29" name="Shape 18"/>
          <p:cNvSpPr/>
          <p:nvPr/>
        </p:nvSpPr>
        <p:spPr>
          <a:xfrm>
            <a:off x="2670048" y="2834640"/>
            <a:ext cx="1353312" cy="1024128"/>
          </a:xfrm>
          <a:prstGeom prst="roundRect">
            <a:avLst>
              <a:gd name="adj" fmla="val 4464"/>
            </a:avLst>
          </a:prstGeom>
          <a:solidFill>
            <a:srgbClr val="FFFFFF"/>
          </a:solidFill>
          <a:ln w="15875">
            <a:solidFill>
              <a:srgbClr val="9DBF98"/>
            </a:solidFill>
            <a:prstDash val="solid"/>
          </a:ln>
        </p:spPr>
      </p:sp>
      <p:sp>
        <p:nvSpPr>
          <p:cNvPr id="30" name="Text 19"/>
          <p:cNvSpPr txBox="1"/>
          <p:nvPr/>
        </p:nvSpPr>
        <p:spPr>
          <a:xfrm>
            <a:off x="2670048" y="2862072"/>
            <a:ext cx="1353312" cy="365760"/>
          </a:xfrm>
          <a:prstGeom prst="rect">
            <a:avLst/>
          </a:prstGeom>
          <a:noFill/>
          <a:ln/>
        </p:spPr>
        <p:txBody>
          <a:bodyPr wrap="square" lIns="0" tIns="0" rIns="0" bIns="0" rtlCol="0" anchor="t"/>
          <a:lstStyle/>
          <a:p>
            <a:pPr algn="ctr" indent="0" marL="0">
              <a:buNone/>
            </a:pPr>
            <a:r>
              <a:rPr lang="en-US" sz="1300" b="1" u="sng" dirty="0">
                <a:solidFill>
                  <a:srgbClr val="1E2230"/>
                </a:solidFill>
                <a:latin typeface="Calibri" pitchFamily="34" charset="0"/>
                <a:ea typeface="Calibri" pitchFamily="34" charset="-122"/>
                <a:cs typeface="Calibri" pitchFamily="34" charset="-120"/>
              </a:rPr>
              <a:t>Auth</a:t>
            </a:r>
            <a:endParaRPr lang="en-US" sz="1300" dirty="0"/>
          </a:p>
        </p:txBody>
      </p:sp>
      <p:sp>
        <p:nvSpPr>
          <p:cNvPr id="31" name="Text 20"/>
          <p:cNvSpPr txBox="1"/>
          <p:nvPr/>
        </p:nvSpPr>
        <p:spPr>
          <a:xfrm>
            <a:off x="2670048" y="3218688"/>
            <a:ext cx="1353312" cy="603504"/>
          </a:xfrm>
          <a:prstGeom prst="rect">
            <a:avLst/>
          </a:prstGeom>
          <a:noFill/>
          <a:ln/>
        </p:spPr>
        <p:txBody>
          <a:bodyPr wrap="square" lIns="0" tIns="0" rIns="0" bIns="0" rtlCol="0" anchor="t"/>
          <a:lstStyle/>
          <a:p>
            <a:pPr algn="ctr" indent="0" marL="0">
              <a:buNone/>
            </a:pPr>
            <a:r>
              <a:rPr lang="en-US" sz="1050" dirty="0">
                <a:solidFill>
                  <a:srgbClr val="4A5163"/>
                </a:solidFill>
                <a:latin typeface="Calibri" pitchFamily="34" charset="0"/>
                <a:ea typeface="Calibri" pitchFamily="34" charset="-122"/>
                <a:cs typeface="Calibri" pitchFamily="34" charset="-120"/>
              </a:rPr>
              <a:t>GitHub OAuth</a:t>
            </a:r>
            <a:endParaRPr lang="en-US" sz="1050" dirty="0"/>
          </a:p>
          <a:p>
            <a:pPr algn="ctr" indent="0" marL="0">
              <a:buNone/>
            </a:pPr>
            <a:r>
              <a:rPr lang="en-US" sz="1050" dirty="0">
                <a:solidFill>
                  <a:srgbClr val="4A5163"/>
                </a:solidFill>
                <a:latin typeface="Calibri" pitchFamily="34" charset="0"/>
                <a:ea typeface="Calibri" pitchFamily="34" charset="-122"/>
                <a:cs typeface="Calibri" pitchFamily="34" charset="-120"/>
              </a:rPr>
              <a:t>sessions</a:t>
            </a:r>
            <a:endParaRPr lang="en-US" sz="1050" dirty="0"/>
          </a:p>
        </p:txBody>
      </p:sp>
      <p:sp>
        <p:nvSpPr>
          <p:cNvPr id="32" name="Shape 21"/>
          <p:cNvSpPr/>
          <p:nvPr/>
        </p:nvSpPr>
        <p:spPr>
          <a:xfrm>
            <a:off x="4133088" y="2834640"/>
            <a:ext cx="1353312" cy="1024128"/>
          </a:xfrm>
          <a:prstGeom prst="roundRect">
            <a:avLst>
              <a:gd name="adj" fmla="val 4464"/>
            </a:avLst>
          </a:prstGeom>
          <a:solidFill>
            <a:srgbClr val="FFFFFF"/>
          </a:solidFill>
          <a:ln w="15875">
            <a:solidFill>
              <a:srgbClr val="9DBF98"/>
            </a:solidFill>
            <a:prstDash val="solid"/>
          </a:ln>
        </p:spPr>
      </p:sp>
      <p:sp>
        <p:nvSpPr>
          <p:cNvPr id="33" name="Text 22"/>
          <p:cNvSpPr txBox="1"/>
          <p:nvPr/>
        </p:nvSpPr>
        <p:spPr>
          <a:xfrm>
            <a:off x="4133088" y="2862072"/>
            <a:ext cx="1353312" cy="365760"/>
          </a:xfrm>
          <a:prstGeom prst="rect">
            <a:avLst/>
          </a:prstGeom>
          <a:noFill/>
          <a:ln/>
        </p:spPr>
        <p:txBody>
          <a:bodyPr wrap="square" lIns="0" tIns="0" rIns="0" bIns="0" rtlCol="0" anchor="t"/>
          <a:lstStyle/>
          <a:p>
            <a:pPr algn="ctr" indent="0" marL="0">
              <a:buNone/>
            </a:pPr>
            <a:r>
              <a:rPr lang="en-US" sz="1300" b="1" u="sng" dirty="0">
                <a:solidFill>
                  <a:srgbClr val="1E2230"/>
                </a:solidFill>
                <a:latin typeface="Calibri" pitchFamily="34" charset="0"/>
                <a:ea typeface="Calibri" pitchFamily="34" charset="-122"/>
                <a:cs typeface="Calibri" pitchFamily="34" charset="-120"/>
              </a:rPr>
              <a:t>Fleet API</a:t>
            </a:r>
            <a:endParaRPr lang="en-US" sz="1300" dirty="0"/>
          </a:p>
        </p:txBody>
      </p:sp>
      <p:sp>
        <p:nvSpPr>
          <p:cNvPr id="34" name="Text 23"/>
          <p:cNvSpPr txBox="1"/>
          <p:nvPr/>
        </p:nvSpPr>
        <p:spPr>
          <a:xfrm>
            <a:off x="4133088" y="3218688"/>
            <a:ext cx="1353312" cy="603504"/>
          </a:xfrm>
          <a:prstGeom prst="rect">
            <a:avLst/>
          </a:prstGeom>
          <a:noFill/>
          <a:ln/>
        </p:spPr>
        <p:txBody>
          <a:bodyPr wrap="square" lIns="0" tIns="0" rIns="0" bIns="0" rtlCol="0" anchor="t"/>
          <a:lstStyle/>
          <a:p>
            <a:pPr algn="ctr" indent="0" marL="0">
              <a:buNone/>
            </a:pPr>
            <a:r>
              <a:rPr lang="en-US" sz="1050" dirty="0">
                <a:solidFill>
                  <a:srgbClr val="4A5163"/>
                </a:solidFill>
                <a:latin typeface="Calibri" pitchFamily="34" charset="0"/>
                <a:ea typeface="Calibri" pitchFamily="34" charset="-122"/>
                <a:cs typeface="Calibri" pitchFamily="34" charset="-120"/>
              </a:rPr>
              <a:t>repos · Fix all</a:t>
            </a:r>
            <a:endParaRPr lang="en-US" sz="1050" dirty="0"/>
          </a:p>
          <a:p>
            <a:pPr algn="ctr" indent="0" marL="0">
              <a:buNone/>
            </a:pPr>
            <a:r>
              <a:rPr lang="en-US" sz="1050" dirty="0">
                <a:solidFill>
                  <a:srgbClr val="4A5163"/>
                </a:solidFill>
                <a:latin typeface="Calibri" pitchFamily="34" charset="0"/>
                <a:ea typeface="Calibri" pitchFamily="34" charset="-122"/>
                <a:cs typeface="Calibri" pitchFamily="34" charset="-120"/>
              </a:rPr>
              <a:t>events · PRs</a:t>
            </a:r>
            <a:endParaRPr lang="en-US" sz="1050" dirty="0"/>
          </a:p>
        </p:txBody>
      </p:sp>
      <p:sp>
        <p:nvSpPr>
          <p:cNvPr id="35" name="Shape 24"/>
          <p:cNvSpPr/>
          <p:nvPr/>
        </p:nvSpPr>
        <p:spPr>
          <a:xfrm>
            <a:off x="5596128" y="2834640"/>
            <a:ext cx="1353312" cy="1024128"/>
          </a:xfrm>
          <a:prstGeom prst="roundRect">
            <a:avLst>
              <a:gd name="adj" fmla="val 4464"/>
            </a:avLst>
          </a:prstGeom>
          <a:solidFill>
            <a:srgbClr val="FFFFFF"/>
          </a:solidFill>
          <a:ln w="15875">
            <a:solidFill>
              <a:srgbClr val="9DBF98"/>
            </a:solidFill>
            <a:prstDash val="solid"/>
          </a:ln>
        </p:spPr>
      </p:sp>
      <p:sp>
        <p:nvSpPr>
          <p:cNvPr id="36" name="Text 25"/>
          <p:cNvSpPr txBox="1"/>
          <p:nvPr/>
        </p:nvSpPr>
        <p:spPr>
          <a:xfrm>
            <a:off x="5596128" y="2862072"/>
            <a:ext cx="1353312" cy="365760"/>
          </a:xfrm>
          <a:prstGeom prst="rect">
            <a:avLst/>
          </a:prstGeom>
          <a:noFill/>
          <a:ln/>
        </p:spPr>
        <p:txBody>
          <a:bodyPr wrap="square" lIns="0" tIns="0" rIns="0" bIns="0" rtlCol="0" anchor="t"/>
          <a:lstStyle/>
          <a:p>
            <a:pPr algn="ctr" indent="0" marL="0">
              <a:buNone/>
            </a:pPr>
            <a:r>
              <a:rPr lang="en-US" sz="1300" b="1" u="sng" dirty="0">
                <a:solidFill>
                  <a:srgbClr val="1E2230"/>
                </a:solidFill>
                <a:latin typeface="Calibri" pitchFamily="34" charset="0"/>
                <a:ea typeface="Calibri" pitchFamily="34" charset="-122"/>
                <a:cs typeface="Calibri" pitchFamily="34" charset="-120"/>
              </a:rPr>
              <a:t>Agent API</a:t>
            </a:r>
            <a:endParaRPr lang="en-US" sz="1300" dirty="0"/>
          </a:p>
        </p:txBody>
      </p:sp>
      <p:sp>
        <p:nvSpPr>
          <p:cNvPr id="37" name="Text 26"/>
          <p:cNvSpPr txBox="1"/>
          <p:nvPr/>
        </p:nvSpPr>
        <p:spPr>
          <a:xfrm>
            <a:off x="5596128" y="3218688"/>
            <a:ext cx="1353312" cy="603504"/>
          </a:xfrm>
          <a:prstGeom prst="rect">
            <a:avLst/>
          </a:prstGeom>
          <a:noFill/>
          <a:ln/>
        </p:spPr>
        <p:txBody>
          <a:bodyPr wrap="square" lIns="0" tIns="0" rIns="0" bIns="0" rtlCol="0" anchor="t"/>
          <a:lstStyle/>
          <a:p>
            <a:pPr algn="ctr" indent="0" marL="0">
              <a:buNone/>
            </a:pPr>
            <a:r>
              <a:rPr lang="en-US" sz="1050" dirty="0">
                <a:solidFill>
                  <a:srgbClr val="4A5163"/>
                </a:solidFill>
                <a:latin typeface="Calibri" pitchFamily="34" charset="0"/>
                <a:ea typeface="Calibri" pitchFamily="34" charset="-122"/>
                <a:cs typeface="Calibri" pitchFamily="34" charset="-120"/>
              </a:rPr>
              <a:t>runs · evidence</a:t>
            </a:r>
            <a:endParaRPr lang="en-US" sz="1050" dirty="0"/>
          </a:p>
          <a:p>
            <a:pPr algn="ctr" indent="0" marL="0">
              <a:buNone/>
            </a:pPr>
            <a:r>
              <a:rPr lang="en-US" sz="1050" dirty="0">
                <a:solidFill>
                  <a:srgbClr val="4A5163"/>
                </a:solidFill>
                <a:latin typeface="Calibri" pitchFamily="34" charset="0"/>
                <a:ea typeface="Calibri" pitchFamily="34" charset="-122"/>
                <a:cs typeface="Calibri" pitchFamily="34" charset="-120"/>
              </a:rPr>
              <a:t>pull requests</a:t>
            </a:r>
            <a:endParaRPr lang="en-US" sz="1050" dirty="0"/>
          </a:p>
        </p:txBody>
      </p:sp>
      <p:sp>
        <p:nvSpPr>
          <p:cNvPr id="38" name="Shape 27"/>
          <p:cNvSpPr/>
          <p:nvPr/>
        </p:nvSpPr>
        <p:spPr>
          <a:xfrm>
            <a:off x="7059168" y="2834640"/>
            <a:ext cx="1353312" cy="1024128"/>
          </a:xfrm>
          <a:prstGeom prst="roundRect">
            <a:avLst>
              <a:gd name="adj" fmla="val 4464"/>
            </a:avLst>
          </a:prstGeom>
          <a:solidFill>
            <a:srgbClr val="FFFFFF"/>
          </a:solidFill>
          <a:ln w="15875">
            <a:solidFill>
              <a:srgbClr val="9DBF98"/>
            </a:solidFill>
            <a:prstDash val="solid"/>
          </a:ln>
        </p:spPr>
      </p:sp>
      <p:sp>
        <p:nvSpPr>
          <p:cNvPr id="39" name="Text 28"/>
          <p:cNvSpPr txBox="1"/>
          <p:nvPr/>
        </p:nvSpPr>
        <p:spPr>
          <a:xfrm>
            <a:off x="7059168" y="2862072"/>
            <a:ext cx="1353312" cy="365760"/>
          </a:xfrm>
          <a:prstGeom prst="rect">
            <a:avLst/>
          </a:prstGeom>
          <a:noFill/>
          <a:ln/>
        </p:spPr>
        <p:txBody>
          <a:bodyPr wrap="square" lIns="0" tIns="0" rIns="0" bIns="0" rtlCol="0" anchor="t"/>
          <a:lstStyle/>
          <a:p>
            <a:pPr algn="ctr" indent="0" marL="0">
              <a:buNone/>
            </a:pPr>
            <a:r>
              <a:rPr lang="en-US" sz="1300" b="1" u="sng" dirty="0">
                <a:solidFill>
                  <a:srgbClr val="1E2230"/>
                </a:solidFill>
                <a:latin typeface="Calibri" pitchFamily="34" charset="0"/>
                <a:ea typeface="Calibri" pitchFamily="34" charset="-122"/>
                <a:cs typeface="Calibri" pitchFamily="34" charset="-120"/>
              </a:rPr>
              <a:t>Chat API</a:t>
            </a:r>
            <a:endParaRPr lang="en-US" sz="1300" dirty="0"/>
          </a:p>
        </p:txBody>
      </p:sp>
      <p:sp>
        <p:nvSpPr>
          <p:cNvPr id="40" name="Text 29"/>
          <p:cNvSpPr txBox="1"/>
          <p:nvPr/>
        </p:nvSpPr>
        <p:spPr>
          <a:xfrm>
            <a:off x="7059168" y="3218688"/>
            <a:ext cx="1353312" cy="603504"/>
          </a:xfrm>
          <a:prstGeom prst="rect">
            <a:avLst/>
          </a:prstGeom>
          <a:noFill/>
          <a:ln/>
        </p:spPr>
        <p:txBody>
          <a:bodyPr wrap="square" lIns="0" tIns="0" rIns="0" bIns="0" rtlCol="0" anchor="t"/>
          <a:lstStyle/>
          <a:p>
            <a:pPr algn="ctr" indent="0" marL="0">
              <a:buNone/>
            </a:pPr>
            <a:r>
              <a:rPr lang="en-US" sz="1050" dirty="0">
                <a:solidFill>
                  <a:srgbClr val="4A5163"/>
                </a:solidFill>
                <a:latin typeface="Calibri" pitchFamily="34" charset="0"/>
                <a:ea typeface="Calibri" pitchFamily="34" charset="-122"/>
                <a:cs typeface="Calibri" pitchFamily="34" charset="-120"/>
              </a:rPr>
              <a:t>commit checks</a:t>
            </a:r>
            <a:endParaRPr lang="en-US" sz="1050" dirty="0"/>
          </a:p>
          <a:p>
            <a:pPr algn="ctr" indent="0" marL="0">
              <a:buNone/>
            </a:pPr>
            <a:r>
              <a:rPr lang="en-US" sz="1050" dirty="0">
                <a:solidFill>
                  <a:srgbClr val="4A5163"/>
                </a:solidFill>
                <a:latin typeface="Calibri" pitchFamily="34" charset="0"/>
                <a:ea typeface="Calibri" pitchFamily="34" charset="-122"/>
                <a:cs typeface="Calibri" pitchFamily="34" charset="-120"/>
              </a:rPr>
              <a:t>Q&amp;A</a:t>
            </a:r>
            <a:endParaRPr lang="en-US" sz="1050" dirty="0"/>
          </a:p>
        </p:txBody>
      </p:sp>
      <p:sp>
        <p:nvSpPr>
          <p:cNvPr id="41" name="Shape 30"/>
          <p:cNvSpPr/>
          <p:nvPr/>
        </p:nvSpPr>
        <p:spPr>
          <a:xfrm>
            <a:off x="8522208" y="2834640"/>
            <a:ext cx="1353312" cy="1024128"/>
          </a:xfrm>
          <a:prstGeom prst="roundRect">
            <a:avLst>
              <a:gd name="adj" fmla="val 4464"/>
            </a:avLst>
          </a:prstGeom>
          <a:solidFill>
            <a:srgbClr val="FFFFFF"/>
          </a:solidFill>
          <a:ln w="15875">
            <a:solidFill>
              <a:srgbClr val="9DBF98"/>
            </a:solidFill>
            <a:prstDash val="solid"/>
          </a:ln>
        </p:spPr>
      </p:sp>
      <p:sp>
        <p:nvSpPr>
          <p:cNvPr id="42" name="Text 31"/>
          <p:cNvSpPr txBox="1"/>
          <p:nvPr/>
        </p:nvSpPr>
        <p:spPr>
          <a:xfrm>
            <a:off x="8522208" y="2862072"/>
            <a:ext cx="1353312" cy="365760"/>
          </a:xfrm>
          <a:prstGeom prst="rect">
            <a:avLst/>
          </a:prstGeom>
          <a:noFill/>
          <a:ln/>
        </p:spPr>
        <p:txBody>
          <a:bodyPr wrap="square" lIns="0" tIns="0" rIns="0" bIns="0" rtlCol="0" anchor="t"/>
          <a:lstStyle/>
          <a:p>
            <a:pPr algn="ctr" indent="0" marL="0">
              <a:buNone/>
            </a:pPr>
            <a:r>
              <a:rPr lang="en-US" sz="1300" b="1" u="sng" dirty="0">
                <a:solidFill>
                  <a:srgbClr val="1E2230"/>
                </a:solidFill>
                <a:latin typeface="Calibri" pitchFamily="34" charset="0"/>
                <a:ea typeface="Calibri" pitchFamily="34" charset="-122"/>
                <a:cs typeface="Calibri" pitchFamily="34" charset="-120"/>
              </a:rPr>
              <a:t>Game API</a:t>
            </a:r>
            <a:endParaRPr lang="en-US" sz="1300" dirty="0"/>
          </a:p>
        </p:txBody>
      </p:sp>
      <p:sp>
        <p:nvSpPr>
          <p:cNvPr id="43" name="Text 32"/>
          <p:cNvSpPr txBox="1"/>
          <p:nvPr/>
        </p:nvSpPr>
        <p:spPr>
          <a:xfrm>
            <a:off x="8522208" y="3218688"/>
            <a:ext cx="1353312" cy="603504"/>
          </a:xfrm>
          <a:prstGeom prst="rect">
            <a:avLst/>
          </a:prstGeom>
          <a:noFill/>
          <a:ln/>
        </p:spPr>
        <p:txBody>
          <a:bodyPr wrap="square" lIns="0" tIns="0" rIns="0" bIns="0" rtlCol="0" anchor="t"/>
          <a:lstStyle/>
          <a:p>
            <a:pPr algn="ctr" indent="0" marL="0">
              <a:buNone/>
            </a:pPr>
            <a:r>
              <a:rPr lang="en-US" sz="1050" dirty="0">
                <a:solidFill>
                  <a:srgbClr val="4A5163"/>
                </a:solidFill>
                <a:latin typeface="Calibri" pitchFamily="34" charset="0"/>
                <a:ea typeface="Calibri" pitchFamily="34" charset="-122"/>
                <a:cs typeface="Calibri" pitchFamily="34" charset="-120"/>
              </a:rPr>
              <a:t>XP · quests</a:t>
            </a:r>
            <a:endParaRPr lang="en-US" sz="1050" dirty="0"/>
          </a:p>
          <a:p>
            <a:pPr algn="ctr" indent="0" marL="0">
              <a:buNone/>
            </a:pPr>
            <a:r>
              <a:rPr lang="en-US" sz="1050" dirty="0">
                <a:solidFill>
                  <a:srgbClr val="4A5163"/>
                </a:solidFill>
                <a:latin typeface="Calibri" pitchFamily="34" charset="0"/>
                <a:ea typeface="Calibri" pitchFamily="34" charset="-122"/>
                <a:cs typeface="Calibri" pitchFamily="34" charset="-120"/>
              </a:rPr>
              <a:t>quiz</a:t>
            </a:r>
            <a:endParaRPr lang="en-US" sz="1050" dirty="0"/>
          </a:p>
        </p:txBody>
      </p:sp>
      <p:sp>
        <p:nvSpPr>
          <p:cNvPr id="44" name="Shape 33"/>
          <p:cNvSpPr/>
          <p:nvPr/>
        </p:nvSpPr>
        <p:spPr>
          <a:xfrm>
            <a:off x="2670048" y="4023360"/>
            <a:ext cx="2331720" cy="822960"/>
          </a:xfrm>
          <a:prstGeom prst="roundRect">
            <a:avLst>
              <a:gd name="adj" fmla="val 5556"/>
            </a:avLst>
          </a:prstGeom>
          <a:solidFill>
            <a:srgbClr val="FFFFFF"/>
          </a:solidFill>
          <a:ln w="15875">
            <a:solidFill>
              <a:srgbClr val="9DBF98"/>
            </a:solidFill>
            <a:prstDash val="solid"/>
          </a:ln>
        </p:spPr>
      </p:sp>
      <p:pic>
        <p:nvPicPr>
          <p:cNvPr id="45" name="Image 9" descr="preencoded.png">    </p:cNvPr>
          <p:cNvPicPr>
            <a:picLocks noChangeAspect="1"/>
          </p:cNvPicPr>
          <p:nvPr/>
        </p:nvPicPr>
        <p:blipFill>
          <a:blip r:embed="rId10"/>
          <a:stretch>
            <a:fillRect/>
          </a:stretch>
        </p:blipFill>
        <p:spPr>
          <a:xfrm>
            <a:off x="2779776" y="4224528"/>
            <a:ext cx="384048" cy="384048"/>
          </a:xfrm>
          <a:prstGeom prst="rect">
            <a:avLst/>
          </a:prstGeom>
        </p:spPr>
      </p:pic>
      <p:sp>
        <p:nvSpPr>
          <p:cNvPr id="46" name="Text 34"/>
          <p:cNvSpPr txBox="1"/>
          <p:nvPr/>
        </p:nvSpPr>
        <p:spPr>
          <a:xfrm>
            <a:off x="3236976" y="4023360"/>
            <a:ext cx="1728216" cy="822960"/>
          </a:xfrm>
          <a:prstGeom prst="rect">
            <a:avLst/>
          </a:prstGeom>
          <a:noFill/>
          <a:ln/>
        </p:spPr>
        <p:txBody>
          <a:bodyPr wrap="square" lIns="0" tIns="0" rIns="0" bIns="0" rtlCol="0" anchor="ctr"/>
          <a:lstStyle/>
          <a:p>
            <a:pPr indent="0" marL="0">
              <a:buNone/>
            </a:pPr>
            <a:r>
              <a:rPr lang="en-US" sz="1200" b="1" dirty="0">
                <a:solidFill>
                  <a:srgbClr val="1E2230"/>
                </a:solidFill>
                <a:latin typeface="Calibri" pitchFamily="34" charset="0"/>
                <a:ea typeface="Calibri" pitchFamily="34" charset="-122"/>
                <a:cs typeface="Calibri" pitchFamily="34" charset="-120"/>
              </a:rPr>
              <a:t>Push watcher (60 s) + webhook</a:t>
            </a:r>
            <a:endParaRPr lang="en-US" sz="1200" dirty="0"/>
          </a:p>
        </p:txBody>
      </p:sp>
      <p:sp>
        <p:nvSpPr>
          <p:cNvPr id="47" name="Shape 35"/>
          <p:cNvSpPr/>
          <p:nvPr/>
        </p:nvSpPr>
        <p:spPr>
          <a:xfrm>
            <a:off x="5120640" y="4023360"/>
            <a:ext cx="2331720" cy="822960"/>
          </a:xfrm>
          <a:prstGeom prst="roundRect">
            <a:avLst>
              <a:gd name="adj" fmla="val 5556"/>
            </a:avLst>
          </a:prstGeom>
          <a:solidFill>
            <a:srgbClr val="FFFFFF"/>
          </a:solidFill>
          <a:ln w="15875">
            <a:solidFill>
              <a:srgbClr val="9DBF98"/>
            </a:solidFill>
            <a:prstDash val="solid"/>
          </a:ln>
        </p:spPr>
      </p:sp>
      <p:pic>
        <p:nvPicPr>
          <p:cNvPr id="48" name="Image 10" descr="preencoded.png">    </p:cNvPr>
          <p:cNvPicPr>
            <a:picLocks noChangeAspect="1"/>
          </p:cNvPicPr>
          <p:nvPr/>
        </p:nvPicPr>
        <p:blipFill>
          <a:blip r:embed="rId11"/>
          <a:stretch>
            <a:fillRect/>
          </a:stretch>
        </p:blipFill>
        <p:spPr>
          <a:xfrm>
            <a:off x="5230368" y="4224528"/>
            <a:ext cx="384048" cy="384048"/>
          </a:xfrm>
          <a:prstGeom prst="rect">
            <a:avLst/>
          </a:prstGeom>
        </p:spPr>
      </p:pic>
      <p:sp>
        <p:nvSpPr>
          <p:cNvPr id="49" name="Text 36"/>
          <p:cNvSpPr txBox="1"/>
          <p:nvPr/>
        </p:nvSpPr>
        <p:spPr>
          <a:xfrm>
            <a:off x="5687568" y="4023360"/>
            <a:ext cx="1728216" cy="822960"/>
          </a:xfrm>
          <a:prstGeom prst="rect">
            <a:avLst/>
          </a:prstGeom>
          <a:noFill/>
          <a:ln/>
        </p:spPr>
        <p:txBody>
          <a:bodyPr wrap="square" lIns="0" tIns="0" rIns="0" bIns="0" rtlCol="0" anchor="ctr"/>
          <a:lstStyle/>
          <a:p>
            <a:pPr indent="0" marL="0">
              <a:buNone/>
            </a:pPr>
            <a:r>
              <a:rPr lang="en-US" sz="1200" b="1" dirty="0">
                <a:solidFill>
                  <a:srgbClr val="1E2230"/>
                </a:solidFill>
                <a:latin typeface="Calibri" pitchFamily="34" charset="0"/>
                <a:ea typeface="Calibri" pitchFamily="34" charset="-122"/>
                <a:cs typeface="Calibri" pitchFamily="34" charset="-120"/>
              </a:rPr>
              <a:t>Scan: rules · Bandit · CodeQL</a:t>
            </a:r>
            <a:endParaRPr lang="en-US" sz="1200" dirty="0"/>
          </a:p>
        </p:txBody>
      </p:sp>
      <p:sp>
        <p:nvSpPr>
          <p:cNvPr id="50" name="Shape 37"/>
          <p:cNvSpPr/>
          <p:nvPr/>
        </p:nvSpPr>
        <p:spPr>
          <a:xfrm>
            <a:off x="7571232" y="4023360"/>
            <a:ext cx="2331720" cy="822960"/>
          </a:xfrm>
          <a:prstGeom prst="roundRect">
            <a:avLst>
              <a:gd name="adj" fmla="val 5556"/>
            </a:avLst>
          </a:prstGeom>
          <a:solidFill>
            <a:srgbClr val="FFFFFF"/>
          </a:solidFill>
          <a:ln w="15875">
            <a:solidFill>
              <a:srgbClr val="9DBF98"/>
            </a:solidFill>
            <a:prstDash val="solid"/>
          </a:ln>
        </p:spPr>
      </p:sp>
      <p:pic>
        <p:nvPicPr>
          <p:cNvPr id="51" name="Image 11" descr="preencoded.png">    </p:cNvPr>
          <p:cNvPicPr>
            <a:picLocks noChangeAspect="1"/>
          </p:cNvPicPr>
          <p:nvPr/>
        </p:nvPicPr>
        <p:blipFill>
          <a:blip r:embed="rId12"/>
          <a:stretch>
            <a:fillRect/>
          </a:stretch>
        </p:blipFill>
        <p:spPr>
          <a:xfrm>
            <a:off x="7680960" y="4224528"/>
            <a:ext cx="384048" cy="384048"/>
          </a:xfrm>
          <a:prstGeom prst="rect">
            <a:avLst/>
          </a:prstGeom>
        </p:spPr>
      </p:pic>
      <p:sp>
        <p:nvSpPr>
          <p:cNvPr id="52" name="Text 38"/>
          <p:cNvSpPr txBox="1"/>
          <p:nvPr/>
        </p:nvSpPr>
        <p:spPr>
          <a:xfrm>
            <a:off x="8138160" y="4023360"/>
            <a:ext cx="1728216" cy="822960"/>
          </a:xfrm>
          <a:prstGeom prst="rect">
            <a:avLst/>
          </a:prstGeom>
          <a:noFill/>
          <a:ln/>
        </p:spPr>
        <p:txBody>
          <a:bodyPr wrap="square" lIns="0" tIns="0" rIns="0" bIns="0" rtlCol="0" anchor="ctr"/>
          <a:lstStyle/>
          <a:p>
            <a:pPr indent="0" marL="0">
              <a:buNone/>
            </a:pPr>
            <a:r>
              <a:rPr lang="en-US" sz="1200" b="1" dirty="0">
                <a:solidFill>
                  <a:srgbClr val="1E2230"/>
                </a:solidFill>
                <a:latin typeface="Calibri" pitchFamily="34" charset="0"/>
                <a:ea typeface="Calibri" pitchFamily="34" charset="-122"/>
                <a:cs typeface="Calibri" pitchFamily="34" charset="-120"/>
              </a:rPr>
              <a:t>PDF reports</a:t>
            </a:r>
            <a:endParaRPr lang="en-US" sz="1200" dirty="0"/>
          </a:p>
        </p:txBody>
      </p:sp>
      <p:sp>
        <p:nvSpPr>
          <p:cNvPr id="53" name="Shape 39"/>
          <p:cNvSpPr/>
          <p:nvPr/>
        </p:nvSpPr>
        <p:spPr>
          <a:xfrm>
            <a:off x="6309360" y="5029200"/>
            <a:ext cx="914" cy="201168"/>
          </a:xfrm>
          <a:prstGeom prst="line">
            <a:avLst/>
          </a:prstGeom>
          <a:noFill/>
          <a:ln w="25400">
            <a:solidFill>
              <a:srgbClr val="1B2A6B"/>
            </a:solidFill>
            <a:prstDash val="solid"/>
            <a:tailEnd type="triangle"/>
          </a:ln>
        </p:spPr>
      </p:sp>
      <p:sp>
        <p:nvSpPr>
          <p:cNvPr id="54" name="Shape 40"/>
          <p:cNvSpPr/>
          <p:nvPr/>
        </p:nvSpPr>
        <p:spPr>
          <a:xfrm>
            <a:off x="2514600" y="5230368"/>
            <a:ext cx="7543800" cy="1645920"/>
          </a:xfrm>
          <a:prstGeom prst="roundRect">
            <a:avLst>
              <a:gd name="adj" fmla="val 2222"/>
            </a:avLst>
          </a:prstGeom>
          <a:solidFill>
            <a:srgbClr val="F1EEFA"/>
          </a:solidFill>
          <a:ln w="15875">
            <a:solidFill>
              <a:srgbClr val="A897D6"/>
            </a:solidFill>
            <a:prstDash val="solid"/>
          </a:ln>
        </p:spPr>
      </p:sp>
      <p:sp>
        <p:nvSpPr>
          <p:cNvPr id="55" name="Text 41"/>
          <p:cNvSpPr txBox="1"/>
          <p:nvPr/>
        </p:nvSpPr>
        <p:spPr>
          <a:xfrm>
            <a:off x="2514600" y="5266944"/>
            <a:ext cx="7543800" cy="347472"/>
          </a:xfrm>
          <a:prstGeom prst="rect">
            <a:avLst/>
          </a:prstGeom>
          <a:noFill/>
          <a:ln/>
        </p:spPr>
        <p:txBody>
          <a:bodyPr wrap="square" lIns="0" tIns="0" rIns="0" bIns="0" rtlCol="0" anchor="t"/>
          <a:lstStyle/>
          <a:p>
            <a:pPr algn="ctr" indent="0" marL="0">
              <a:buNone/>
            </a:pPr>
            <a:r>
              <a:rPr lang="en-US" sz="1350" b="1" dirty="0">
                <a:solidFill>
                  <a:srgbClr val="1E2230"/>
                </a:solidFill>
                <a:latin typeface="Calibri" pitchFamily="34" charset="0"/>
                <a:ea typeface="Calibri" pitchFamily="34" charset="-122"/>
                <a:cs typeface="Calibri" pitchFamily="34" charset="-120"/>
              </a:rPr>
              <a:t>SECURITY REPAIR AGENT</a:t>
            </a:r>
            <a:pPr algn="ctr" indent="0" marL="0">
              <a:buNone/>
            </a:pPr>
            <a:r>
              <a:rPr lang="en-US" sz="1350" dirty="0">
                <a:solidFill>
                  <a:srgbClr val="1E2230"/>
                </a:solidFill>
                <a:latin typeface="Calibri" pitchFamily="34" charset="0"/>
                <a:ea typeface="Calibri" pitchFamily="34" charset="-122"/>
                <a:cs typeface="Calibri" pitchFamily="34" charset="-120"/>
              </a:rPr>
              <a:t> (app/agent)</a:t>
            </a:r>
            <a:endParaRPr lang="en-US" sz="1350" dirty="0"/>
          </a:p>
        </p:txBody>
      </p:sp>
      <p:sp>
        <p:nvSpPr>
          <p:cNvPr id="56" name="Shape 42"/>
          <p:cNvSpPr/>
          <p:nvPr/>
        </p:nvSpPr>
        <p:spPr>
          <a:xfrm>
            <a:off x="2651760" y="5669280"/>
            <a:ext cx="822960" cy="566928"/>
          </a:xfrm>
          <a:prstGeom prst="roundRect">
            <a:avLst>
              <a:gd name="adj" fmla="val 9677"/>
            </a:avLst>
          </a:prstGeom>
          <a:solidFill>
            <a:srgbClr val="6D4C9F"/>
          </a:solidFill>
          <a:ln/>
        </p:spPr>
      </p:sp>
      <p:sp>
        <p:nvSpPr>
          <p:cNvPr id="57" name="Text 43"/>
          <p:cNvSpPr txBox="1"/>
          <p:nvPr/>
        </p:nvSpPr>
        <p:spPr>
          <a:xfrm>
            <a:off x="2651760"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Workspace</a:t>
            </a:r>
            <a:endParaRPr lang="en-US" sz="1050" dirty="0"/>
          </a:p>
        </p:txBody>
      </p:sp>
      <p:sp>
        <p:nvSpPr>
          <p:cNvPr id="58" name="Shape 44"/>
          <p:cNvSpPr/>
          <p:nvPr/>
        </p:nvSpPr>
        <p:spPr>
          <a:xfrm>
            <a:off x="3474720" y="5952744"/>
            <a:ext cx="105156" cy="914"/>
          </a:xfrm>
          <a:prstGeom prst="line">
            <a:avLst/>
          </a:prstGeom>
          <a:noFill/>
          <a:ln w="15875">
            <a:solidFill>
              <a:srgbClr val="6D4C9F"/>
            </a:solidFill>
            <a:prstDash val="solid"/>
            <a:tailEnd type="triangle"/>
          </a:ln>
        </p:spPr>
      </p:sp>
      <p:sp>
        <p:nvSpPr>
          <p:cNvPr id="59" name="Shape 45"/>
          <p:cNvSpPr/>
          <p:nvPr/>
        </p:nvSpPr>
        <p:spPr>
          <a:xfrm>
            <a:off x="3579876" y="5669280"/>
            <a:ext cx="822960" cy="566928"/>
          </a:xfrm>
          <a:prstGeom prst="roundRect">
            <a:avLst>
              <a:gd name="adj" fmla="val 9677"/>
            </a:avLst>
          </a:prstGeom>
          <a:solidFill>
            <a:srgbClr val="6D4C9F"/>
          </a:solidFill>
          <a:ln/>
        </p:spPr>
      </p:sp>
      <p:sp>
        <p:nvSpPr>
          <p:cNvPr id="60" name="Text 46"/>
          <p:cNvSpPr txBox="1"/>
          <p:nvPr/>
        </p:nvSpPr>
        <p:spPr>
          <a:xfrm>
            <a:off x="3579876"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Discover</a:t>
            </a:r>
            <a:endParaRPr lang="en-US" sz="1050" dirty="0"/>
          </a:p>
        </p:txBody>
      </p:sp>
      <p:sp>
        <p:nvSpPr>
          <p:cNvPr id="61" name="Shape 47"/>
          <p:cNvSpPr/>
          <p:nvPr/>
        </p:nvSpPr>
        <p:spPr>
          <a:xfrm>
            <a:off x="4402836" y="5952744"/>
            <a:ext cx="105156" cy="914"/>
          </a:xfrm>
          <a:prstGeom prst="line">
            <a:avLst/>
          </a:prstGeom>
          <a:noFill/>
          <a:ln w="15875">
            <a:solidFill>
              <a:srgbClr val="6D4C9F"/>
            </a:solidFill>
            <a:prstDash val="solid"/>
            <a:tailEnd type="triangle"/>
          </a:ln>
        </p:spPr>
      </p:sp>
      <p:sp>
        <p:nvSpPr>
          <p:cNvPr id="62" name="Shape 48"/>
          <p:cNvSpPr/>
          <p:nvPr/>
        </p:nvSpPr>
        <p:spPr>
          <a:xfrm>
            <a:off x="4507992" y="5669280"/>
            <a:ext cx="822960" cy="566928"/>
          </a:xfrm>
          <a:prstGeom prst="roundRect">
            <a:avLst>
              <a:gd name="adj" fmla="val 9677"/>
            </a:avLst>
          </a:prstGeom>
          <a:solidFill>
            <a:srgbClr val="6D4C9F"/>
          </a:solidFill>
          <a:ln/>
        </p:spPr>
      </p:sp>
      <p:sp>
        <p:nvSpPr>
          <p:cNvPr id="63" name="Text 49"/>
          <p:cNvSpPr txBox="1"/>
          <p:nvPr/>
        </p:nvSpPr>
        <p:spPr>
          <a:xfrm>
            <a:off x="4507992"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Analyze</a:t>
            </a:r>
            <a:endParaRPr lang="en-US" sz="1050" dirty="0"/>
          </a:p>
        </p:txBody>
      </p:sp>
      <p:sp>
        <p:nvSpPr>
          <p:cNvPr id="64" name="Shape 50"/>
          <p:cNvSpPr/>
          <p:nvPr/>
        </p:nvSpPr>
        <p:spPr>
          <a:xfrm>
            <a:off x="5330952" y="5952744"/>
            <a:ext cx="105156" cy="914"/>
          </a:xfrm>
          <a:prstGeom prst="line">
            <a:avLst/>
          </a:prstGeom>
          <a:noFill/>
          <a:ln w="15875">
            <a:solidFill>
              <a:srgbClr val="6D4C9F"/>
            </a:solidFill>
            <a:prstDash val="solid"/>
            <a:tailEnd type="triangle"/>
          </a:ln>
        </p:spPr>
      </p:sp>
      <p:sp>
        <p:nvSpPr>
          <p:cNvPr id="65" name="Shape 51"/>
          <p:cNvSpPr/>
          <p:nvPr/>
        </p:nvSpPr>
        <p:spPr>
          <a:xfrm>
            <a:off x="5436108" y="5669280"/>
            <a:ext cx="822960" cy="566928"/>
          </a:xfrm>
          <a:prstGeom prst="roundRect">
            <a:avLst>
              <a:gd name="adj" fmla="val 9677"/>
            </a:avLst>
          </a:prstGeom>
          <a:solidFill>
            <a:srgbClr val="6D4C9F"/>
          </a:solidFill>
          <a:ln/>
        </p:spPr>
      </p:sp>
      <p:sp>
        <p:nvSpPr>
          <p:cNvPr id="66" name="Text 52"/>
          <p:cNvSpPr txBox="1"/>
          <p:nvPr/>
        </p:nvSpPr>
        <p:spPr>
          <a:xfrm>
            <a:off x="5436108"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Exploit test</a:t>
            </a:r>
            <a:endParaRPr lang="en-US" sz="1050" dirty="0"/>
          </a:p>
        </p:txBody>
      </p:sp>
      <p:sp>
        <p:nvSpPr>
          <p:cNvPr id="67" name="Shape 53"/>
          <p:cNvSpPr/>
          <p:nvPr/>
        </p:nvSpPr>
        <p:spPr>
          <a:xfrm>
            <a:off x="6259068" y="5952744"/>
            <a:ext cx="105156" cy="914"/>
          </a:xfrm>
          <a:prstGeom prst="line">
            <a:avLst/>
          </a:prstGeom>
          <a:noFill/>
          <a:ln w="15875">
            <a:solidFill>
              <a:srgbClr val="6D4C9F"/>
            </a:solidFill>
            <a:prstDash val="solid"/>
            <a:tailEnd type="triangle"/>
          </a:ln>
        </p:spPr>
      </p:sp>
      <p:sp>
        <p:nvSpPr>
          <p:cNvPr id="68" name="Shape 54"/>
          <p:cNvSpPr/>
          <p:nvPr/>
        </p:nvSpPr>
        <p:spPr>
          <a:xfrm>
            <a:off x="6364224" y="5669280"/>
            <a:ext cx="822960" cy="566928"/>
          </a:xfrm>
          <a:prstGeom prst="roundRect">
            <a:avLst>
              <a:gd name="adj" fmla="val 9677"/>
            </a:avLst>
          </a:prstGeom>
          <a:solidFill>
            <a:srgbClr val="6D4C9F"/>
          </a:solidFill>
          <a:ln/>
        </p:spPr>
      </p:sp>
      <p:sp>
        <p:nvSpPr>
          <p:cNvPr id="69" name="Text 55"/>
          <p:cNvSpPr txBox="1"/>
          <p:nvPr/>
        </p:nvSpPr>
        <p:spPr>
          <a:xfrm>
            <a:off x="6364224"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Patcher</a:t>
            </a:r>
            <a:endParaRPr lang="en-US" sz="1050" dirty="0"/>
          </a:p>
        </p:txBody>
      </p:sp>
      <p:sp>
        <p:nvSpPr>
          <p:cNvPr id="70" name="Shape 56"/>
          <p:cNvSpPr/>
          <p:nvPr/>
        </p:nvSpPr>
        <p:spPr>
          <a:xfrm>
            <a:off x="7187184" y="5952744"/>
            <a:ext cx="105156" cy="914"/>
          </a:xfrm>
          <a:prstGeom prst="line">
            <a:avLst/>
          </a:prstGeom>
          <a:noFill/>
          <a:ln w="15875">
            <a:solidFill>
              <a:srgbClr val="6D4C9F"/>
            </a:solidFill>
            <a:prstDash val="solid"/>
            <a:tailEnd type="triangle"/>
          </a:ln>
        </p:spPr>
      </p:sp>
      <p:sp>
        <p:nvSpPr>
          <p:cNvPr id="71" name="Shape 57"/>
          <p:cNvSpPr/>
          <p:nvPr/>
        </p:nvSpPr>
        <p:spPr>
          <a:xfrm>
            <a:off x="7292340" y="5669280"/>
            <a:ext cx="822960" cy="566928"/>
          </a:xfrm>
          <a:prstGeom prst="roundRect">
            <a:avLst>
              <a:gd name="adj" fmla="val 9677"/>
            </a:avLst>
          </a:prstGeom>
          <a:solidFill>
            <a:srgbClr val="6D4C9F"/>
          </a:solidFill>
          <a:ln/>
        </p:spPr>
      </p:sp>
      <p:sp>
        <p:nvSpPr>
          <p:cNvPr id="72" name="Text 58"/>
          <p:cNvSpPr txBox="1"/>
          <p:nvPr/>
        </p:nvSpPr>
        <p:spPr>
          <a:xfrm>
            <a:off x="7292340"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 runner</a:t>
            </a:r>
            <a:endParaRPr lang="en-US" sz="1050" dirty="0"/>
          </a:p>
        </p:txBody>
      </p:sp>
      <p:sp>
        <p:nvSpPr>
          <p:cNvPr id="73" name="Shape 59"/>
          <p:cNvSpPr/>
          <p:nvPr/>
        </p:nvSpPr>
        <p:spPr>
          <a:xfrm>
            <a:off x="8115300" y="5952744"/>
            <a:ext cx="105156" cy="914"/>
          </a:xfrm>
          <a:prstGeom prst="line">
            <a:avLst/>
          </a:prstGeom>
          <a:noFill/>
          <a:ln w="15875">
            <a:solidFill>
              <a:srgbClr val="6D4C9F"/>
            </a:solidFill>
            <a:prstDash val="solid"/>
            <a:tailEnd type="triangle"/>
          </a:ln>
        </p:spPr>
      </p:sp>
      <p:sp>
        <p:nvSpPr>
          <p:cNvPr id="74" name="Shape 60"/>
          <p:cNvSpPr/>
          <p:nvPr/>
        </p:nvSpPr>
        <p:spPr>
          <a:xfrm>
            <a:off x="8220456" y="5669280"/>
            <a:ext cx="822960" cy="566928"/>
          </a:xfrm>
          <a:prstGeom prst="roundRect">
            <a:avLst>
              <a:gd name="adj" fmla="val 9677"/>
            </a:avLst>
          </a:prstGeom>
          <a:solidFill>
            <a:srgbClr val="6D4C9F"/>
          </a:solidFill>
          <a:ln/>
        </p:spPr>
      </p:sp>
      <p:sp>
        <p:nvSpPr>
          <p:cNvPr id="75" name="Text 61"/>
          <p:cNvSpPr txBox="1"/>
          <p:nvPr/>
        </p:nvSpPr>
        <p:spPr>
          <a:xfrm>
            <a:off x="8220456"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Verify</a:t>
            </a:r>
            <a:endParaRPr lang="en-US" sz="1050" dirty="0"/>
          </a:p>
        </p:txBody>
      </p:sp>
      <p:sp>
        <p:nvSpPr>
          <p:cNvPr id="76" name="Shape 62"/>
          <p:cNvSpPr/>
          <p:nvPr/>
        </p:nvSpPr>
        <p:spPr>
          <a:xfrm>
            <a:off x="9043416" y="5952744"/>
            <a:ext cx="105156" cy="914"/>
          </a:xfrm>
          <a:prstGeom prst="line">
            <a:avLst/>
          </a:prstGeom>
          <a:noFill/>
          <a:ln w="15875">
            <a:solidFill>
              <a:srgbClr val="6D4C9F"/>
            </a:solidFill>
            <a:prstDash val="solid"/>
            <a:tailEnd type="triangle"/>
          </a:ln>
        </p:spPr>
      </p:sp>
      <p:sp>
        <p:nvSpPr>
          <p:cNvPr id="77" name="Shape 63"/>
          <p:cNvSpPr/>
          <p:nvPr/>
        </p:nvSpPr>
        <p:spPr>
          <a:xfrm>
            <a:off x="9148572" y="5669280"/>
            <a:ext cx="822960" cy="566928"/>
          </a:xfrm>
          <a:prstGeom prst="roundRect">
            <a:avLst>
              <a:gd name="adj" fmla="val 9677"/>
            </a:avLst>
          </a:prstGeom>
          <a:solidFill>
            <a:srgbClr val="6D4C9F"/>
          </a:solidFill>
          <a:ln/>
        </p:spPr>
      </p:sp>
      <p:sp>
        <p:nvSpPr>
          <p:cNvPr id="78" name="Text 64"/>
          <p:cNvSpPr txBox="1"/>
          <p:nvPr/>
        </p:nvSpPr>
        <p:spPr>
          <a:xfrm>
            <a:off x="9148572" y="5669280"/>
            <a:ext cx="82296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p>
        </p:txBody>
      </p:sp>
      <p:sp>
        <p:nvSpPr>
          <p:cNvPr id="79" name="Text 65"/>
          <p:cNvSpPr txBox="1"/>
          <p:nvPr/>
        </p:nvSpPr>
        <p:spPr>
          <a:xfrm>
            <a:off x="2651760" y="6355080"/>
            <a:ext cx="7315200" cy="411480"/>
          </a:xfrm>
          <a:prstGeom prst="rect">
            <a:avLst/>
          </a:prstGeom>
          <a:noFill/>
          <a:ln/>
        </p:spPr>
        <p:txBody>
          <a:bodyPr wrap="square" lIns="0" tIns="0" rIns="0" bIns="0" rtlCol="0" anchor="ctr"/>
          <a:lstStyle/>
          <a:p>
            <a:pPr indent="0" marL="0">
              <a:buNone/>
            </a:pPr>
            <a:r>
              <a:rPr lang="en-US" sz="1150" b="1" dirty="0">
                <a:solidFill>
                  <a:srgbClr val="1E2230"/>
                </a:solidFill>
                <a:latin typeface="Calibri" pitchFamily="34" charset="0"/>
                <a:ea typeface="Calibri" pitchFamily="34" charset="-122"/>
                <a:cs typeface="Calibri" pitchFamily="34" charset="-120"/>
              </a:rPr>
              <a:t>Sandbox: </a:t>
            </a:r>
            <a:pPr indent="0" marL="0">
              <a:buNone/>
            </a:pPr>
            <a:r>
              <a:rPr lang="en-US" sz="1150" dirty="0">
                <a:solidFill>
                  <a:srgbClr val="1E2230"/>
                </a:solidFill>
                <a:latin typeface="Calibri" pitchFamily="34" charset="0"/>
                <a:ea typeface="Calibri" pitchFamily="34" charset="-122"/>
                <a:cs typeface="Calibri" pitchFamily="34" charset="-120"/>
              </a:rPr>
              <a:t>temp folder at a pinned commit · stripped environment · time limits · SHA-256 of every command's output</a:t>
            </a:r>
            <a:endParaRPr lang="en-US" sz="1150" dirty="0"/>
          </a:p>
        </p:txBody>
      </p:sp>
      <p:sp>
        <p:nvSpPr>
          <p:cNvPr id="80" name="Shape 66"/>
          <p:cNvSpPr/>
          <p:nvPr/>
        </p:nvSpPr>
        <p:spPr>
          <a:xfrm>
            <a:off x="6309360" y="6876288"/>
            <a:ext cx="914" cy="182880"/>
          </a:xfrm>
          <a:prstGeom prst="line">
            <a:avLst/>
          </a:prstGeom>
          <a:noFill/>
          <a:ln w="25400">
            <a:solidFill>
              <a:srgbClr val="1B2A6B"/>
            </a:solidFill>
            <a:prstDash val="solid"/>
            <a:tailEnd type="triangle"/>
          </a:ln>
        </p:spPr>
      </p:sp>
      <p:sp>
        <p:nvSpPr>
          <p:cNvPr id="81" name="Shape 67"/>
          <p:cNvSpPr/>
          <p:nvPr/>
        </p:nvSpPr>
        <p:spPr>
          <a:xfrm>
            <a:off x="2514600" y="7059168"/>
            <a:ext cx="7543800" cy="758952"/>
          </a:xfrm>
          <a:prstGeom prst="roundRect">
            <a:avLst>
              <a:gd name="adj" fmla="val 4819"/>
            </a:avLst>
          </a:prstGeom>
          <a:solidFill>
            <a:srgbClr val="FFF8E1"/>
          </a:solidFill>
          <a:ln w="15875">
            <a:solidFill>
              <a:srgbClr val="E2C46A"/>
            </a:solidFill>
            <a:prstDash val="solid"/>
          </a:ln>
        </p:spPr>
      </p:sp>
      <p:pic>
        <p:nvPicPr>
          <p:cNvPr id="82" name="Image 12" descr="preencoded.png">    </p:cNvPr>
          <p:cNvPicPr>
            <a:picLocks noChangeAspect="1"/>
          </p:cNvPicPr>
          <p:nvPr/>
        </p:nvPicPr>
        <p:blipFill>
          <a:blip r:embed="rId13"/>
          <a:stretch>
            <a:fillRect/>
          </a:stretch>
        </p:blipFill>
        <p:spPr>
          <a:xfrm>
            <a:off x="2697480" y="7205472"/>
            <a:ext cx="457200" cy="457200"/>
          </a:xfrm>
          <a:prstGeom prst="rect">
            <a:avLst/>
          </a:prstGeom>
        </p:spPr>
      </p:pic>
      <p:sp>
        <p:nvSpPr>
          <p:cNvPr id="83" name="Text 68"/>
          <p:cNvSpPr txBox="1"/>
          <p:nvPr/>
        </p:nvSpPr>
        <p:spPr>
          <a:xfrm>
            <a:off x="3291840" y="7059168"/>
            <a:ext cx="6675120" cy="758952"/>
          </a:xfrm>
          <a:prstGeom prst="rect">
            <a:avLst/>
          </a:prstGeom>
          <a:noFill/>
          <a:ln/>
        </p:spPr>
        <p:txBody>
          <a:bodyPr wrap="square" lIns="0" tIns="0" rIns="0" bIns="0" rtlCol="0" anchor="ctr"/>
          <a:lstStyle/>
          <a:p>
            <a:pPr indent="0" marL="0">
              <a:buNone/>
            </a:pPr>
            <a:r>
              <a:rPr lang="en-US" sz="1300" b="1" dirty="0">
                <a:solidFill>
                  <a:srgbClr val="1E2230"/>
                </a:solidFill>
                <a:latin typeface="Calibri" pitchFamily="34" charset="0"/>
                <a:ea typeface="Calibri" pitchFamily="34" charset="-122"/>
                <a:cs typeface="Calibri" pitchFamily="34" charset="-120"/>
              </a:rPr>
              <a:t>DATABASE LAYER (SQLite): </a:t>
            </a:r>
            <a:pPr indent="0" marL="0">
              <a:buNone/>
            </a:pPr>
            <a:r>
              <a:rPr lang="en-US" sz="1300" dirty="0">
                <a:solidFill>
                  <a:srgbClr val="1E2230"/>
                </a:solidFill>
                <a:latin typeface="Calibri" pitchFamily="34" charset="0"/>
                <a:ea typeface="Calibri" pitchFamily="34" charset="-122"/>
                <a:cs typeface="Calibri" pitchFamily="34" charset="-120"/>
              </a:rPr>
              <a:t>repositories · vulnerabilities · fixes · agent runs · push events · XP ledger</a:t>
            </a:r>
            <a:endParaRPr lang="en-US" sz="1300" dirty="0"/>
          </a:p>
        </p:txBody>
      </p:sp>
      <p:sp>
        <p:nvSpPr>
          <p:cNvPr id="84" name="Shape 69"/>
          <p:cNvSpPr/>
          <p:nvPr/>
        </p:nvSpPr>
        <p:spPr>
          <a:xfrm>
            <a:off x="10259568" y="2377440"/>
            <a:ext cx="2331720" cy="5440680"/>
          </a:xfrm>
          <a:prstGeom prst="roundRect">
            <a:avLst>
              <a:gd name="adj" fmla="val 1961"/>
            </a:avLst>
          </a:prstGeom>
          <a:solidFill>
            <a:srgbClr val="EEF2FB"/>
          </a:solidFill>
          <a:ln w="15875">
            <a:solidFill>
              <a:srgbClr val="9FB0DE"/>
            </a:solidFill>
            <a:prstDash val="solid"/>
          </a:ln>
        </p:spPr>
      </p:sp>
      <p:sp>
        <p:nvSpPr>
          <p:cNvPr id="85" name="Text 70"/>
          <p:cNvSpPr txBox="1"/>
          <p:nvPr/>
        </p:nvSpPr>
        <p:spPr>
          <a:xfrm>
            <a:off x="10259568" y="2432304"/>
            <a:ext cx="2331720" cy="365760"/>
          </a:xfrm>
          <a:prstGeom prst="rect">
            <a:avLst/>
          </a:prstGeom>
          <a:noFill/>
          <a:ln/>
        </p:spPr>
        <p:txBody>
          <a:bodyPr wrap="square" lIns="0" tIns="0" rIns="0" bIns="0" rtlCol="0" anchor="t"/>
          <a:lstStyle/>
          <a:p>
            <a:pPr algn="ctr" indent="0" marL="0">
              <a:buNone/>
            </a:pPr>
            <a:r>
              <a:rPr lang="en-US" sz="1300" b="1" dirty="0">
                <a:solidFill>
                  <a:srgbClr val="1E2230"/>
                </a:solidFill>
                <a:latin typeface="Calibri" pitchFamily="34" charset="0"/>
                <a:ea typeface="Calibri" pitchFamily="34" charset="-122"/>
                <a:cs typeface="Calibri" pitchFamily="34" charset="-120"/>
              </a:rPr>
              <a:t>EXTERNAL SERVICES</a:t>
            </a:r>
            <a:endParaRPr lang="en-US" sz="1300" dirty="0"/>
          </a:p>
        </p:txBody>
      </p:sp>
      <p:sp>
        <p:nvSpPr>
          <p:cNvPr id="86" name="Shape 71"/>
          <p:cNvSpPr/>
          <p:nvPr/>
        </p:nvSpPr>
        <p:spPr>
          <a:xfrm>
            <a:off x="10378440" y="2880360"/>
            <a:ext cx="2103120" cy="1481328"/>
          </a:xfrm>
          <a:prstGeom prst="roundRect">
            <a:avLst>
              <a:gd name="adj" fmla="val 3704"/>
            </a:avLst>
          </a:prstGeom>
          <a:solidFill>
            <a:srgbClr val="FFFFFF"/>
          </a:solidFill>
          <a:ln w="15875">
            <a:solidFill>
              <a:srgbClr val="9FB0DE"/>
            </a:solidFill>
            <a:prstDash val="solid"/>
          </a:ln>
        </p:spPr>
      </p:sp>
      <p:pic>
        <p:nvPicPr>
          <p:cNvPr id="87" name="Image 13" descr="preencoded.png">    </p:cNvPr>
          <p:cNvPicPr>
            <a:picLocks noChangeAspect="1"/>
          </p:cNvPicPr>
          <p:nvPr/>
        </p:nvPicPr>
        <p:blipFill>
          <a:blip r:embed="rId14"/>
          <a:stretch>
            <a:fillRect/>
          </a:stretch>
        </p:blipFill>
        <p:spPr>
          <a:xfrm>
            <a:off x="10497312" y="2999232"/>
            <a:ext cx="384048" cy="384048"/>
          </a:xfrm>
          <a:prstGeom prst="rect">
            <a:avLst/>
          </a:prstGeom>
        </p:spPr>
      </p:pic>
      <p:sp>
        <p:nvSpPr>
          <p:cNvPr id="88" name="Text 72"/>
          <p:cNvSpPr txBox="1"/>
          <p:nvPr/>
        </p:nvSpPr>
        <p:spPr>
          <a:xfrm>
            <a:off x="10954512" y="2971800"/>
            <a:ext cx="1463040" cy="457200"/>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GitHub</a:t>
            </a:r>
            <a:endParaRPr lang="en-US" sz="1400" dirty="0"/>
          </a:p>
        </p:txBody>
      </p:sp>
      <p:sp>
        <p:nvSpPr>
          <p:cNvPr id="89" name="Text 73"/>
          <p:cNvSpPr txBox="1"/>
          <p:nvPr/>
        </p:nvSpPr>
        <p:spPr>
          <a:xfrm>
            <a:off x="10497312" y="3483864"/>
            <a:ext cx="1938528" cy="841248"/>
          </a:xfrm>
          <a:prstGeom prst="rect">
            <a:avLst/>
          </a:prstGeom>
          <a:noFill/>
          <a:ln/>
        </p:spPr>
        <p:txBody>
          <a:bodyPr wrap="square" lIns="0" tIns="0" rIns="0" bIns="0" rtlCol="0" anchor="t"/>
          <a:lstStyle/>
          <a:p>
            <a:pPr indent="0" marL="0">
              <a:buNone/>
            </a:pPr>
            <a:r>
              <a:rPr lang="en-US" sz="1050" dirty="0">
                <a:solidFill>
                  <a:srgbClr val="4A5163"/>
                </a:solidFill>
                <a:latin typeface="Calibri" pitchFamily="34" charset="0"/>
                <a:ea typeface="Calibri" pitchFamily="34" charset="-122"/>
                <a:cs typeface="Calibri" pitchFamily="34" charset="-120"/>
              </a:rPr>
              <a:t>OAuth · REST</a:t>
            </a:r>
            <a:endParaRPr lang="en-US" sz="1050" dirty="0"/>
          </a:p>
          <a:p>
            <a:pPr indent="0" marL="0">
              <a:buNone/>
            </a:pPr>
            <a:r>
              <a:rPr lang="en-US" sz="1050" dirty="0">
                <a:solidFill>
                  <a:srgbClr val="4A5163"/>
                </a:solidFill>
                <a:latin typeface="Calibri" pitchFamily="34" charset="0"/>
                <a:ea typeface="Calibri" pitchFamily="34" charset="-122"/>
                <a:cs typeface="Calibri" pitchFamily="34" charset="-120"/>
              </a:rPr>
              <a:t>code scanning</a:t>
            </a:r>
            <a:endParaRPr lang="en-US" sz="1050" dirty="0"/>
          </a:p>
          <a:p>
            <a:pPr indent="0" marL="0">
              <a:buNone/>
            </a:pPr>
            <a:r>
              <a:rPr lang="en-US" sz="1050" dirty="0">
                <a:solidFill>
                  <a:srgbClr val="4A5163"/>
                </a:solidFill>
                <a:latin typeface="Calibri" pitchFamily="34" charset="0"/>
                <a:ea typeface="Calibri" pitchFamily="34" charset="-122"/>
                <a:cs typeface="Calibri" pitchFamily="34" charset="-120"/>
              </a:rPr>
              <a:t>PRs · webhooks</a:t>
            </a:r>
            <a:endParaRPr lang="en-US" sz="1050" dirty="0"/>
          </a:p>
        </p:txBody>
      </p:sp>
      <p:sp>
        <p:nvSpPr>
          <p:cNvPr id="90" name="Shape 74"/>
          <p:cNvSpPr/>
          <p:nvPr/>
        </p:nvSpPr>
        <p:spPr>
          <a:xfrm>
            <a:off x="10378440" y="4526280"/>
            <a:ext cx="2103120" cy="1481328"/>
          </a:xfrm>
          <a:prstGeom prst="roundRect">
            <a:avLst>
              <a:gd name="adj" fmla="val 3704"/>
            </a:avLst>
          </a:prstGeom>
          <a:solidFill>
            <a:srgbClr val="FFFFFF"/>
          </a:solidFill>
          <a:ln w="15875">
            <a:solidFill>
              <a:srgbClr val="9FB0DE"/>
            </a:solidFill>
            <a:prstDash val="solid"/>
          </a:ln>
        </p:spPr>
      </p:sp>
      <p:pic>
        <p:nvPicPr>
          <p:cNvPr id="91" name="Image 14" descr="preencoded.png">    </p:cNvPr>
          <p:cNvPicPr>
            <a:picLocks noChangeAspect="1"/>
          </p:cNvPicPr>
          <p:nvPr/>
        </p:nvPicPr>
        <p:blipFill>
          <a:blip r:embed="rId15"/>
          <a:stretch>
            <a:fillRect/>
          </a:stretch>
        </p:blipFill>
        <p:spPr>
          <a:xfrm>
            <a:off x="10497312" y="4645152"/>
            <a:ext cx="384048" cy="384048"/>
          </a:xfrm>
          <a:prstGeom prst="rect">
            <a:avLst/>
          </a:prstGeom>
        </p:spPr>
      </p:pic>
      <p:sp>
        <p:nvSpPr>
          <p:cNvPr id="92" name="Text 75"/>
          <p:cNvSpPr txBox="1"/>
          <p:nvPr/>
        </p:nvSpPr>
        <p:spPr>
          <a:xfrm>
            <a:off x="10954512" y="4617720"/>
            <a:ext cx="1463040" cy="457200"/>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LLM</a:t>
            </a:r>
            <a:endParaRPr lang="en-US" sz="1400" dirty="0"/>
          </a:p>
        </p:txBody>
      </p:sp>
      <p:sp>
        <p:nvSpPr>
          <p:cNvPr id="93" name="Text 76"/>
          <p:cNvSpPr txBox="1"/>
          <p:nvPr/>
        </p:nvSpPr>
        <p:spPr>
          <a:xfrm>
            <a:off x="10497312" y="5129784"/>
            <a:ext cx="1938528" cy="841248"/>
          </a:xfrm>
          <a:prstGeom prst="rect">
            <a:avLst/>
          </a:prstGeom>
          <a:noFill/>
          <a:ln/>
        </p:spPr>
        <p:txBody>
          <a:bodyPr wrap="square" lIns="0" tIns="0" rIns="0" bIns="0" rtlCol="0" anchor="t"/>
          <a:lstStyle/>
          <a:p>
            <a:pPr indent="0" marL="0">
              <a:buNone/>
            </a:pPr>
            <a:r>
              <a:rPr lang="en-US" sz="1050" dirty="0">
                <a:solidFill>
                  <a:srgbClr val="4A5163"/>
                </a:solidFill>
                <a:latin typeface="Calibri" pitchFamily="34" charset="0"/>
                <a:ea typeface="Calibri" pitchFamily="34" charset="-122"/>
                <a:cs typeface="Calibri" pitchFamily="34" charset="-120"/>
              </a:rPr>
              <a:t>gpt-oss-120b (Groq)</a:t>
            </a:r>
            <a:endParaRPr lang="en-US" sz="1050" dirty="0"/>
          </a:p>
          <a:p>
            <a:pPr indent="0" marL="0">
              <a:buNone/>
            </a:pPr>
            <a:r>
              <a:rPr lang="en-US" sz="1050" dirty="0">
                <a:solidFill>
                  <a:srgbClr val="4A5163"/>
                </a:solidFill>
                <a:latin typeface="Calibri" pitchFamily="34" charset="0"/>
                <a:ea typeface="Calibri" pitchFamily="34" charset="-122"/>
                <a:cs typeface="Calibri" pitchFamily="34" charset="-120"/>
              </a:rPr>
              <a:t>fallback gpt-oss-20b</a:t>
            </a:r>
            <a:endParaRPr lang="en-US" sz="1050" dirty="0"/>
          </a:p>
        </p:txBody>
      </p:sp>
      <p:sp>
        <p:nvSpPr>
          <p:cNvPr id="94" name="Shape 77"/>
          <p:cNvSpPr/>
          <p:nvPr/>
        </p:nvSpPr>
        <p:spPr>
          <a:xfrm>
            <a:off x="10378440" y="6172200"/>
            <a:ext cx="2103120" cy="1481328"/>
          </a:xfrm>
          <a:prstGeom prst="roundRect">
            <a:avLst>
              <a:gd name="adj" fmla="val 3704"/>
            </a:avLst>
          </a:prstGeom>
          <a:solidFill>
            <a:srgbClr val="FFFFFF"/>
          </a:solidFill>
          <a:ln w="15875">
            <a:solidFill>
              <a:srgbClr val="9FB0DE"/>
            </a:solidFill>
            <a:prstDash val="solid"/>
          </a:ln>
        </p:spPr>
      </p:sp>
      <p:pic>
        <p:nvPicPr>
          <p:cNvPr id="95" name="Image 15" descr="preencoded.png">    </p:cNvPr>
          <p:cNvPicPr>
            <a:picLocks noChangeAspect="1"/>
          </p:cNvPicPr>
          <p:nvPr/>
        </p:nvPicPr>
        <p:blipFill>
          <a:blip r:embed="rId16"/>
          <a:stretch>
            <a:fillRect/>
          </a:stretch>
        </p:blipFill>
        <p:spPr>
          <a:xfrm>
            <a:off x="10497312" y="6291072"/>
            <a:ext cx="384048" cy="384048"/>
          </a:xfrm>
          <a:prstGeom prst="rect">
            <a:avLst/>
          </a:prstGeom>
        </p:spPr>
      </p:pic>
      <p:sp>
        <p:nvSpPr>
          <p:cNvPr id="96" name="Text 78"/>
          <p:cNvSpPr txBox="1"/>
          <p:nvPr/>
        </p:nvSpPr>
        <p:spPr>
          <a:xfrm>
            <a:off x="10954512" y="6263640"/>
            <a:ext cx="1463040" cy="457200"/>
          </a:xfrm>
          <a:prstGeom prst="rect">
            <a:avLst/>
          </a:prstGeom>
          <a:noFill/>
          <a:ln/>
        </p:spPr>
        <p:txBody>
          <a:bodyPr wrap="square" lIns="0" tIns="0" rIns="0" bIns="0" rtlCol="0" anchor="ctr"/>
          <a:lstStyle/>
          <a:p>
            <a:pPr indent="0" marL="0">
              <a:buNone/>
            </a:pPr>
            <a:r>
              <a:rPr lang="en-US" sz="1400" b="1" dirty="0">
                <a:solidFill>
                  <a:srgbClr val="1E2230"/>
                </a:solidFill>
                <a:latin typeface="Calibri" pitchFamily="34" charset="0"/>
                <a:ea typeface="Calibri" pitchFamily="34" charset="-122"/>
                <a:cs typeface="Calibri" pitchFamily="34" charset="-120"/>
              </a:rPr>
              <a:t>Scanners</a:t>
            </a:r>
            <a:endParaRPr lang="en-US" sz="1400" dirty="0"/>
          </a:p>
        </p:txBody>
      </p:sp>
      <p:sp>
        <p:nvSpPr>
          <p:cNvPr id="97" name="Text 79"/>
          <p:cNvSpPr txBox="1"/>
          <p:nvPr/>
        </p:nvSpPr>
        <p:spPr>
          <a:xfrm>
            <a:off x="10497312" y="6775704"/>
            <a:ext cx="1938528" cy="841248"/>
          </a:xfrm>
          <a:prstGeom prst="rect">
            <a:avLst/>
          </a:prstGeom>
          <a:noFill/>
          <a:ln/>
        </p:spPr>
        <p:txBody>
          <a:bodyPr wrap="square" lIns="0" tIns="0" rIns="0" bIns="0" rtlCol="0" anchor="t"/>
          <a:lstStyle/>
          <a:p>
            <a:pPr indent="0" marL="0">
              <a:buNone/>
            </a:pPr>
            <a:r>
              <a:rPr lang="en-US" sz="1050" dirty="0">
                <a:solidFill>
                  <a:srgbClr val="4A5163"/>
                </a:solidFill>
                <a:latin typeface="Calibri" pitchFamily="34" charset="0"/>
                <a:ea typeface="Calibri" pitchFamily="34" charset="-122"/>
                <a:cs typeface="Calibri" pitchFamily="34" charset="-120"/>
              </a:rPr>
              <a:t>Bandit · Semgrep</a:t>
            </a:r>
            <a:endParaRPr lang="en-US" sz="1050" dirty="0"/>
          </a:p>
          <a:p>
            <a:pPr indent="0" marL="0">
              <a:buNone/>
            </a:pPr>
            <a:r>
              <a:rPr lang="en-US" sz="1050" dirty="0">
                <a:solidFill>
                  <a:srgbClr val="4A5163"/>
                </a:solidFill>
                <a:latin typeface="Calibri" pitchFamily="34" charset="0"/>
                <a:ea typeface="Calibri" pitchFamily="34" charset="-122"/>
                <a:cs typeface="Calibri" pitchFamily="34" charset="-120"/>
              </a:rPr>
              <a:t>CodeQL alerts</a:t>
            </a:r>
            <a:endParaRPr lang="en-US" sz="1050" dirty="0"/>
          </a:p>
        </p:txBody>
      </p:sp>
      <p:sp>
        <p:nvSpPr>
          <p:cNvPr id="98" name="Shape 80"/>
          <p:cNvSpPr/>
          <p:nvPr/>
        </p:nvSpPr>
        <p:spPr>
          <a:xfrm>
            <a:off x="10058400" y="3657600"/>
            <a:ext cx="201168" cy="914"/>
          </a:xfrm>
          <a:prstGeom prst="line">
            <a:avLst/>
          </a:prstGeom>
          <a:noFill/>
          <a:ln w="25400">
            <a:solidFill>
              <a:srgbClr val="1B2A6B"/>
            </a:solidFill>
            <a:prstDash val="solid"/>
            <a:tailEnd type="triangle"/>
          </a:ln>
        </p:spPr>
      </p:sp>
      <p:sp>
        <p:nvSpPr>
          <p:cNvPr id="99" name="Shape 81"/>
          <p:cNvSpPr/>
          <p:nvPr/>
        </p:nvSpPr>
        <p:spPr>
          <a:xfrm flipH="1">
            <a:off x="10058400" y="3931920"/>
            <a:ext cx="201168" cy="914"/>
          </a:xfrm>
          <a:prstGeom prst="line">
            <a:avLst/>
          </a:prstGeom>
          <a:noFill/>
          <a:ln w="25400">
            <a:solidFill>
              <a:srgbClr val="1B2A6B"/>
            </a:solidFill>
            <a:prstDash val="solid"/>
            <a:tailEnd type="triangle"/>
          </a:ln>
        </p:spPr>
      </p:sp>
      <p:sp>
        <p:nvSpPr>
          <p:cNvPr id="100" name="Shape 82"/>
          <p:cNvSpPr/>
          <p:nvPr/>
        </p:nvSpPr>
        <p:spPr>
          <a:xfrm>
            <a:off x="10058400" y="6035040"/>
            <a:ext cx="201168" cy="914"/>
          </a:xfrm>
          <a:prstGeom prst="line">
            <a:avLst/>
          </a:prstGeom>
          <a:noFill/>
          <a:ln w="25400">
            <a:solidFill>
              <a:srgbClr val="1B2A6B"/>
            </a:solidFill>
            <a:prstDash val="solid"/>
            <a:tailEnd type="triangle"/>
          </a:ln>
        </p:spPr>
      </p:sp>
      <p:sp>
        <p:nvSpPr>
          <p:cNvPr id="101" name="Shape 83"/>
          <p:cNvSpPr/>
          <p:nvPr/>
        </p:nvSpPr>
        <p:spPr>
          <a:xfrm flipH="1">
            <a:off x="10058400" y="6309360"/>
            <a:ext cx="201168" cy="914"/>
          </a:xfrm>
          <a:prstGeom prst="line">
            <a:avLst/>
          </a:prstGeom>
          <a:noFill/>
          <a:ln w="25400">
            <a:solidFill>
              <a:srgbClr val="1B2A6B"/>
            </a:solidFill>
            <a:prstDash val="solid"/>
            <a:tailEnd type="triangle"/>
          </a:ln>
        </p:spPr>
      </p:sp>
      <p:sp>
        <p:nvSpPr>
          <p:cNvPr id="102" name="Text 84"/>
          <p:cNvSpPr txBox="1"/>
          <p:nvPr/>
        </p:nvSpPr>
        <p:spPr>
          <a:xfrm>
            <a:off x="320040" y="7936992"/>
            <a:ext cx="12252960" cy="292608"/>
          </a:xfrm>
          <a:prstGeom prst="rect">
            <a:avLst/>
          </a:prstGeom>
          <a:noFill/>
          <a:ln/>
        </p:spPr>
        <p:txBody>
          <a:bodyPr wrap="square" lIns="0" tIns="0" rIns="0" bIns="0" rtlCol="0" anchor="t"/>
          <a:lstStyle/>
          <a:p>
            <a:pPr algn="ctr" indent="0" marL="0">
              <a:buNone/>
            </a:pPr>
            <a:r>
              <a:rPr lang="en-US" sz="1250" b="1" dirty="0">
                <a:solidFill>
                  <a:srgbClr val="1E2230"/>
                </a:solidFill>
                <a:latin typeface="Calibri" pitchFamily="34" charset="0"/>
                <a:ea typeface="Calibri" pitchFamily="34" charset="-122"/>
                <a:cs typeface="Calibri" pitchFamily="34" charset="-120"/>
              </a:rPr>
              <a:t>FINAL OUTPUT</a:t>
            </a:r>
            <a:endParaRPr lang="en-US" sz="1250" dirty="0"/>
          </a:p>
        </p:txBody>
      </p:sp>
      <p:sp>
        <p:nvSpPr>
          <p:cNvPr id="103" name="Shape 85"/>
          <p:cNvSpPr/>
          <p:nvPr/>
        </p:nvSpPr>
        <p:spPr>
          <a:xfrm>
            <a:off x="457200" y="8229600"/>
            <a:ext cx="2834640" cy="384048"/>
          </a:xfrm>
          <a:prstGeom prst="roundRect">
            <a:avLst>
              <a:gd name="adj" fmla="val 14286"/>
            </a:avLst>
          </a:prstGeom>
          <a:solidFill>
            <a:srgbClr val="FBEDEE"/>
          </a:solidFill>
          <a:ln w="15875">
            <a:solidFill>
              <a:srgbClr val="E3A6A6"/>
            </a:solidFill>
            <a:prstDash val="solid"/>
          </a:ln>
        </p:spPr>
      </p:sp>
      <p:sp>
        <p:nvSpPr>
          <p:cNvPr id="104" name="Text 86"/>
          <p:cNvSpPr txBox="1"/>
          <p:nvPr/>
        </p:nvSpPr>
        <p:spPr>
          <a:xfrm>
            <a:off x="457200" y="8229600"/>
            <a:ext cx="2834640" cy="384048"/>
          </a:xfrm>
          <a:prstGeom prst="rect">
            <a:avLst/>
          </a:prstGeom>
          <a:noFill/>
          <a:ln/>
        </p:spPr>
        <p:txBody>
          <a:bodyPr wrap="square" lIns="0" tIns="0" rIns="0" bIns="0" rtlCol="0" anchor="ctr"/>
          <a:lstStyle/>
          <a:p>
            <a:pPr algn="ctr" indent="0" marL="0">
              <a:buNone/>
            </a:pPr>
            <a:r>
              <a:rPr lang="en-US" sz="1250" b="1" dirty="0">
                <a:solidFill>
                  <a:srgbClr val="1E2230"/>
                </a:solidFill>
                <a:latin typeface="Calibri" pitchFamily="34" charset="0"/>
                <a:ea typeface="Calibri" pitchFamily="34" charset="-122"/>
                <a:cs typeface="Calibri" pitchFamily="34" charset="-120"/>
              </a:rPr>
              <a:t>Verified patch</a:t>
            </a:r>
            <a:endParaRPr lang="en-US" sz="1250" dirty="0"/>
          </a:p>
        </p:txBody>
      </p:sp>
      <p:sp>
        <p:nvSpPr>
          <p:cNvPr id="105" name="Shape 87"/>
          <p:cNvSpPr/>
          <p:nvPr/>
        </p:nvSpPr>
        <p:spPr>
          <a:xfrm>
            <a:off x="3493008" y="8229600"/>
            <a:ext cx="2834640" cy="384048"/>
          </a:xfrm>
          <a:prstGeom prst="roundRect">
            <a:avLst>
              <a:gd name="adj" fmla="val 14286"/>
            </a:avLst>
          </a:prstGeom>
          <a:solidFill>
            <a:srgbClr val="FBEDEE"/>
          </a:solidFill>
          <a:ln w="15875">
            <a:solidFill>
              <a:srgbClr val="E3A6A6"/>
            </a:solidFill>
            <a:prstDash val="solid"/>
          </a:ln>
        </p:spPr>
      </p:sp>
      <p:sp>
        <p:nvSpPr>
          <p:cNvPr id="106" name="Text 88"/>
          <p:cNvSpPr txBox="1"/>
          <p:nvPr/>
        </p:nvSpPr>
        <p:spPr>
          <a:xfrm>
            <a:off x="3493008" y="8229600"/>
            <a:ext cx="2834640" cy="384048"/>
          </a:xfrm>
          <a:prstGeom prst="rect">
            <a:avLst/>
          </a:prstGeom>
          <a:noFill/>
          <a:ln/>
        </p:spPr>
        <p:txBody>
          <a:bodyPr wrap="square" lIns="0" tIns="0" rIns="0" bIns="0" rtlCol="0" anchor="ctr"/>
          <a:lstStyle/>
          <a:p>
            <a:pPr algn="ctr" indent="0" marL="0">
              <a:buNone/>
            </a:pPr>
            <a:r>
              <a:rPr lang="en-US" sz="1250" b="1" dirty="0">
                <a:solidFill>
                  <a:srgbClr val="1E2230"/>
                </a:solidFill>
                <a:latin typeface="Calibri" pitchFamily="34" charset="0"/>
                <a:ea typeface="Calibri" pitchFamily="34" charset="-122"/>
                <a:cs typeface="Calibri" pitchFamily="34" charset="-120"/>
              </a:rPr>
              <a:t>Exploit regression test</a:t>
            </a:r>
            <a:endParaRPr lang="en-US" sz="1250" dirty="0"/>
          </a:p>
        </p:txBody>
      </p:sp>
      <p:sp>
        <p:nvSpPr>
          <p:cNvPr id="107" name="Shape 89"/>
          <p:cNvSpPr/>
          <p:nvPr/>
        </p:nvSpPr>
        <p:spPr>
          <a:xfrm>
            <a:off x="6528816" y="8229600"/>
            <a:ext cx="2834640" cy="384048"/>
          </a:xfrm>
          <a:prstGeom prst="roundRect">
            <a:avLst>
              <a:gd name="adj" fmla="val 14286"/>
            </a:avLst>
          </a:prstGeom>
          <a:solidFill>
            <a:srgbClr val="FBEDEE"/>
          </a:solidFill>
          <a:ln w="15875">
            <a:solidFill>
              <a:srgbClr val="E3A6A6"/>
            </a:solidFill>
            <a:prstDash val="solid"/>
          </a:ln>
        </p:spPr>
      </p:sp>
      <p:sp>
        <p:nvSpPr>
          <p:cNvPr id="108" name="Text 90"/>
          <p:cNvSpPr txBox="1"/>
          <p:nvPr/>
        </p:nvSpPr>
        <p:spPr>
          <a:xfrm>
            <a:off x="6528816" y="8229600"/>
            <a:ext cx="2834640" cy="384048"/>
          </a:xfrm>
          <a:prstGeom prst="rect">
            <a:avLst/>
          </a:prstGeom>
          <a:noFill/>
          <a:ln/>
        </p:spPr>
        <p:txBody>
          <a:bodyPr wrap="square" lIns="0" tIns="0" rIns="0" bIns="0" rtlCol="0" anchor="ctr"/>
          <a:lstStyle/>
          <a:p>
            <a:pPr algn="ctr" indent="0" marL="0">
              <a:buNone/>
            </a:pPr>
            <a:r>
              <a:rPr lang="en-US" sz="1250" b="1" dirty="0">
                <a:solidFill>
                  <a:srgbClr val="1E2230"/>
                </a:solidFill>
                <a:latin typeface="Calibri" pitchFamily="34" charset="0"/>
                <a:ea typeface="Calibri" pitchFamily="34" charset="-122"/>
                <a:cs typeface="Calibri" pitchFamily="34" charset="-120"/>
              </a:rPr>
              <a:t>Pull request on GitHub</a:t>
            </a:r>
            <a:endParaRPr lang="en-US" sz="1250" dirty="0"/>
          </a:p>
        </p:txBody>
      </p:sp>
      <p:sp>
        <p:nvSpPr>
          <p:cNvPr id="109" name="Shape 91"/>
          <p:cNvSpPr/>
          <p:nvPr/>
        </p:nvSpPr>
        <p:spPr>
          <a:xfrm>
            <a:off x="9564624" y="8229600"/>
            <a:ext cx="2834640" cy="384048"/>
          </a:xfrm>
          <a:prstGeom prst="roundRect">
            <a:avLst>
              <a:gd name="adj" fmla="val 14286"/>
            </a:avLst>
          </a:prstGeom>
          <a:solidFill>
            <a:srgbClr val="FBEDEE"/>
          </a:solidFill>
          <a:ln w="15875">
            <a:solidFill>
              <a:srgbClr val="E3A6A6"/>
            </a:solidFill>
            <a:prstDash val="solid"/>
          </a:ln>
        </p:spPr>
      </p:sp>
      <p:sp>
        <p:nvSpPr>
          <p:cNvPr id="110" name="Text 92"/>
          <p:cNvSpPr txBox="1"/>
          <p:nvPr/>
        </p:nvSpPr>
        <p:spPr>
          <a:xfrm>
            <a:off x="9564624" y="8229600"/>
            <a:ext cx="2834640" cy="384048"/>
          </a:xfrm>
          <a:prstGeom prst="rect">
            <a:avLst/>
          </a:prstGeom>
          <a:noFill/>
          <a:ln/>
        </p:spPr>
        <p:txBody>
          <a:bodyPr wrap="square" lIns="0" tIns="0" rIns="0" bIns="0" rtlCol="0" anchor="ctr"/>
          <a:lstStyle/>
          <a:p>
            <a:pPr algn="ctr" indent="0" marL="0">
              <a:buNone/>
            </a:pPr>
            <a:r>
              <a:rPr lang="en-US" sz="1250" b="1" dirty="0">
                <a:solidFill>
                  <a:srgbClr val="1E2230"/>
                </a:solidFill>
                <a:latin typeface="Calibri" pitchFamily="34" charset="0"/>
                <a:ea typeface="Calibri" pitchFamily="34" charset="-122"/>
                <a:cs typeface="Calibri" pitchFamily="34" charset="-120"/>
              </a:rPr>
              <a:t>Evidence pack (PDF + JSON)</a:t>
            </a:r>
            <a:endParaRPr lang="en-US" sz="1250" dirty="0"/>
          </a:p>
        </p:txBody>
      </p:sp>
      <p:sp>
        <p:nvSpPr>
          <p:cNvPr id="111" name="Shape 93"/>
          <p:cNvSpPr/>
          <p:nvPr/>
        </p:nvSpPr>
        <p:spPr>
          <a:xfrm>
            <a:off x="137160" y="8887968"/>
            <a:ext cx="12618720" cy="1261872"/>
          </a:xfrm>
          <a:prstGeom prst="roundRect">
            <a:avLst>
              <a:gd name="adj" fmla="val 5797"/>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12" name="Text 94"/>
          <p:cNvSpPr txBox="1"/>
          <p:nvPr/>
        </p:nvSpPr>
        <p:spPr>
          <a:xfrm>
            <a:off x="411480" y="8942832"/>
            <a:ext cx="8229600" cy="384048"/>
          </a:xfrm>
          <a:prstGeom prst="rect">
            <a:avLst/>
          </a:prstGeom>
          <a:noFill/>
          <a:ln/>
        </p:spPr>
        <p:txBody>
          <a:bodyPr wrap="square" lIns="0" tIns="0" rIns="0" bIns="0" rtlCol="0" anchor="t"/>
          <a:lstStyle/>
          <a:p>
            <a:pPr indent="0" marL="0">
              <a:buNone/>
            </a:pPr>
            <a:r>
              <a:rPr lang="en-US" sz="1800" b="1" dirty="0">
                <a:solidFill>
                  <a:srgbClr val="F28C28"/>
                </a:solidFill>
                <a:latin typeface="Calibri" pitchFamily="34" charset="0"/>
                <a:ea typeface="Calibri" pitchFamily="34" charset="-122"/>
                <a:cs typeface="Calibri" pitchFamily="34" charset="-120"/>
              </a:rPr>
              <a:t>Evaluation repositories &amp; knowledge sources</a:t>
            </a:r>
            <a:endParaRPr lang="en-US" sz="1800" dirty="0"/>
          </a:p>
        </p:txBody>
      </p:sp>
      <p:sp>
        <p:nvSpPr>
          <p:cNvPr id="113" name="Text 95"/>
          <p:cNvSpPr txBox="1"/>
          <p:nvPr/>
        </p:nvSpPr>
        <p:spPr>
          <a:xfrm>
            <a:off x="411480" y="9326880"/>
            <a:ext cx="12161520" cy="777240"/>
          </a:xfrm>
          <a:prstGeom prst="rect">
            <a:avLst/>
          </a:prstGeom>
          <a:noFill/>
          <a:ln/>
        </p:spPr>
        <p:txBody>
          <a:bodyPr wrap="square" lIns="0" tIns="0" rIns="0" bIns="0" rtlCol="0" anchor="t"/>
          <a:lstStyle/>
          <a:p>
            <a:pPr marL="342900" indent="-342900">
              <a:spcAft>
                <a:spcPts val="200"/>
              </a:spcAft>
              <a:buSzPct val="100000"/>
              <a:buChar char="•"/>
            </a:pPr>
            <a:r>
              <a:rPr lang="en-US" sz="1350" b="1" dirty="0">
                <a:solidFill>
                  <a:srgbClr val="1E2230"/>
                </a:solidFill>
                <a:latin typeface="Calibri" pitchFamily="34" charset="0"/>
                <a:ea typeface="Calibri" pitchFamily="34" charset="-122"/>
                <a:cs typeface="Calibri" pitchFamily="34" charset="-120"/>
              </a:rPr>
              <a:t>Benchmark repos: </a:t>
            </a:r>
            <a:pPr indent="0" marL="0">
              <a:buNone/>
            </a:pPr>
            <a:r>
              <a:rPr lang="en-US" sz="1350" dirty="0">
                <a:solidFill>
                  <a:srgbClr val="1E2230"/>
                </a:solidFill>
                <a:latin typeface="Calibri" pitchFamily="34" charset="0"/>
                <a:ea typeface="Calibri" pitchFamily="34" charset="-122"/>
                <a:cs typeface="Calibri" pitchFamily="34" charset="-120"/>
              </a:rPr>
              <a:t>Corner Shop (3 CWEs) 3/3 verified in 15 s · Little Library (4 CWEs) 4/4 verified in 11 s · 2 real student repos for false-positive triage</a:t>
            </a:r>
            <a:endParaRPr lang="en-US" sz="1350" dirty="0"/>
          </a:p>
          <a:p>
            <a:pPr marL="342900" indent="-342900">
              <a:spcAft>
                <a:spcPts val="200"/>
              </a:spcAft>
              <a:buSzPct val="100000"/>
              <a:buChar char="•"/>
            </a:pPr>
            <a:r>
              <a:rPr lang="en-US" sz="1350" b="1" dirty="0">
                <a:solidFill>
                  <a:srgbClr val="1E2230"/>
                </a:solidFill>
                <a:latin typeface="Calibri" pitchFamily="34" charset="0"/>
                <a:ea typeface="Calibri" pitchFamily="34" charset="-122"/>
                <a:cs typeface="Calibri" pitchFamily="34" charset="-120"/>
              </a:rPr>
              <a:t>Vulnerability knowledge: </a:t>
            </a:r>
            <a:pPr indent="0" marL="0">
              <a:buNone/>
            </a:pPr>
            <a:r>
              <a:rPr lang="en-US" sz="1350" dirty="0">
                <a:solidFill>
                  <a:srgbClr val="1E2230"/>
                </a:solidFill>
                <a:latin typeface="Calibri" pitchFamily="34" charset="0"/>
                <a:ea typeface="Calibri" pitchFamily="34" charset="-122"/>
                <a:cs typeface="Calibri" pitchFamily="34" charset="-120"/>
              </a:rPr>
              <a:t>MITRE CWE · OWASP Top 10 &amp; Cheat Sheets · PortSwigger Web Security Academy</a:t>
            </a:r>
            <a:endParaRPr lang="en-US" sz="1350" dirty="0"/>
          </a:p>
        </p:txBody>
      </p:sp>
      <p:sp>
        <p:nvSpPr>
          <p:cNvPr id="114" name="Shape 96"/>
          <p:cNvSpPr/>
          <p:nvPr/>
        </p:nvSpPr>
        <p:spPr>
          <a:xfrm>
            <a:off x="12938760" y="1783080"/>
            <a:ext cx="5166360" cy="5440680"/>
          </a:xfrm>
          <a:prstGeom prst="roundRect">
            <a:avLst>
              <a:gd name="adj" fmla="val 2478"/>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15" name="Text 97"/>
          <p:cNvSpPr txBox="1"/>
          <p:nvPr/>
        </p:nvSpPr>
        <p:spPr>
          <a:xfrm>
            <a:off x="12938760" y="1874520"/>
            <a:ext cx="5166360" cy="457200"/>
          </a:xfrm>
          <a:prstGeom prst="rect">
            <a:avLst/>
          </a:prstGeom>
          <a:noFill/>
          <a:ln/>
        </p:spPr>
        <p:txBody>
          <a:bodyPr wrap="square" lIns="0" tIns="0" rIns="0" bIns="0" rtlCol="0" anchor="t"/>
          <a:lstStyle/>
          <a:p>
            <a:pPr algn="ctr" indent="0" marL="0">
              <a:buNone/>
            </a:pPr>
            <a:r>
              <a:rPr lang="en-US" sz="2100" b="1" u="sng" dirty="0">
                <a:solidFill>
                  <a:srgbClr val="1B2A6B"/>
                </a:solidFill>
                <a:latin typeface="Calibri" pitchFamily="34" charset="0"/>
                <a:ea typeface="Calibri" pitchFamily="34" charset="-122"/>
                <a:cs typeface="Calibri" pitchFamily="34" charset="-120"/>
              </a:rPr>
              <a:t>TECHNOLOGY STACK</a:t>
            </a:r>
            <a:endParaRPr lang="en-US" sz="2100" dirty="0"/>
          </a:p>
        </p:txBody>
      </p:sp>
      <p:sp>
        <p:nvSpPr>
          <p:cNvPr id="116" name="Text 98"/>
          <p:cNvSpPr txBox="1"/>
          <p:nvPr/>
        </p:nvSpPr>
        <p:spPr>
          <a:xfrm>
            <a:off x="13213080" y="2450592"/>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Backend: </a:t>
            </a:r>
            <a:pPr indent="0" marL="0">
              <a:buNone/>
            </a:pPr>
            <a:r>
              <a:rPr lang="en-US" sz="1450" dirty="0">
                <a:solidFill>
                  <a:srgbClr val="1E2230"/>
                </a:solidFill>
                <a:latin typeface="Calibri" pitchFamily="34" charset="0"/>
                <a:ea typeface="Calibri" pitchFamily="34" charset="-122"/>
                <a:cs typeface="Calibri" pitchFamily="34" charset="-120"/>
              </a:rPr>
              <a:t>Python 3.13, FastAPI, Uvicorn, SQLite</a:t>
            </a:r>
            <a:endParaRPr lang="en-US" sz="1450" dirty="0"/>
          </a:p>
        </p:txBody>
      </p:sp>
      <p:sp>
        <p:nvSpPr>
          <p:cNvPr id="117" name="Shape 99"/>
          <p:cNvSpPr/>
          <p:nvPr/>
        </p:nvSpPr>
        <p:spPr>
          <a:xfrm>
            <a:off x="13213080" y="3182112"/>
            <a:ext cx="4617720" cy="0"/>
          </a:xfrm>
          <a:prstGeom prst="line">
            <a:avLst/>
          </a:prstGeom>
          <a:noFill/>
          <a:ln w="12700">
            <a:solidFill>
              <a:srgbClr val="D7DBE6"/>
            </a:solidFill>
            <a:prstDash val="solid"/>
          </a:ln>
        </p:spPr>
      </p:sp>
      <p:sp>
        <p:nvSpPr>
          <p:cNvPr id="118" name="Text 100"/>
          <p:cNvSpPr txBox="1"/>
          <p:nvPr/>
        </p:nvSpPr>
        <p:spPr>
          <a:xfrm>
            <a:off x="13213080" y="3236976"/>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AI: </a:t>
            </a:r>
            <a:pPr indent="0" marL="0">
              <a:buNone/>
            </a:pPr>
            <a:r>
              <a:rPr lang="en-US" sz="1450" dirty="0">
                <a:solidFill>
                  <a:srgbClr val="1E2230"/>
                </a:solidFill>
                <a:latin typeface="Calibri" pitchFamily="34" charset="0"/>
                <a:ea typeface="Calibri" pitchFamily="34" charset="-122"/>
                <a:cs typeface="Calibri" pitchFamily="34" charset="-120"/>
              </a:rPr>
              <a:t>gpt-oss-120b via Groq (OpenAI-compatible API), fallback gpt-oss-20b</a:t>
            </a:r>
            <a:endParaRPr lang="en-US" sz="1450" dirty="0"/>
          </a:p>
        </p:txBody>
      </p:sp>
      <p:sp>
        <p:nvSpPr>
          <p:cNvPr id="119" name="Shape 101"/>
          <p:cNvSpPr/>
          <p:nvPr/>
        </p:nvSpPr>
        <p:spPr>
          <a:xfrm>
            <a:off x="13213080" y="3968496"/>
            <a:ext cx="4617720" cy="0"/>
          </a:xfrm>
          <a:prstGeom prst="line">
            <a:avLst/>
          </a:prstGeom>
          <a:noFill/>
          <a:ln w="12700">
            <a:solidFill>
              <a:srgbClr val="D7DBE6"/>
            </a:solidFill>
            <a:prstDash val="solid"/>
          </a:ln>
        </p:spPr>
      </p:sp>
      <p:sp>
        <p:nvSpPr>
          <p:cNvPr id="120" name="Text 102"/>
          <p:cNvSpPr txBox="1"/>
          <p:nvPr/>
        </p:nvSpPr>
        <p:spPr>
          <a:xfrm>
            <a:off x="13213080" y="4023360"/>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Security: </a:t>
            </a:r>
            <a:pPr indent="0" marL="0">
              <a:buNone/>
            </a:pPr>
            <a:r>
              <a:rPr lang="en-US" sz="1450" dirty="0">
                <a:solidFill>
                  <a:srgbClr val="1E2230"/>
                </a:solidFill>
                <a:latin typeface="Calibri" pitchFamily="34" charset="0"/>
                <a:ea typeface="Calibri" pitchFamily="34" charset="-122"/>
                <a:cs typeface="Calibri" pitchFamily="34" charset="-120"/>
              </a:rPr>
              <a:t>13 CWE rule sets, Bandit, Semgrep, GitHub CodeQL</a:t>
            </a:r>
            <a:endParaRPr lang="en-US" sz="1450" dirty="0"/>
          </a:p>
        </p:txBody>
      </p:sp>
      <p:sp>
        <p:nvSpPr>
          <p:cNvPr id="121" name="Shape 103"/>
          <p:cNvSpPr/>
          <p:nvPr/>
        </p:nvSpPr>
        <p:spPr>
          <a:xfrm>
            <a:off x="13213080" y="4754880"/>
            <a:ext cx="4617720" cy="0"/>
          </a:xfrm>
          <a:prstGeom prst="line">
            <a:avLst/>
          </a:prstGeom>
          <a:noFill/>
          <a:ln w="12700">
            <a:solidFill>
              <a:srgbClr val="D7DBE6"/>
            </a:solidFill>
            <a:prstDash val="solid"/>
          </a:ln>
        </p:spPr>
      </p:sp>
      <p:sp>
        <p:nvSpPr>
          <p:cNvPr id="122" name="Text 104"/>
          <p:cNvSpPr txBox="1"/>
          <p:nvPr/>
        </p:nvSpPr>
        <p:spPr>
          <a:xfrm>
            <a:off x="13213080" y="4809744"/>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Test runners: </a:t>
            </a:r>
            <a:pPr indent="0" marL="0">
              <a:buNone/>
            </a:pPr>
            <a:r>
              <a:rPr lang="en-US" sz="1450" dirty="0">
                <a:solidFill>
                  <a:srgbClr val="1E2230"/>
                </a:solidFill>
                <a:latin typeface="Calibri" pitchFamily="34" charset="0"/>
                <a:ea typeface="Calibri" pitchFamily="34" charset="-122"/>
                <a:cs typeface="Calibri" pitchFamily="34" charset="-120"/>
              </a:rPr>
              <a:t>pytest (JUnit XML), npm test (jest, vitest, mocha, node:test)</a:t>
            </a:r>
            <a:endParaRPr lang="en-US" sz="1450" dirty="0"/>
          </a:p>
        </p:txBody>
      </p:sp>
      <p:sp>
        <p:nvSpPr>
          <p:cNvPr id="123" name="Shape 105"/>
          <p:cNvSpPr/>
          <p:nvPr/>
        </p:nvSpPr>
        <p:spPr>
          <a:xfrm>
            <a:off x="13213080" y="5541264"/>
            <a:ext cx="4617720" cy="0"/>
          </a:xfrm>
          <a:prstGeom prst="line">
            <a:avLst/>
          </a:prstGeom>
          <a:noFill/>
          <a:ln w="12700">
            <a:solidFill>
              <a:srgbClr val="D7DBE6"/>
            </a:solidFill>
            <a:prstDash val="solid"/>
          </a:ln>
        </p:spPr>
      </p:sp>
      <p:sp>
        <p:nvSpPr>
          <p:cNvPr id="124" name="Text 106"/>
          <p:cNvSpPr txBox="1"/>
          <p:nvPr/>
        </p:nvSpPr>
        <p:spPr>
          <a:xfrm>
            <a:off x="13213080" y="5596128"/>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Frontend: </a:t>
            </a:r>
            <a:pPr indent="0" marL="0">
              <a:buNone/>
            </a:pPr>
            <a:r>
              <a:rPr lang="en-US" sz="1450" dirty="0">
                <a:solidFill>
                  <a:srgbClr val="1E2230"/>
                </a:solidFill>
                <a:latin typeface="Calibri" pitchFamily="34" charset="0"/>
                <a:ea typeface="Calibri" pitchFamily="34" charset="-122"/>
                <a:cs typeface="Calibri" pitchFamily="34" charset="-120"/>
              </a:rPr>
              <a:t>Jinja2 templates, HTML, CSS, vanilla JS</a:t>
            </a:r>
            <a:endParaRPr lang="en-US" sz="1450" dirty="0"/>
          </a:p>
        </p:txBody>
      </p:sp>
      <p:sp>
        <p:nvSpPr>
          <p:cNvPr id="125" name="Shape 107"/>
          <p:cNvSpPr/>
          <p:nvPr/>
        </p:nvSpPr>
        <p:spPr>
          <a:xfrm>
            <a:off x="13213080" y="6327648"/>
            <a:ext cx="4617720" cy="0"/>
          </a:xfrm>
          <a:prstGeom prst="line">
            <a:avLst/>
          </a:prstGeom>
          <a:noFill/>
          <a:ln w="12700">
            <a:solidFill>
              <a:srgbClr val="D7DBE6"/>
            </a:solidFill>
            <a:prstDash val="solid"/>
          </a:ln>
        </p:spPr>
      </p:sp>
      <p:sp>
        <p:nvSpPr>
          <p:cNvPr id="126" name="Text 108"/>
          <p:cNvSpPr txBox="1"/>
          <p:nvPr/>
        </p:nvSpPr>
        <p:spPr>
          <a:xfrm>
            <a:off x="13213080" y="6382512"/>
            <a:ext cx="4663440" cy="731520"/>
          </a:xfrm>
          <a:prstGeom prst="rect">
            <a:avLst/>
          </a:prstGeom>
          <a:noFill/>
          <a:ln/>
        </p:spPr>
        <p:txBody>
          <a:bodyPr wrap="square" lIns="0" tIns="0" rIns="0" bIns="0" rtlCol="0" anchor="ctr"/>
          <a:lstStyle/>
          <a:p>
            <a:pPr indent="0" marL="0">
              <a:buNone/>
            </a:pPr>
            <a:r>
              <a:rPr lang="en-US" sz="1450" b="1" dirty="0">
                <a:solidFill>
                  <a:srgbClr val="1E2230"/>
                </a:solidFill>
                <a:latin typeface="Calibri" pitchFamily="34" charset="0"/>
                <a:ea typeface="Calibri" pitchFamily="34" charset="-122"/>
                <a:cs typeface="Calibri" pitchFamily="34" charset="-120"/>
              </a:rPr>
              <a:t>Integrations: </a:t>
            </a:r>
            <a:pPr indent="0" marL="0">
              <a:buNone/>
            </a:pPr>
            <a:r>
              <a:rPr lang="en-US" sz="1450" dirty="0">
                <a:solidFill>
                  <a:srgbClr val="1E2230"/>
                </a:solidFill>
                <a:latin typeface="Calibri" pitchFamily="34" charset="0"/>
                <a:ea typeface="Calibri" pitchFamily="34" charset="-122"/>
                <a:cs typeface="Calibri" pitchFamily="34" charset="-120"/>
              </a:rPr>
              <a:t>GitHub OAuth, REST API, webhooks · ReportLab PDFs</a:t>
            </a:r>
            <a:endParaRPr lang="en-US" sz="1450" dirty="0"/>
          </a:p>
        </p:txBody>
      </p:sp>
      <p:sp>
        <p:nvSpPr>
          <p:cNvPr id="127" name="Shape 109"/>
          <p:cNvSpPr/>
          <p:nvPr/>
        </p:nvSpPr>
        <p:spPr>
          <a:xfrm>
            <a:off x="12938760" y="7388352"/>
            <a:ext cx="5166360" cy="2761488"/>
          </a:xfrm>
          <a:prstGeom prst="roundRect">
            <a:avLst>
              <a:gd name="adj" fmla="val 4636"/>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28" name="Text 110"/>
          <p:cNvSpPr txBox="1"/>
          <p:nvPr/>
        </p:nvSpPr>
        <p:spPr>
          <a:xfrm>
            <a:off x="12938760" y="7461504"/>
            <a:ext cx="5166360" cy="411480"/>
          </a:xfrm>
          <a:prstGeom prst="rect">
            <a:avLst/>
          </a:prstGeom>
          <a:noFill/>
          <a:ln/>
        </p:spPr>
        <p:txBody>
          <a:bodyPr wrap="square" lIns="0" tIns="0" rIns="0" bIns="0" rtlCol="0" anchor="t"/>
          <a:lstStyle/>
          <a:p>
            <a:pPr algn="ctr" indent="0" marL="0">
              <a:buNone/>
            </a:pPr>
            <a:r>
              <a:rPr lang="en-US" sz="1700" b="1" u="sng" dirty="0">
                <a:solidFill>
                  <a:srgbClr val="1B2A6B"/>
                </a:solidFill>
                <a:latin typeface="Calibri" pitchFamily="34" charset="0"/>
                <a:ea typeface="Calibri" pitchFamily="34" charset="-122"/>
                <a:cs typeface="Calibri" pitchFamily="34" charset="-120"/>
              </a:rPr>
              <a:t>CURRENT IMPLEMENTATION STATUS</a:t>
            </a:r>
            <a:endParaRPr lang="en-US" sz="1700" dirty="0"/>
          </a:p>
        </p:txBody>
      </p:sp>
      <p:sp>
        <p:nvSpPr>
          <p:cNvPr id="129" name="Text 111"/>
          <p:cNvSpPr txBox="1"/>
          <p:nvPr/>
        </p:nvSpPr>
        <p:spPr>
          <a:xfrm>
            <a:off x="13167360" y="7936992"/>
            <a:ext cx="4800600" cy="2103120"/>
          </a:xfrm>
          <a:prstGeom prst="rect">
            <a:avLst/>
          </a:prstGeom>
          <a:noFill/>
          <a:ln/>
        </p:spPr>
        <p:txBody>
          <a:bodyPr wrap="square" lIns="0" tIns="0" rIns="0" bIns="0" rtlCol="0" anchor="t"/>
          <a:lstStyle/>
          <a:p>
            <a:pPr indent="0" marL="0">
              <a:spcAft>
                <a:spcPts val="400"/>
              </a:spcAft>
              <a:buNone/>
            </a:pPr>
            <a:r>
              <a:rPr lang="en-US" sz="1350" b="1" dirty="0">
                <a:solidFill>
                  <a:srgbClr val="1F9D55"/>
                </a:solidFill>
                <a:latin typeface="Calibri" pitchFamily="34" charset="0"/>
                <a:ea typeface="Calibri" pitchFamily="34" charset="-122"/>
                <a:cs typeface="Calibri" pitchFamily="34" charset="-120"/>
              </a:rPr>
              <a:t>✓  </a:t>
            </a:r>
            <a:pPr indent="0" marL="0">
              <a:spcAft>
                <a:spcPts val="400"/>
              </a:spcAft>
              <a:buNone/>
            </a:pPr>
            <a:r>
              <a:rPr lang="en-US" sz="1350" b="1" dirty="0">
                <a:solidFill>
                  <a:srgbClr val="1E2230"/>
                </a:solidFill>
                <a:latin typeface="Calibri" pitchFamily="34" charset="0"/>
                <a:ea typeface="Calibri" pitchFamily="34" charset="-122"/>
                <a:cs typeface="Calibri" pitchFamily="34" charset="-120"/>
              </a:rPr>
              <a:t>Done: </a:t>
            </a:r>
            <a:pPr indent="0" marL="0">
              <a:spcAft>
                <a:spcPts val="400"/>
              </a:spcAft>
              <a:buNone/>
            </a:pPr>
            <a:r>
              <a:rPr lang="en-US" sz="1350" dirty="0">
                <a:solidFill>
                  <a:srgbClr val="1E2230"/>
                </a:solidFill>
                <a:latin typeface="Calibri" pitchFamily="34" charset="0"/>
                <a:ea typeface="Calibri" pitchFamily="34" charset="-122"/>
                <a:cs typeface="Calibri" pitchFamily="34" charset="-120"/>
              </a:rPr>
              <a:t>push detection → scan → triage → fix → proof → PR</a:t>
            </a:r>
            <a:endParaRPr lang="en-US" sz="1350" dirty="0"/>
          </a:p>
          <a:p>
            <a:pPr indent="0" marL="0">
              <a:spcAft>
                <a:spcPts val="400"/>
              </a:spcAft>
              <a:buNone/>
            </a:pPr>
            <a:r>
              <a:rPr lang="en-US" sz="1350" b="1" dirty="0">
                <a:solidFill>
                  <a:srgbClr val="1F9D55"/>
                </a:solidFill>
                <a:latin typeface="Calibri" pitchFamily="34" charset="0"/>
                <a:ea typeface="Calibri" pitchFamily="34" charset="-122"/>
                <a:cs typeface="Calibri" pitchFamily="34" charset="-120"/>
              </a:rPr>
              <a:t>✓  </a:t>
            </a:r>
            <a:pPr indent="0" marL="0">
              <a:spcAft>
                <a:spcPts val="400"/>
              </a:spcAft>
              <a:buNone/>
            </a:pPr>
            <a:r>
              <a:rPr lang="en-US" sz="1350" b="1" dirty="0">
                <a:solidFill>
                  <a:srgbClr val="1E2230"/>
                </a:solidFill>
                <a:latin typeface="Calibri" pitchFamily="34" charset="0"/>
                <a:ea typeface="Calibri" pitchFamily="34" charset="-122"/>
                <a:cs typeface="Calibri" pitchFamily="34" charset="-120"/>
              </a:rPr>
              <a:t>Done: </a:t>
            </a:r>
            <a:pPr indent="0" marL="0">
              <a:spcAft>
                <a:spcPts val="400"/>
              </a:spcAft>
              <a:buNone/>
            </a:pPr>
            <a:r>
              <a:rPr lang="en-US" sz="1350" dirty="0">
                <a:solidFill>
                  <a:srgbClr val="1E2230"/>
                </a:solidFill>
                <a:latin typeface="Calibri" pitchFamily="34" charset="0"/>
                <a:ea typeface="Calibri" pitchFamily="34" charset="-122"/>
                <a:cs typeface="Calibri" pitchFamily="34" charset="-120"/>
              </a:rPr>
              <a:t>Fix all (4 parallel) + commit-level checks</a:t>
            </a:r>
            <a:endParaRPr lang="en-US" sz="1350" dirty="0"/>
          </a:p>
          <a:p>
            <a:pPr indent="0" marL="0">
              <a:spcAft>
                <a:spcPts val="400"/>
              </a:spcAft>
              <a:buNone/>
            </a:pPr>
            <a:r>
              <a:rPr lang="en-US" sz="1350" b="1" dirty="0">
                <a:solidFill>
                  <a:srgbClr val="1F9D55"/>
                </a:solidFill>
                <a:latin typeface="Calibri" pitchFamily="34" charset="0"/>
                <a:ea typeface="Calibri" pitchFamily="34" charset="-122"/>
                <a:cs typeface="Calibri" pitchFamily="34" charset="-120"/>
              </a:rPr>
              <a:t>✓  </a:t>
            </a:r>
            <a:pPr indent="0" marL="0">
              <a:spcAft>
                <a:spcPts val="400"/>
              </a:spcAft>
              <a:buNone/>
            </a:pPr>
            <a:r>
              <a:rPr lang="en-US" sz="1350" b="1" dirty="0">
                <a:solidFill>
                  <a:srgbClr val="1E2230"/>
                </a:solidFill>
                <a:latin typeface="Calibri" pitchFamily="34" charset="0"/>
                <a:ea typeface="Calibri" pitchFamily="34" charset="-122"/>
                <a:cs typeface="Calibri" pitchFamily="34" charset="-120"/>
              </a:rPr>
              <a:t>Done: </a:t>
            </a:r>
            <a:pPr indent="0" marL="0">
              <a:spcAft>
                <a:spcPts val="400"/>
              </a:spcAft>
              <a:buNone/>
            </a:pPr>
            <a:r>
              <a:rPr lang="en-US" sz="1350" dirty="0">
                <a:solidFill>
                  <a:srgbClr val="1E2230"/>
                </a:solidFill>
                <a:latin typeface="Calibri" pitchFamily="34" charset="0"/>
                <a:ea typeface="Calibri" pitchFamily="34" charset="-122"/>
                <a:cs typeface="Calibri" pitchFamily="34" charset="-120"/>
              </a:rPr>
              <a:t>chat, learning, quiz, quests &amp; rewards</a:t>
            </a:r>
            <a:endParaRPr lang="en-US" sz="1350" dirty="0"/>
          </a:p>
          <a:p>
            <a:pPr indent="0" marL="0">
              <a:spcAft>
                <a:spcPts val="400"/>
              </a:spcAft>
              <a:buNone/>
            </a:pPr>
            <a:r>
              <a:rPr lang="en-US" sz="1350" b="1" dirty="0">
                <a:solidFill>
                  <a:srgbClr val="1F9D55"/>
                </a:solidFill>
                <a:latin typeface="Calibri" pitchFamily="34" charset="0"/>
                <a:ea typeface="Calibri" pitchFamily="34" charset="-122"/>
                <a:cs typeface="Calibri" pitchFamily="34" charset="-120"/>
              </a:rPr>
              <a:t>✓  </a:t>
            </a:r>
            <a:pPr indent="0" marL="0">
              <a:spcAft>
                <a:spcPts val="400"/>
              </a:spcAft>
              <a:buNone/>
            </a:pPr>
            <a:r>
              <a:rPr lang="en-US" sz="1350" b="1" dirty="0">
                <a:solidFill>
                  <a:srgbClr val="1E2230"/>
                </a:solidFill>
                <a:latin typeface="Calibri" pitchFamily="34" charset="0"/>
                <a:ea typeface="Calibri" pitchFamily="34" charset="-122"/>
                <a:cs typeface="Calibri" pitchFamily="34" charset="-120"/>
              </a:rPr>
              <a:t>Tested: </a:t>
            </a:r>
            <a:pPr indent="0" marL="0">
              <a:spcAft>
                <a:spcPts val="400"/>
              </a:spcAft>
              <a:buNone/>
            </a:pPr>
            <a:r>
              <a:rPr lang="en-US" sz="1350" dirty="0">
                <a:solidFill>
                  <a:srgbClr val="1E2230"/>
                </a:solidFill>
                <a:latin typeface="Calibri" pitchFamily="34" charset="0"/>
                <a:ea typeface="Calibri" pitchFamily="34" charset="-122"/>
                <a:cs typeface="Calibri" pitchFamily="34" charset="-120"/>
              </a:rPr>
              <a:t>200+ automated tests passing</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pic>
        <p:nvPicPr>
          <p:cNvPr id="2" name="Image 0" descr="C:\Users\Admin\AppData\Local\Temp\claude\C--Users-Admin-Documents-Projects-HackOnTrack\4c97a385-1eae-4d0d-a267-e15be26504cc\scratchpad\deck\img\p3_x108_0_0_1440x810.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C:\Users\Admin\AppData\Local\Temp\claude\C--Users-Admin-Documents-Projects-HackOnTrack\4c97a385-1eae-4d0d-a267-e15be26504cc\scratchpad\deck\img\p2_x117_21_9_121x119.png">    </p:cNvPr>
          <p:cNvPicPr>
            <a:picLocks noChangeAspect="1"/>
          </p:cNvPicPr>
          <p:nvPr/>
        </p:nvPicPr>
        <p:blipFill>
          <a:blip r:embed="rId2"/>
          <a:stretch>
            <a:fillRect/>
          </a:stretch>
        </p:blipFill>
        <p:spPr>
          <a:xfrm>
            <a:off x="256032" y="128016"/>
            <a:ext cx="1536192" cy="1508760"/>
          </a:xfrm>
          <a:prstGeom prst="rect">
            <a:avLst/>
          </a:prstGeom>
        </p:spPr>
      </p:pic>
      <p:pic>
        <p:nvPicPr>
          <p:cNvPr id="4" name="Image 2" descr="C:\Users\Admin\AppData\Local\Temp\claude\C--Users-Admin-Documents-Projects-HackOnTrack\4c97a385-1eae-4d0d-a267-e15be26504cc\scratchpad\deck\img\p2_x115_1297_9_119x119.png">    </p:cNvPr>
          <p:cNvPicPr>
            <a:picLocks noChangeAspect="1"/>
          </p:cNvPicPr>
          <p:nvPr/>
        </p:nvPicPr>
        <p:blipFill>
          <a:blip r:embed="rId3"/>
          <a:stretch>
            <a:fillRect/>
          </a:stretch>
        </p:blipFill>
        <p:spPr>
          <a:xfrm>
            <a:off x="16477488" y="128016"/>
            <a:ext cx="1508760" cy="1508760"/>
          </a:xfrm>
          <a:prstGeom prst="rect">
            <a:avLst/>
          </a:prstGeom>
        </p:spPr>
      </p:pic>
      <p:pic>
        <p:nvPicPr>
          <p:cNvPr id="5" name="Image 3" descr="C:\Users\Admin\AppData\Local\Temp\claude\C--Users-Admin-Documents-Projects-HackOnTrack\4c97a385-1eae-4d0d-a267-e15be26504cc\scratchpad\deck\img\title_r2_1.png">    </p:cNvPr>
          <p:cNvPicPr>
            <a:picLocks noChangeAspect="1"/>
          </p:cNvPicPr>
          <p:nvPr/>
        </p:nvPicPr>
        <p:blipFill>
          <a:blip r:embed="rId4"/>
          <a:stretch>
            <a:fillRect/>
          </a:stretch>
        </p:blipFill>
        <p:spPr>
          <a:xfrm>
            <a:off x="4989603" y="356616"/>
            <a:ext cx="8308795" cy="1024128"/>
          </a:xfrm>
          <a:prstGeom prst="rect">
            <a:avLst/>
          </a:prstGeom>
        </p:spPr>
      </p:pic>
      <p:sp>
        <p:nvSpPr>
          <p:cNvPr id="6" name="Shape 0"/>
          <p:cNvSpPr/>
          <p:nvPr/>
        </p:nvSpPr>
        <p:spPr>
          <a:xfrm>
            <a:off x="228600" y="1783080"/>
            <a:ext cx="8732520" cy="4846320"/>
          </a:xfrm>
          <a:prstGeom prst="roundRect">
            <a:avLst>
              <a:gd name="adj" fmla="val 2642"/>
            </a:avLst>
          </a:prstGeom>
          <a:solidFill>
            <a:srgbClr val="F2F1FA"/>
          </a:solidFill>
          <a:ln w="19050">
            <a:solidFill>
              <a:srgbClr val="8F86B8"/>
            </a:solidFill>
            <a:prstDash val="solid"/>
          </a:ln>
          <a:effectLst>
            <a:outerShdw sx="100000" sy="100000" kx="0" ky="0" algn="bl" rotWithShape="0" blurRad="101600" dist="38100" dir="5400000">
              <a:srgbClr val="000000">
                <a:alpha val="25000"/>
              </a:srgbClr>
            </a:outerShdw>
          </a:effectLst>
        </p:spPr>
      </p:sp>
      <p:sp>
        <p:nvSpPr>
          <p:cNvPr id="7" name="Shape 1"/>
          <p:cNvSpPr/>
          <p:nvPr/>
        </p:nvSpPr>
        <p:spPr>
          <a:xfrm>
            <a:off x="411480" y="1901952"/>
            <a:ext cx="566928" cy="566928"/>
          </a:xfrm>
          <a:prstGeom prst="ellipse">
            <a:avLst/>
          </a:prstGeom>
          <a:solidFill>
            <a:srgbClr val="1B2A6B"/>
          </a:solidFill>
          <a:ln/>
        </p:spPr>
      </p:sp>
      <p:pic>
        <p:nvPicPr>
          <p:cNvPr id="8" name="Image 4" descr="preencoded.png">    </p:cNvPr>
          <p:cNvPicPr>
            <a:picLocks noChangeAspect="1"/>
          </p:cNvPicPr>
          <p:nvPr/>
        </p:nvPicPr>
        <p:blipFill>
          <a:blip r:embed="rId5"/>
          <a:stretch>
            <a:fillRect/>
          </a:stretch>
        </p:blipFill>
        <p:spPr>
          <a:xfrm>
            <a:off x="536204" y="2026676"/>
            <a:ext cx="317480" cy="317480"/>
          </a:xfrm>
          <a:prstGeom prst="rect">
            <a:avLst/>
          </a:prstGeom>
        </p:spPr>
      </p:pic>
      <p:sp>
        <p:nvSpPr>
          <p:cNvPr id="9" name="Text 2"/>
          <p:cNvSpPr txBox="1"/>
          <p:nvPr/>
        </p:nvSpPr>
        <p:spPr>
          <a:xfrm>
            <a:off x="1097280" y="1938528"/>
            <a:ext cx="5486400" cy="502920"/>
          </a:xfrm>
          <a:prstGeom prst="rect">
            <a:avLst/>
          </a:prstGeom>
          <a:noFill/>
          <a:ln/>
        </p:spPr>
        <p:txBody>
          <a:bodyPr wrap="square" lIns="0" tIns="0" rIns="0" bIns="0" rtlCol="0" anchor="t"/>
          <a:lstStyle/>
          <a:p>
            <a:pPr indent="0" marL="0">
              <a:buNone/>
            </a:pPr>
            <a:r>
              <a:rPr lang="en-US" sz="2400" b="1" dirty="0">
                <a:solidFill>
                  <a:srgbClr val="1B2A6B"/>
                </a:solidFill>
                <a:latin typeface="Calibri" pitchFamily="34" charset="0"/>
                <a:ea typeface="Calibri" pitchFamily="34" charset="-122"/>
                <a:cs typeface="Calibri" pitchFamily="34" charset="-120"/>
              </a:rPr>
              <a:t>FEASIBILITY:</a:t>
            </a:r>
            <a:endParaRPr lang="en-US" sz="2400" dirty="0"/>
          </a:p>
        </p:txBody>
      </p:sp>
      <p:sp>
        <p:nvSpPr>
          <p:cNvPr id="10" name="Shape 3"/>
          <p:cNvSpPr/>
          <p:nvPr/>
        </p:nvSpPr>
        <p:spPr>
          <a:xfrm>
            <a:off x="411480" y="2560320"/>
            <a:ext cx="8366760" cy="896112"/>
          </a:xfrm>
          <a:prstGeom prst="roundRect">
            <a:avLst>
              <a:gd name="adj" fmla="val 10204"/>
            </a:avLst>
          </a:prstGeom>
          <a:solidFill>
            <a:srgbClr val="FFFFFF"/>
          </a:solidFill>
          <a:ln w="15875">
            <a:solidFill>
              <a:srgbClr val="C9C3E3"/>
            </a:solidFill>
            <a:prstDash val="solid"/>
          </a:ln>
        </p:spPr>
      </p:sp>
      <p:sp>
        <p:nvSpPr>
          <p:cNvPr id="11" name="Text 4"/>
          <p:cNvSpPr txBox="1"/>
          <p:nvPr/>
        </p:nvSpPr>
        <p:spPr>
          <a:xfrm>
            <a:off x="566928" y="2560320"/>
            <a:ext cx="8138160" cy="896112"/>
          </a:xfrm>
          <a:prstGeom prst="rect">
            <a:avLst/>
          </a:prstGeom>
          <a:noFill/>
          <a:ln/>
        </p:spPr>
        <p:txBody>
          <a:bodyPr wrap="square" lIns="0" tIns="0" rIns="0" bIns="0" rtlCol="0" anchor="ctr"/>
          <a:lstStyle/>
          <a:p>
            <a:pPr indent="0" marL="0">
              <a:buNone/>
            </a:pPr>
            <a:r>
              <a:rPr lang="en-US" sz="1400" b="1" u="sng" dirty="0">
                <a:solidFill>
                  <a:srgbClr val="1E2230"/>
                </a:solidFill>
                <a:latin typeface="Calibri" pitchFamily="34" charset="0"/>
                <a:ea typeface="Calibri" pitchFamily="34" charset="-122"/>
                <a:cs typeface="Calibri" pitchFamily="34" charset="-120"/>
              </a:rPr>
              <a:t>Technical: </a:t>
            </a:r>
            <a:pPr indent="0" marL="0">
              <a:buNone/>
            </a:pPr>
            <a:r>
              <a:rPr lang="en-US" sz="1400" dirty="0">
                <a:solidFill>
                  <a:srgbClr val="1E2230"/>
                </a:solidFill>
                <a:latin typeface="Calibri" pitchFamily="34" charset="0"/>
                <a:ea typeface="Calibri" pitchFamily="34" charset="-122"/>
                <a:cs typeface="Calibri" pitchFamily="34" charset="-120"/>
              </a:rPr>
              <a:t>works end to end today on real GitHub repos (detect → exploit → patch → proof → PR); one model call per finding in fast mode.</a:t>
            </a:r>
            <a:endParaRPr lang="en-US" sz="1400" dirty="0"/>
          </a:p>
        </p:txBody>
      </p:sp>
      <p:sp>
        <p:nvSpPr>
          <p:cNvPr id="12" name="Shape 5"/>
          <p:cNvSpPr/>
          <p:nvPr/>
        </p:nvSpPr>
        <p:spPr>
          <a:xfrm>
            <a:off x="411480" y="3547872"/>
            <a:ext cx="8366760" cy="896112"/>
          </a:xfrm>
          <a:prstGeom prst="roundRect">
            <a:avLst>
              <a:gd name="adj" fmla="val 10204"/>
            </a:avLst>
          </a:prstGeom>
          <a:solidFill>
            <a:srgbClr val="FFFFFF"/>
          </a:solidFill>
          <a:ln w="15875">
            <a:solidFill>
              <a:srgbClr val="C9C3E3"/>
            </a:solidFill>
            <a:prstDash val="solid"/>
          </a:ln>
        </p:spPr>
      </p:sp>
      <p:sp>
        <p:nvSpPr>
          <p:cNvPr id="13" name="Text 6"/>
          <p:cNvSpPr txBox="1"/>
          <p:nvPr/>
        </p:nvSpPr>
        <p:spPr>
          <a:xfrm>
            <a:off x="566928" y="3547872"/>
            <a:ext cx="8138160" cy="896112"/>
          </a:xfrm>
          <a:prstGeom prst="rect">
            <a:avLst/>
          </a:prstGeom>
          <a:noFill/>
          <a:ln/>
        </p:spPr>
        <p:txBody>
          <a:bodyPr wrap="square" lIns="0" tIns="0" rIns="0" bIns="0" rtlCol="0" anchor="ctr"/>
          <a:lstStyle/>
          <a:p>
            <a:pPr indent="0" marL="0">
              <a:buNone/>
            </a:pPr>
            <a:r>
              <a:rPr lang="en-US" sz="1400" b="1" u="sng" dirty="0">
                <a:solidFill>
                  <a:srgbClr val="1E2230"/>
                </a:solidFill>
                <a:latin typeface="Calibri" pitchFamily="34" charset="0"/>
                <a:ea typeface="Calibri" pitchFamily="34" charset="-122"/>
                <a:cs typeface="Calibri" pitchFamily="34" charset="-120"/>
              </a:rPr>
              <a:t>Operational: </a:t>
            </a:r>
            <a:pPr indent="0" marL="0">
              <a:buNone/>
            </a:pPr>
            <a:r>
              <a:rPr lang="en-US" sz="1400" dirty="0">
                <a:solidFill>
                  <a:srgbClr val="1E2230"/>
                </a:solidFill>
                <a:latin typeface="Calibri" pitchFamily="34" charset="0"/>
                <a:ea typeface="Calibri" pitchFamily="34" charset="-122"/>
                <a:cs typeface="Calibri" pitchFamily="34" charset="-120"/>
              </a:rPr>
              <a:t>one FastAPI process + SQLite, runs on a laptop, no GPU; the LLM is any OpenAI-compatible endpoint, so it is swappable.</a:t>
            </a:r>
            <a:endParaRPr lang="en-US" sz="1400" dirty="0"/>
          </a:p>
        </p:txBody>
      </p:sp>
      <p:sp>
        <p:nvSpPr>
          <p:cNvPr id="14" name="Shape 7"/>
          <p:cNvSpPr/>
          <p:nvPr/>
        </p:nvSpPr>
        <p:spPr>
          <a:xfrm>
            <a:off x="411480" y="4535424"/>
            <a:ext cx="8366760" cy="896112"/>
          </a:xfrm>
          <a:prstGeom prst="roundRect">
            <a:avLst>
              <a:gd name="adj" fmla="val 10204"/>
            </a:avLst>
          </a:prstGeom>
          <a:solidFill>
            <a:srgbClr val="FFFFFF"/>
          </a:solidFill>
          <a:ln w="15875">
            <a:solidFill>
              <a:srgbClr val="C9C3E3"/>
            </a:solidFill>
            <a:prstDash val="solid"/>
          </a:ln>
        </p:spPr>
      </p:sp>
      <p:sp>
        <p:nvSpPr>
          <p:cNvPr id="15" name="Text 8"/>
          <p:cNvSpPr txBox="1"/>
          <p:nvPr/>
        </p:nvSpPr>
        <p:spPr>
          <a:xfrm>
            <a:off x="566928" y="4535424"/>
            <a:ext cx="8138160" cy="896112"/>
          </a:xfrm>
          <a:prstGeom prst="rect">
            <a:avLst/>
          </a:prstGeom>
          <a:noFill/>
          <a:ln/>
        </p:spPr>
        <p:txBody>
          <a:bodyPr wrap="square" lIns="0" tIns="0" rIns="0" bIns="0" rtlCol="0" anchor="ctr"/>
          <a:lstStyle/>
          <a:p>
            <a:pPr indent="0" marL="0">
              <a:buNone/>
            </a:pPr>
            <a:r>
              <a:rPr lang="en-US" sz="1400" b="1" u="sng" dirty="0">
                <a:solidFill>
                  <a:srgbClr val="1E2230"/>
                </a:solidFill>
                <a:latin typeface="Calibri" pitchFamily="34" charset="0"/>
                <a:ea typeface="Calibri" pitchFamily="34" charset="-122"/>
                <a:cs typeface="Calibri" pitchFamily="34" charset="-120"/>
              </a:rPr>
              <a:t>Social: </a:t>
            </a:r>
            <a:pPr indent="0" marL="0">
              <a:buNone/>
            </a:pPr>
            <a:r>
              <a:rPr lang="en-US" sz="1400" dirty="0">
                <a:solidFill>
                  <a:srgbClr val="1E2230"/>
                </a:solidFill>
                <a:latin typeface="Calibri" pitchFamily="34" charset="0"/>
                <a:ea typeface="Calibri" pitchFamily="34" charset="-122"/>
                <a:cs typeface="Calibri" pitchFamily="34" charset="-120"/>
              </a:rPr>
              <a:t>every verdict is explained in plain words with learning links, so developers learn secure coding from their own bugs.</a:t>
            </a:r>
            <a:endParaRPr lang="en-US" sz="1400" dirty="0"/>
          </a:p>
        </p:txBody>
      </p:sp>
      <p:sp>
        <p:nvSpPr>
          <p:cNvPr id="16" name="Shape 9"/>
          <p:cNvSpPr/>
          <p:nvPr/>
        </p:nvSpPr>
        <p:spPr>
          <a:xfrm>
            <a:off x="411480" y="5522976"/>
            <a:ext cx="8366760" cy="896112"/>
          </a:xfrm>
          <a:prstGeom prst="roundRect">
            <a:avLst>
              <a:gd name="adj" fmla="val 10204"/>
            </a:avLst>
          </a:prstGeom>
          <a:solidFill>
            <a:srgbClr val="FFFFFF"/>
          </a:solidFill>
          <a:ln w="15875">
            <a:solidFill>
              <a:srgbClr val="C9C3E3"/>
            </a:solidFill>
            <a:prstDash val="solid"/>
          </a:ln>
        </p:spPr>
      </p:sp>
      <p:sp>
        <p:nvSpPr>
          <p:cNvPr id="17" name="Text 10"/>
          <p:cNvSpPr txBox="1"/>
          <p:nvPr/>
        </p:nvSpPr>
        <p:spPr>
          <a:xfrm>
            <a:off x="566928" y="5522976"/>
            <a:ext cx="8138160" cy="896112"/>
          </a:xfrm>
          <a:prstGeom prst="rect">
            <a:avLst/>
          </a:prstGeom>
          <a:noFill/>
          <a:ln/>
        </p:spPr>
        <p:txBody>
          <a:bodyPr wrap="square" lIns="0" tIns="0" rIns="0" bIns="0" rtlCol="0" anchor="ctr"/>
          <a:lstStyle/>
          <a:p>
            <a:pPr indent="0" marL="0">
              <a:buNone/>
            </a:pPr>
            <a:r>
              <a:rPr lang="en-US" sz="1400" b="1" u="sng" dirty="0">
                <a:solidFill>
                  <a:srgbClr val="1E2230"/>
                </a:solidFill>
                <a:latin typeface="Calibri" pitchFamily="34" charset="0"/>
                <a:ea typeface="Calibri" pitchFamily="34" charset="-122"/>
                <a:cs typeface="Calibri" pitchFamily="34" charset="-120"/>
              </a:rPr>
              <a:t>Economical: </a:t>
            </a:r>
            <a:pPr indent="0" marL="0">
              <a:buNone/>
            </a:pPr>
            <a:r>
              <a:rPr lang="en-US" sz="1400" dirty="0">
                <a:solidFill>
                  <a:srgbClr val="1E2230"/>
                </a:solidFill>
                <a:latin typeface="Calibri" pitchFamily="34" charset="0"/>
                <a:ea typeface="Calibri" pitchFamily="34" charset="-122"/>
                <a:cs typeface="Calibri" pitchFamily="34" charset="-120"/>
              </a:rPr>
              <a:t>free-tier LLM + open-source scanners; cost is about one model call per finding.</a:t>
            </a:r>
            <a:endParaRPr lang="en-US" sz="1400" dirty="0"/>
          </a:p>
        </p:txBody>
      </p:sp>
      <p:sp>
        <p:nvSpPr>
          <p:cNvPr id="18" name="Shape 11"/>
          <p:cNvSpPr/>
          <p:nvPr/>
        </p:nvSpPr>
        <p:spPr>
          <a:xfrm>
            <a:off x="228600" y="6784848"/>
            <a:ext cx="8732520" cy="3337560"/>
          </a:xfrm>
          <a:prstGeom prst="roundRect">
            <a:avLst>
              <a:gd name="adj" fmla="val 3836"/>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19" name="Text 12"/>
          <p:cNvSpPr txBox="1"/>
          <p:nvPr/>
        </p:nvSpPr>
        <p:spPr>
          <a:xfrm>
            <a:off x="457200" y="6876288"/>
            <a:ext cx="8229600" cy="411480"/>
          </a:xfrm>
          <a:prstGeom prst="rect">
            <a:avLst/>
          </a:prstGeom>
          <a:noFill/>
          <a:ln/>
        </p:spPr>
        <p:txBody>
          <a:bodyPr wrap="square" lIns="0" tIns="0" rIns="0" bIns="0" rtlCol="0" anchor="t"/>
          <a:lstStyle/>
          <a:p>
            <a:pPr indent="0" marL="0">
              <a:buNone/>
            </a:pPr>
            <a:r>
              <a:rPr lang="en-US" sz="1800" b="1" dirty="0">
                <a:solidFill>
                  <a:srgbClr val="1B2A6B"/>
                </a:solidFill>
                <a:latin typeface="Calibri" pitchFamily="34" charset="0"/>
                <a:ea typeface="Calibri" pitchFamily="34" charset="-122"/>
                <a:cs typeface="Calibri" pitchFamily="34" charset="-120"/>
              </a:rPr>
              <a:t>SCALABILITY ROADMAP: MVP TO PLATFORM</a:t>
            </a:r>
            <a:endParaRPr lang="en-US" sz="1800" dirty="0"/>
          </a:p>
        </p:txBody>
      </p:sp>
      <p:sp>
        <p:nvSpPr>
          <p:cNvPr id="20" name="Shape 13"/>
          <p:cNvSpPr/>
          <p:nvPr/>
        </p:nvSpPr>
        <p:spPr>
          <a:xfrm>
            <a:off x="411480" y="7424928"/>
            <a:ext cx="1645920" cy="566928"/>
          </a:xfrm>
          <a:prstGeom prst="chevron">
            <a:avLst/>
          </a:prstGeom>
          <a:solidFill>
            <a:srgbClr val="1565C0"/>
          </a:solidFill>
          <a:ln/>
        </p:spPr>
      </p:sp>
      <p:sp>
        <p:nvSpPr>
          <p:cNvPr id="21" name="Text 14"/>
          <p:cNvSpPr txBox="1"/>
          <p:nvPr/>
        </p:nvSpPr>
        <p:spPr>
          <a:xfrm>
            <a:off x="548640" y="7424928"/>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 MVP</a:t>
            </a:r>
            <a:endParaRPr lang="en-US" sz="1300" dirty="0"/>
          </a:p>
        </p:txBody>
      </p:sp>
      <p:sp>
        <p:nvSpPr>
          <p:cNvPr id="22" name="Shape 15"/>
          <p:cNvSpPr/>
          <p:nvPr/>
        </p:nvSpPr>
        <p:spPr>
          <a:xfrm>
            <a:off x="457200" y="8183880"/>
            <a:ext cx="1517904" cy="1783080"/>
          </a:xfrm>
          <a:prstGeom prst="roundRect">
            <a:avLst>
              <a:gd name="adj" fmla="val 3614"/>
            </a:avLst>
          </a:prstGeom>
          <a:solidFill>
            <a:srgbClr val="FFFFFF"/>
          </a:solidFill>
          <a:ln w="15875">
            <a:solidFill>
              <a:srgbClr val="1565C0"/>
            </a:solidFill>
            <a:prstDash val="solid"/>
          </a:ln>
        </p:spPr>
      </p:sp>
      <p:sp>
        <p:nvSpPr>
          <p:cNvPr id="23" name="Text 16"/>
          <p:cNvSpPr txBox="1"/>
          <p:nvPr/>
        </p:nvSpPr>
        <p:spPr>
          <a:xfrm>
            <a:off x="521208" y="8275320"/>
            <a:ext cx="1389888" cy="1600200"/>
          </a:xfrm>
          <a:prstGeom prst="rect">
            <a:avLst/>
          </a:prstGeom>
          <a:noFill/>
          <a:ln/>
        </p:spPr>
        <p:txBody>
          <a:bodyPr wrap="square" lIns="0" tIns="0" rIns="0" bIns="0" rtlCol="0" anchor="ctr"/>
          <a:lstStyle/>
          <a:p>
            <a:pPr algn="ctr" indent="0" marL="0">
              <a:buNone/>
            </a:pPr>
            <a:r>
              <a:rPr lang="en-US" sz="1250" b="1" dirty="0">
                <a:solidFill>
                  <a:srgbClr val="1565C0"/>
                </a:solidFill>
                <a:latin typeface="Calibri" pitchFamily="34" charset="0"/>
                <a:ea typeface="Calibri" pitchFamily="34" charset="-122"/>
                <a:cs typeface="Calibri" pitchFamily="34" charset="-120"/>
              </a:rPr>
              <a:t>One laptop, demo + student repos</a:t>
            </a:r>
            <a:endParaRPr lang="en-US" sz="1250" dirty="0"/>
          </a:p>
        </p:txBody>
      </p:sp>
      <p:sp>
        <p:nvSpPr>
          <p:cNvPr id="24" name="Shape 17"/>
          <p:cNvSpPr/>
          <p:nvPr/>
        </p:nvSpPr>
        <p:spPr>
          <a:xfrm>
            <a:off x="2112264" y="7424928"/>
            <a:ext cx="1645920" cy="566928"/>
          </a:xfrm>
          <a:prstGeom prst="chevron">
            <a:avLst/>
          </a:prstGeom>
          <a:solidFill>
            <a:srgbClr val="00838F"/>
          </a:solidFill>
          <a:ln/>
        </p:spPr>
      </p:sp>
      <p:sp>
        <p:nvSpPr>
          <p:cNvPr id="25" name="Text 18"/>
          <p:cNvSpPr txBox="1"/>
          <p:nvPr/>
        </p:nvSpPr>
        <p:spPr>
          <a:xfrm>
            <a:off x="2249424" y="7424928"/>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 · PILOT</a:t>
            </a:r>
            <a:endParaRPr lang="en-US" sz="1300" dirty="0"/>
          </a:p>
        </p:txBody>
      </p:sp>
      <p:sp>
        <p:nvSpPr>
          <p:cNvPr id="26" name="Shape 19"/>
          <p:cNvSpPr/>
          <p:nvPr/>
        </p:nvSpPr>
        <p:spPr>
          <a:xfrm>
            <a:off x="2157984" y="8183880"/>
            <a:ext cx="1517904" cy="1783080"/>
          </a:xfrm>
          <a:prstGeom prst="roundRect">
            <a:avLst>
              <a:gd name="adj" fmla="val 3614"/>
            </a:avLst>
          </a:prstGeom>
          <a:solidFill>
            <a:srgbClr val="FFFFFF"/>
          </a:solidFill>
          <a:ln w="15875">
            <a:solidFill>
              <a:srgbClr val="00838F"/>
            </a:solidFill>
            <a:prstDash val="solid"/>
          </a:ln>
        </p:spPr>
      </p:sp>
      <p:sp>
        <p:nvSpPr>
          <p:cNvPr id="27" name="Text 20"/>
          <p:cNvSpPr txBox="1"/>
          <p:nvPr/>
        </p:nvSpPr>
        <p:spPr>
          <a:xfrm>
            <a:off x="2221992" y="8275320"/>
            <a:ext cx="1389888" cy="1600200"/>
          </a:xfrm>
          <a:prstGeom prst="rect">
            <a:avLst/>
          </a:prstGeom>
          <a:noFill/>
          <a:ln/>
        </p:spPr>
        <p:txBody>
          <a:bodyPr wrap="square" lIns="0" tIns="0" rIns="0" bIns="0" rtlCol="0" anchor="ctr"/>
          <a:lstStyle/>
          <a:p>
            <a:pPr algn="ctr" indent="0" marL="0">
              <a:buNone/>
            </a:pPr>
            <a:r>
              <a:rPr lang="en-US" sz="1250" b="1" dirty="0">
                <a:solidFill>
                  <a:srgbClr val="00838F"/>
                </a:solidFill>
                <a:latin typeface="Calibri" pitchFamily="34" charset="0"/>
                <a:ea typeface="Calibri" pitchFamily="34" charset="-122"/>
                <a:cs typeface="Calibri" pitchFamily="34" charset="-120"/>
              </a:rPr>
              <a:t>One GitHub org via webhooks</a:t>
            </a:r>
            <a:endParaRPr lang="en-US" sz="1250" dirty="0"/>
          </a:p>
        </p:txBody>
      </p:sp>
      <p:sp>
        <p:nvSpPr>
          <p:cNvPr id="28" name="Shape 21"/>
          <p:cNvSpPr/>
          <p:nvPr/>
        </p:nvSpPr>
        <p:spPr>
          <a:xfrm>
            <a:off x="3813048" y="7424928"/>
            <a:ext cx="1645920" cy="566928"/>
          </a:xfrm>
          <a:prstGeom prst="chevron">
            <a:avLst/>
          </a:prstGeom>
          <a:solidFill>
            <a:srgbClr val="2E7D32"/>
          </a:solidFill>
          <a:ln/>
        </p:spPr>
      </p:sp>
      <p:sp>
        <p:nvSpPr>
          <p:cNvPr id="29" name="Text 22"/>
          <p:cNvSpPr txBox="1"/>
          <p:nvPr/>
        </p:nvSpPr>
        <p:spPr>
          <a:xfrm>
            <a:off x="3950208" y="7424928"/>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 CI</a:t>
            </a:r>
            <a:endParaRPr lang="en-US" sz="1300" dirty="0"/>
          </a:p>
        </p:txBody>
      </p:sp>
      <p:sp>
        <p:nvSpPr>
          <p:cNvPr id="30" name="Shape 23"/>
          <p:cNvSpPr/>
          <p:nvPr/>
        </p:nvSpPr>
        <p:spPr>
          <a:xfrm>
            <a:off x="3858768" y="8183880"/>
            <a:ext cx="1517904" cy="1783080"/>
          </a:xfrm>
          <a:prstGeom prst="roundRect">
            <a:avLst>
              <a:gd name="adj" fmla="val 3614"/>
            </a:avLst>
          </a:prstGeom>
          <a:solidFill>
            <a:srgbClr val="FFFFFF"/>
          </a:solidFill>
          <a:ln w="15875">
            <a:solidFill>
              <a:srgbClr val="2E7D32"/>
            </a:solidFill>
            <a:prstDash val="solid"/>
          </a:ln>
        </p:spPr>
      </p:sp>
      <p:sp>
        <p:nvSpPr>
          <p:cNvPr id="31" name="Text 24"/>
          <p:cNvSpPr txBox="1"/>
          <p:nvPr/>
        </p:nvSpPr>
        <p:spPr>
          <a:xfrm>
            <a:off x="3922776" y="8275320"/>
            <a:ext cx="1389888" cy="1600200"/>
          </a:xfrm>
          <a:prstGeom prst="rect">
            <a:avLst/>
          </a:prstGeom>
          <a:noFill/>
          <a:ln/>
        </p:spPr>
        <p:txBody>
          <a:bodyPr wrap="square" lIns="0" tIns="0" rIns="0" bIns="0" rtlCol="0" anchor="ctr"/>
          <a:lstStyle/>
          <a:p>
            <a:pPr algn="ctr" indent="0" marL="0">
              <a:buNone/>
            </a:pPr>
            <a:r>
              <a:rPr lang="en-US" sz="1250" b="1" dirty="0">
                <a:solidFill>
                  <a:srgbClr val="2E7D32"/>
                </a:solidFill>
                <a:latin typeface="Calibri" pitchFamily="34" charset="0"/>
                <a:ea typeface="Calibri" pitchFamily="34" charset="-122"/>
                <a:cs typeface="Calibri" pitchFamily="34" charset="-120"/>
              </a:rPr>
              <a:t>GitHub App: check on every PR</a:t>
            </a:r>
            <a:endParaRPr lang="en-US" sz="1250" dirty="0"/>
          </a:p>
        </p:txBody>
      </p:sp>
      <p:sp>
        <p:nvSpPr>
          <p:cNvPr id="32" name="Shape 25"/>
          <p:cNvSpPr/>
          <p:nvPr/>
        </p:nvSpPr>
        <p:spPr>
          <a:xfrm>
            <a:off x="5513832" y="7424928"/>
            <a:ext cx="1645920" cy="566928"/>
          </a:xfrm>
          <a:prstGeom prst="chevron">
            <a:avLst/>
          </a:prstGeom>
          <a:solidFill>
            <a:srgbClr val="6D4C9F"/>
          </a:solidFill>
          <a:ln/>
        </p:spPr>
      </p:sp>
      <p:sp>
        <p:nvSpPr>
          <p:cNvPr id="33" name="Text 26"/>
          <p:cNvSpPr txBox="1"/>
          <p:nvPr/>
        </p:nvSpPr>
        <p:spPr>
          <a:xfrm>
            <a:off x="5650992" y="7424928"/>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 · SANDBOX</a:t>
            </a:r>
            <a:endParaRPr lang="en-US" sz="1300" dirty="0"/>
          </a:p>
        </p:txBody>
      </p:sp>
      <p:sp>
        <p:nvSpPr>
          <p:cNvPr id="34" name="Shape 27"/>
          <p:cNvSpPr/>
          <p:nvPr/>
        </p:nvSpPr>
        <p:spPr>
          <a:xfrm>
            <a:off x="5559552" y="8183880"/>
            <a:ext cx="1517904" cy="1783080"/>
          </a:xfrm>
          <a:prstGeom prst="roundRect">
            <a:avLst>
              <a:gd name="adj" fmla="val 3614"/>
            </a:avLst>
          </a:prstGeom>
          <a:solidFill>
            <a:srgbClr val="FFFFFF"/>
          </a:solidFill>
          <a:ln w="15875">
            <a:solidFill>
              <a:srgbClr val="6D4C9F"/>
            </a:solidFill>
            <a:prstDash val="solid"/>
          </a:ln>
        </p:spPr>
      </p:sp>
      <p:sp>
        <p:nvSpPr>
          <p:cNvPr id="35" name="Text 28"/>
          <p:cNvSpPr txBox="1"/>
          <p:nvPr/>
        </p:nvSpPr>
        <p:spPr>
          <a:xfrm>
            <a:off x="5623560" y="8275320"/>
            <a:ext cx="1389888" cy="1600200"/>
          </a:xfrm>
          <a:prstGeom prst="rect">
            <a:avLst/>
          </a:prstGeom>
          <a:noFill/>
          <a:ln/>
        </p:spPr>
        <p:txBody>
          <a:bodyPr wrap="square" lIns="0" tIns="0" rIns="0" bIns="0" rtlCol="0" anchor="ctr"/>
          <a:lstStyle/>
          <a:p>
            <a:pPr algn="ctr" indent="0" marL="0">
              <a:buNone/>
            </a:pPr>
            <a:r>
              <a:rPr lang="en-US" sz="1250" b="1" dirty="0">
                <a:solidFill>
                  <a:srgbClr val="6D4C9F"/>
                </a:solidFill>
                <a:latin typeface="Calibri" pitchFamily="34" charset="0"/>
                <a:ea typeface="Calibri" pitchFamily="34" charset="-122"/>
                <a:cs typeface="Calibri" pitchFamily="34" charset="-120"/>
              </a:rPr>
              <a:t>Docker, no network, more languages</a:t>
            </a:r>
            <a:endParaRPr lang="en-US" sz="1250" dirty="0"/>
          </a:p>
        </p:txBody>
      </p:sp>
      <p:sp>
        <p:nvSpPr>
          <p:cNvPr id="36" name="Shape 29"/>
          <p:cNvSpPr/>
          <p:nvPr/>
        </p:nvSpPr>
        <p:spPr>
          <a:xfrm>
            <a:off x="7214616" y="7424928"/>
            <a:ext cx="1645920" cy="566928"/>
          </a:xfrm>
          <a:prstGeom prst="chevron">
            <a:avLst/>
          </a:prstGeom>
          <a:solidFill>
            <a:srgbClr val="C0392B"/>
          </a:solidFill>
          <a:ln/>
        </p:spPr>
      </p:sp>
      <p:sp>
        <p:nvSpPr>
          <p:cNvPr id="37" name="Text 30"/>
          <p:cNvSpPr txBox="1"/>
          <p:nvPr/>
        </p:nvSpPr>
        <p:spPr>
          <a:xfrm>
            <a:off x="7351776" y="7424928"/>
            <a:ext cx="1417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 · SCALE</a:t>
            </a:r>
            <a:endParaRPr lang="en-US" sz="1300" dirty="0"/>
          </a:p>
        </p:txBody>
      </p:sp>
      <p:sp>
        <p:nvSpPr>
          <p:cNvPr id="38" name="Shape 31"/>
          <p:cNvSpPr/>
          <p:nvPr/>
        </p:nvSpPr>
        <p:spPr>
          <a:xfrm>
            <a:off x="7260336" y="8183880"/>
            <a:ext cx="1517904" cy="1783080"/>
          </a:xfrm>
          <a:prstGeom prst="roundRect">
            <a:avLst>
              <a:gd name="adj" fmla="val 3614"/>
            </a:avLst>
          </a:prstGeom>
          <a:solidFill>
            <a:srgbClr val="FFFFFF"/>
          </a:solidFill>
          <a:ln w="15875">
            <a:solidFill>
              <a:srgbClr val="C0392B"/>
            </a:solidFill>
            <a:prstDash val="solid"/>
          </a:ln>
        </p:spPr>
      </p:sp>
      <p:sp>
        <p:nvSpPr>
          <p:cNvPr id="39" name="Text 32"/>
          <p:cNvSpPr txBox="1"/>
          <p:nvPr/>
        </p:nvSpPr>
        <p:spPr>
          <a:xfrm>
            <a:off x="7324344" y="8275320"/>
            <a:ext cx="1389888" cy="1600200"/>
          </a:xfrm>
          <a:prstGeom prst="rect">
            <a:avLst/>
          </a:prstGeom>
          <a:noFill/>
          <a:ln/>
        </p:spPr>
        <p:txBody>
          <a:bodyPr wrap="square" lIns="0" tIns="0" rIns="0" bIns="0"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Job queue + worker pool, org-wide</a:t>
            </a:r>
            <a:endParaRPr lang="en-US" sz="1250" dirty="0"/>
          </a:p>
        </p:txBody>
      </p:sp>
      <p:sp>
        <p:nvSpPr>
          <p:cNvPr id="40" name="Shape 33"/>
          <p:cNvSpPr/>
          <p:nvPr/>
        </p:nvSpPr>
        <p:spPr>
          <a:xfrm>
            <a:off x="9144000" y="1783080"/>
            <a:ext cx="8915400" cy="8339328"/>
          </a:xfrm>
          <a:prstGeom prst="roundRect">
            <a:avLst>
              <a:gd name="adj" fmla="val 1535"/>
            </a:avLst>
          </a:prstGeom>
          <a:solidFill>
            <a:srgbClr val="FFFFFF"/>
          </a:solidFill>
          <a:ln w="31750">
            <a:solidFill>
              <a:srgbClr val="F28C28"/>
            </a:solidFill>
            <a:prstDash val="solid"/>
          </a:ln>
          <a:effectLst>
            <a:outerShdw sx="100000" sy="100000" kx="0" ky="0" algn="bl" rotWithShape="0" blurRad="101600" dist="38100" dir="5400000">
              <a:srgbClr val="000000">
                <a:alpha val="25000"/>
              </a:srgbClr>
            </a:outerShdw>
          </a:effectLst>
        </p:spPr>
      </p:sp>
      <p:sp>
        <p:nvSpPr>
          <p:cNvPr id="41" name="Text 34"/>
          <p:cNvSpPr txBox="1"/>
          <p:nvPr/>
        </p:nvSpPr>
        <p:spPr>
          <a:xfrm>
            <a:off x="9144000" y="1874520"/>
            <a:ext cx="8915400" cy="411480"/>
          </a:xfrm>
          <a:prstGeom prst="rect">
            <a:avLst/>
          </a:prstGeom>
          <a:noFill/>
          <a:ln/>
        </p:spPr>
        <p:txBody>
          <a:bodyPr wrap="square" lIns="0" tIns="0" rIns="0" bIns="0" rtlCol="0" anchor="t"/>
          <a:lstStyle/>
          <a:p>
            <a:pPr algn="ctr" indent="0" marL="0">
              <a:buNone/>
            </a:pPr>
            <a:r>
              <a:rPr lang="en-US" sz="2000" b="1" u="sng" dirty="0">
                <a:solidFill>
                  <a:srgbClr val="1B2A6B"/>
                </a:solidFill>
                <a:latin typeface="Calibri" pitchFamily="34" charset="0"/>
                <a:ea typeface="Calibri" pitchFamily="34" charset="-122"/>
                <a:cs typeface="Calibri" pitchFamily="34" charset="-120"/>
              </a:rPr>
              <a:t>BENEFITS OF THE SOLUTION</a:t>
            </a:r>
            <a:endParaRPr lang="en-US" sz="2000" dirty="0"/>
          </a:p>
        </p:txBody>
      </p:sp>
      <p:sp>
        <p:nvSpPr>
          <p:cNvPr id="42" name="Shape 35"/>
          <p:cNvSpPr/>
          <p:nvPr/>
        </p:nvSpPr>
        <p:spPr>
          <a:xfrm>
            <a:off x="9326880" y="2395728"/>
            <a:ext cx="1609344" cy="2697480"/>
          </a:xfrm>
          <a:prstGeom prst="roundRect">
            <a:avLst>
              <a:gd name="adj" fmla="val 4545"/>
            </a:avLst>
          </a:prstGeom>
          <a:solidFill>
            <a:srgbClr val="EAF7F0"/>
          </a:solidFill>
          <a:ln w="15875">
            <a:solidFill>
              <a:srgbClr val="1F9D55"/>
            </a:solidFill>
            <a:prstDash val="solid"/>
          </a:ln>
        </p:spPr>
      </p:sp>
      <p:sp>
        <p:nvSpPr>
          <p:cNvPr id="43" name="Shape 36"/>
          <p:cNvSpPr/>
          <p:nvPr/>
        </p:nvSpPr>
        <p:spPr>
          <a:xfrm>
            <a:off x="9838944" y="2505456"/>
            <a:ext cx="585216" cy="585216"/>
          </a:xfrm>
          <a:prstGeom prst="ellipse">
            <a:avLst/>
          </a:prstGeom>
          <a:solidFill>
            <a:srgbClr val="1F9D55"/>
          </a:solidFill>
          <a:ln/>
        </p:spPr>
      </p:sp>
      <p:pic>
        <p:nvPicPr>
          <p:cNvPr id="44" name="Image 5" descr="preencoded.png">    </p:cNvPr>
          <p:cNvPicPr>
            <a:picLocks noChangeAspect="1"/>
          </p:cNvPicPr>
          <p:nvPr/>
        </p:nvPicPr>
        <p:blipFill>
          <a:blip r:embed="rId6"/>
          <a:stretch>
            <a:fillRect/>
          </a:stretch>
        </p:blipFill>
        <p:spPr>
          <a:xfrm>
            <a:off x="9967692" y="2634204"/>
            <a:ext cx="327721" cy="327721"/>
          </a:xfrm>
          <a:prstGeom prst="rect">
            <a:avLst/>
          </a:prstGeom>
        </p:spPr>
      </p:pic>
      <p:sp>
        <p:nvSpPr>
          <p:cNvPr id="45" name="Text 37"/>
          <p:cNvSpPr txBox="1"/>
          <p:nvPr/>
        </p:nvSpPr>
        <p:spPr>
          <a:xfrm>
            <a:off x="9326880" y="3127248"/>
            <a:ext cx="1609344" cy="365760"/>
          </a:xfrm>
          <a:prstGeom prst="rect">
            <a:avLst/>
          </a:prstGeom>
          <a:noFill/>
          <a:ln/>
        </p:spPr>
        <p:txBody>
          <a:bodyPr wrap="square" lIns="0" tIns="0" rIns="0" bIns="0" rtlCol="0" anchor="t"/>
          <a:lstStyle/>
          <a:p>
            <a:pPr algn="ctr" indent="0" marL="0">
              <a:buNone/>
            </a:pPr>
            <a:r>
              <a:rPr lang="en-US" sz="1500" b="1" u="sng" dirty="0">
                <a:solidFill>
                  <a:srgbClr val="1F9D55"/>
                </a:solidFill>
                <a:latin typeface="Calibri" pitchFamily="34" charset="0"/>
                <a:ea typeface="Calibri" pitchFamily="34" charset="-122"/>
                <a:cs typeface="Calibri" pitchFamily="34" charset="-120"/>
              </a:rPr>
              <a:t>Security</a:t>
            </a:r>
            <a:endParaRPr lang="en-US" sz="1500" dirty="0"/>
          </a:p>
        </p:txBody>
      </p:sp>
      <p:sp>
        <p:nvSpPr>
          <p:cNvPr id="46" name="Text 38"/>
          <p:cNvSpPr txBox="1"/>
          <p:nvPr/>
        </p:nvSpPr>
        <p:spPr>
          <a:xfrm>
            <a:off x="9400032" y="3547872"/>
            <a:ext cx="1481328" cy="148132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exploitable bugs closed with proof</a:t>
            </a:r>
            <a:endParaRPr lang="en-US" sz="1150" dirty="0"/>
          </a:p>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unsafe fixes rejected</a:t>
            </a:r>
            <a:endParaRPr lang="en-US" sz="1150" dirty="0"/>
          </a:p>
        </p:txBody>
      </p:sp>
      <p:sp>
        <p:nvSpPr>
          <p:cNvPr id="47" name="Shape 39"/>
          <p:cNvSpPr/>
          <p:nvPr/>
        </p:nvSpPr>
        <p:spPr>
          <a:xfrm>
            <a:off x="11045952" y="2395728"/>
            <a:ext cx="1609344" cy="2697480"/>
          </a:xfrm>
          <a:prstGeom prst="roundRect">
            <a:avLst>
              <a:gd name="adj" fmla="val 4545"/>
            </a:avLst>
          </a:prstGeom>
          <a:solidFill>
            <a:srgbClr val="FFF3E6"/>
          </a:solidFill>
          <a:ln w="15875">
            <a:solidFill>
              <a:srgbClr val="E67E22"/>
            </a:solidFill>
            <a:prstDash val="solid"/>
          </a:ln>
        </p:spPr>
      </p:sp>
      <p:sp>
        <p:nvSpPr>
          <p:cNvPr id="48" name="Shape 40"/>
          <p:cNvSpPr/>
          <p:nvPr/>
        </p:nvSpPr>
        <p:spPr>
          <a:xfrm>
            <a:off x="11558016" y="2505456"/>
            <a:ext cx="585216" cy="585216"/>
          </a:xfrm>
          <a:prstGeom prst="ellipse">
            <a:avLst/>
          </a:prstGeom>
          <a:solidFill>
            <a:srgbClr val="E67E22"/>
          </a:solidFill>
          <a:ln/>
        </p:spPr>
      </p:sp>
      <p:pic>
        <p:nvPicPr>
          <p:cNvPr id="49" name="Image 6" descr="preencoded.png">    </p:cNvPr>
          <p:cNvPicPr>
            <a:picLocks noChangeAspect="1"/>
          </p:cNvPicPr>
          <p:nvPr/>
        </p:nvPicPr>
        <p:blipFill>
          <a:blip r:embed="rId7"/>
          <a:stretch>
            <a:fillRect/>
          </a:stretch>
        </p:blipFill>
        <p:spPr>
          <a:xfrm>
            <a:off x="11686764" y="2634204"/>
            <a:ext cx="327721" cy="327721"/>
          </a:xfrm>
          <a:prstGeom prst="rect">
            <a:avLst/>
          </a:prstGeom>
        </p:spPr>
      </p:pic>
      <p:sp>
        <p:nvSpPr>
          <p:cNvPr id="50" name="Text 41"/>
          <p:cNvSpPr txBox="1"/>
          <p:nvPr/>
        </p:nvSpPr>
        <p:spPr>
          <a:xfrm>
            <a:off x="11045952" y="3127248"/>
            <a:ext cx="1609344" cy="365760"/>
          </a:xfrm>
          <a:prstGeom prst="rect">
            <a:avLst/>
          </a:prstGeom>
          <a:noFill/>
          <a:ln/>
        </p:spPr>
        <p:txBody>
          <a:bodyPr wrap="square" lIns="0" tIns="0" rIns="0" bIns="0" rtlCol="0" anchor="t"/>
          <a:lstStyle/>
          <a:p>
            <a:pPr algn="ctr" indent="0" marL="0">
              <a:buNone/>
            </a:pPr>
            <a:r>
              <a:rPr lang="en-US" sz="1500" b="1" u="sng" dirty="0">
                <a:solidFill>
                  <a:srgbClr val="E67E22"/>
                </a:solidFill>
                <a:latin typeface="Calibri" pitchFamily="34" charset="0"/>
                <a:ea typeface="Calibri" pitchFamily="34" charset="-122"/>
                <a:cs typeface="Calibri" pitchFamily="34" charset="-120"/>
              </a:rPr>
              <a:t>Speed</a:t>
            </a:r>
            <a:endParaRPr lang="en-US" sz="1500" dirty="0"/>
          </a:p>
        </p:txBody>
      </p:sp>
      <p:sp>
        <p:nvSpPr>
          <p:cNvPr id="51" name="Text 42"/>
          <p:cNvSpPr txBox="1"/>
          <p:nvPr/>
        </p:nvSpPr>
        <p:spPr>
          <a:xfrm>
            <a:off x="11119104" y="3547872"/>
            <a:ext cx="1481328" cy="148132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days of triage → seconds</a:t>
            </a:r>
            <a:endParaRPr lang="en-US" sz="1150" dirty="0"/>
          </a:p>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4 fixes in parallel</a:t>
            </a:r>
            <a:endParaRPr lang="en-US" sz="1150" dirty="0"/>
          </a:p>
        </p:txBody>
      </p:sp>
      <p:sp>
        <p:nvSpPr>
          <p:cNvPr id="52" name="Shape 43"/>
          <p:cNvSpPr/>
          <p:nvPr/>
        </p:nvSpPr>
        <p:spPr>
          <a:xfrm>
            <a:off x="12765024" y="2395728"/>
            <a:ext cx="1609344" cy="2697480"/>
          </a:xfrm>
          <a:prstGeom prst="roundRect">
            <a:avLst>
              <a:gd name="adj" fmla="val 4545"/>
            </a:avLst>
          </a:prstGeom>
          <a:solidFill>
            <a:srgbClr val="E8F1FB"/>
          </a:solidFill>
          <a:ln w="15875">
            <a:solidFill>
              <a:srgbClr val="1565C0"/>
            </a:solidFill>
            <a:prstDash val="solid"/>
          </a:ln>
        </p:spPr>
      </p:sp>
      <p:sp>
        <p:nvSpPr>
          <p:cNvPr id="53" name="Shape 44"/>
          <p:cNvSpPr/>
          <p:nvPr/>
        </p:nvSpPr>
        <p:spPr>
          <a:xfrm>
            <a:off x="13277088" y="2505456"/>
            <a:ext cx="585216" cy="585216"/>
          </a:xfrm>
          <a:prstGeom prst="ellipse">
            <a:avLst/>
          </a:prstGeom>
          <a:solidFill>
            <a:srgbClr val="1565C0"/>
          </a:solidFill>
          <a:ln/>
        </p:spPr>
      </p:sp>
      <p:pic>
        <p:nvPicPr>
          <p:cNvPr id="54" name="Image 7" descr="preencoded.png">    </p:cNvPr>
          <p:cNvPicPr>
            <a:picLocks noChangeAspect="1"/>
          </p:cNvPicPr>
          <p:nvPr/>
        </p:nvPicPr>
        <p:blipFill>
          <a:blip r:embed="rId8"/>
          <a:stretch>
            <a:fillRect/>
          </a:stretch>
        </p:blipFill>
        <p:spPr>
          <a:xfrm>
            <a:off x="13405836" y="2634204"/>
            <a:ext cx="327721" cy="327721"/>
          </a:xfrm>
          <a:prstGeom prst="rect">
            <a:avLst/>
          </a:prstGeom>
        </p:spPr>
      </p:pic>
      <p:sp>
        <p:nvSpPr>
          <p:cNvPr id="55" name="Text 45"/>
          <p:cNvSpPr txBox="1"/>
          <p:nvPr/>
        </p:nvSpPr>
        <p:spPr>
          <a:xfrm>
            <a:off x="12765024" y="3127248"/>
            <a:ext cx="1609344" cy="365760"/>
          </a:xfrm>
          <a:prstGeom prst="rect">
            <a:avLst/>
          </a:prstGeom>
          <a:noFill/>
          <a:ln/>
        </p:spPr>
        <p:txBody>
          <a:bodyPr wrap="square" lIns="0" tIns="0" rIns="0" bIns="0" rtlCol="0" anchor="t"/>
          <a:lstStyle/>
          <a:p>
            <a:pPr algn="ctr" indent="0" marL="0">
              <a:buNone/>
            </a:pPr>
            <a:r>
              <a:rPr lang="en-US" sz="1500" b="1" u="sng" dirty="0">
                <a:solidFill>
                  <a:srgbClr val="1565C0"/>
                </a:solidFill>
                <a:latin typeface="Calibri" pitchFamily="34" charset="0"/>
                <a:ea typeface="Calibri" pitchFamily="34" charset="-122"/>
                <a:cs typeface="Calibri" pitchFamily="34" charset="-120"/>
              </a:rPr>
              <a:t>Quality</a:t>
            </a:r>
            <a:endParaRPr lang="en-US" sz="1500" dirty="0"/>
          </a:p>
        </p:txBody>
      </p:sp>
      <p:sp>
        <p:nvSpPr>
          <p:cNvPr id="56" name="Text 46"/>
          <p:cNvSpPr txBox="1"/>
          <p:nvPr/>
        </p:nvSpPr>
        <p:spPr>
          <a:xfrm>
            <a:off x="12838176" y="3547872"/>
            <a:ext cx="1481328" cy="148132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0 new test failures required</a:t>
            </a:r>
            <a:endParaRPr lang="en-US" sz="1150" dirty="0"/>
          </a:p>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small, reviewable diffs</a:t>
            </a:r>
            <a:endParaRPr lang="en-US" sz="1150" dirty="0"/>
          </a:p>
        </p:txBody>
      </p:sp>
      <p:sp>
        <p:nvSpPr>
          <p:cNvPr id="57" name="Shape 47"/>
          <p:cNvSpPr/>
          <p:nvPr/>
        </p:nvSpPr>
        <p:spPr>
          <a:xfrm>
            <a:off x="14484096" y="2395728"/>
            <a:ext cx="1609344" cy="2697480"/>
          </a:xfrm>
          <a:prstGeom prst="roundRect">
            <a:avLst>
              <a:gd name="adj" fmla="val 4545"/>
            </a:avLst>
          </a:prstGeom>
          <a:solidFill>
            <a:srgbClr val="F1EEFA"/>
          </a:solidFill>
          <a:ln w="15875">
            <a:solidFill>
              <a:srgbClr val="6D4C9F"/>
            </a:solidFill>
            <a:prstDash val="solid"/>
          </a:ln>
        </p:spPr>
      </p:sp>
      <p:sp>
        <p:nvSpPr>
          <p:cNvPr id="58" name="Shape 48"/>
          <p:cNvSpPr/>
          <p:nvPr/>
        </p:nvSpPr>
        <p:spPr>
          <a:xfrm>
            <a:off x="14996160" y="2505456"/>
            <a:ext cx="585216" cy="585216"/>
          </a:xfrm>
          <a:prstGeom prst="ellipse">
            <a:avLst/>
          </a:prstGeom>
          <a:solidFill>
            <a:srgbClr val="6D4C9F"/>
          </a:solidFill>
          <a:ln/>
        </p:spPr>
      </p:sp>
      <p:pic>
        <p:nvPicPr>
          <p:cNvPr id="59" name="Image 8" descr="preencoded.png">    </p:cNvPr>
          <p:cNvPicPr>
            <a:picLocks noChangeAspect="1"/>
          </p:cNvPicPr>
          <p:nvPr/>
        </p:nvPicPr>
        <p:blipFill>
          <a:blip r:embed="rId9"/>
          <a:stretch>
            <a:fillRect/>
          </a:stretch>
        </p:blipFill>
        <p:spPr>
          <a:xfrm>
            <a:off x="15124908" y="2634204"/>
            <a:ext cx="327721" cy="327721"/>
          </a:xfrm>
          <a:prstGeom prst="rect">
            <a:avLst/>
          </a:prstGeom>
        </p:spPr>
      </p:pic>
      <p:sp>
        <p:nvSpPr>
          <p:cNvPr id="60" name="Text 49"/>
          <p:cNvSpPr txBox="1"/>
          <p:nvPr/>
        </p:nvSpPr>
        <p:spPr>
          <a:xfrm>
            <a:off x="14484096" y="3127248"/>
            <a:ext cx="1609344" cy="365760"/>
          </a:xfrm>
          <a:prstGeom prst="rect">
            <a:avLst/>
          </a:prstGeom>
          <a:noFill/>
          <a:ln/>
        </p:spPr>
        <p:txBody>
          <a:bodyPr wrap="square" lIns="0" tIns="0" rIns="0" bIns="0" rtlCol="0" anchor="t"/>
          <a:lstStyle/>
          <a:p>
            <a:pPr algn="ctr" indent="0" marL="0">
              <a:buNone/>
            </a:pPr>
            <a:r>
              <a:rPr lang="en-US" sz="1500" b="1" u="sng" dirty="0">
                <a:solidFill>
                  <a:srgbClr val="6D4C9F"/>
                </a:solidFill>
                <a:latin typeface="Calibri" pitchFamily="34" charset="0"/>
                <a:ea typeface="Calibri" pitchFamily="34" charset="-122"/>
                <a:cs typeface="Calibri" pitchFamily="34" charset="-120"/>
              </a:rPr>
              <a:t>Learning</a:t>
            </a:r>
            <a:endParaRPr lang="en-US" sz="1500" dirty="0"/>
          </a:p>
        </p:txBody>
      </p:sp>
      <p:sp>
        <p:nvSpPr>
          <p:cNvPr id="61" name="Text 50"/>
          <p:cNvSpPr txBox="1"/>
          <p:nvPr/>
        </p:nvSpPr>
        <p:spPr>
          <a:xfrm>
            <a:off x="14557248" y="3547872"/>
            <a:ext cx="1481328" cy="148132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CWE / OWASP links per fix</a:t>
            </a:r>
            <a:endParaRPr lang="en-US" sz="1150" dirty="0"/>
          </a:p>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quiz + quests</a:t>
            </a:r>
            <a:endParaRPr lang="en-US" sz="1150" dirty="0"/>
          </a:p>
        </p:txBody>
      </p:sp>
      <p:sp>
        <p:nvSpPr>
          <p:cNvPr id="62" name="Shape 51"/>
          <p:cNvSpPr/>
          <p:nvPr/>
        </p:nvSpPr>
        <p:spPr>
          <a:xfrm>
            <a:off x="16203168" y="2395728"/>
            <a:ext cx="1609344" cy="2697480"/>
          </a:xfrm>
          <a:prstGeom prst="roundRect">
            <a:avLst>
              <a:gd name="adj" fmla="val 4545"/>
            </a:avLst>
          </a:prstGeom>
          <a:solidFill>
            <a:srgbClr val="FBEDEE"/>
          </a:solidFill>
          <a:ln w="15875">
            <a:solidFill>
              <a:srgbClr val="C0392B"/>
            </a:solidFill>
            <a:prstDash val="solid"/>
          </a:ln>
        </p:spPr>
      </p:sp>
      <p:sp>
        <p:nvSpPr>
          <p:cNvPr id="63" name="Shape 52"/>
          <p:cNvSpPr/>
          <p:nvPr/>
        </p:nvSpPr>
        <p:spPr>
          <a:xfrm>
            <a:off x="16715232" y="2505456"/>
            <a:ext cx="585216" cy="585216"/>
          </a:xfrm>
          <a:prstGeom prst="ellipse">
            <a:avLst/>
          </a:prstGeom>
          <a:solidFill>
            <a:srgbClr val="C0392B"/>
          </a:solidFill>
          <a:ln/>
        </p:spPr>
      </p:sp>
      <p:pic>
        <p:nvPicPr>
          <p:cNvPr id="64" name="Image 9" descr="preencoded.png">    </p:cNvPr>
          <p:cNvPicPr>
            <a:picLocks noChangeAspect="1"/>
          </p:cNvPicPr>
          <p:nvPr/>
        </p:nvPicPr>
        <p:blipFill>
          <a:blip r:embed="rId10"/>
          <a:stretch>
            <a:fillRect/>
          </a:stretch>
        </p:blipFill>
        <p:spPr>
          <a:xfrm>
            <a:off x="16843980" y="2634204"/>
            <a:ext cx="327721" cy="327721"/>
          </a:xfrm>
          <a:prstGeom prst="rect">
            <a:avLst/>
          </a:prstGeom>
        </p:spPr>
      </p:pic>
      <p:sp>
        <p:nvSpPr>
          <p:cNvPr id="65" name="Text 53"/>
          <p:cNvSpPr txBox="1"/>
          <p:nvPr/>
        </p:nvSpPr>
        <p:spPr>
          <a:xfrm>
            <a:off x="16203168" y="3127248"/>
            <a:ext cx="1609344" cy="365760"/>
          </a:xfrm>
          <a:prstGeom prst="rect">
            <a:avLst/>
          </a:prstGeom>
          <a:noFill/>
          <a:ln/>
        </p:spPr>
        <p:txBody>
          <a:bodyPr wrap="square" lIns="0" tIns="0" rIns="0" bIns="0" rtlCol="0" anchor="t"/>
          <a:lstStyle/>
          <a:p>
            <a:pPr algn="ctr" indent="0" marL="0">
              <a:buNone/>
            </a:pPr>
            <a:r>
              <a:rPr lang="en-US" sz="1500" b="1" u="sng" dirty="0">
                <a:solidFill>
                  <a:srgbClr val="C0392B"/>
                </a:solidFill>
                <a:latin typeface="Calibri" pitchFamily="34" charset="0"/>
                <a:ea typeface="Calibri" pitchFamily="34" charset="-122"/>
                <a:cs typeface="Calibri" pitchFamily="34" charset="-120"/>
              </a:rPr>
              <a:t>Trust</a:t>
            </a:r>
            <a:endParaRPr lang="en-US" sz="1500" dirty="0"/>
          </a:p>
        </p:txBody>
      </p:sp>
      <p:sp>
        <p:nvSpPr>
          <p:cNvPr id="66" name="Text 54"/>
          <p:cNvSpPr txBox="1"/>
          <p:nvPr/>
        </p:nvSpPr>
        <p:spPr>
          <a:xfrm>
            <a:off x="16276320" y="3547872"/>
            <a:ext cx="1481328" cy="1481328"/>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hashed command log</a:t>
            </a:r>
            <a:endParaRPr lang="en-US" sz="1150" dirty="0"/>
          </a:p>
          <a:p>
            <a:pPr marL="342900" indent="-342900">
              <a:spcAft>
                <a:spcPts val="300"/>
              </a:spcAft>
              <a:buSzPct val="100000"/>
              <a:buChar char="•"/>
            </a:pPr>
            <a:r>
              <a:rPr lang="en-US" sz="1150" dirty="0">
                <a:solidFill>
                  <a:srgbClr val="1E2230"/>
                </a:solidFill>
                <a:latin typeface="Calibri" pitchFamily="34" charset="0"/>
                <a:ea typeface="Calibri" pitchFamily="34" charset="-122"/>
                <a:cs typeface="Calibri" pitchFamily="34" charset="-120"/>
              </a:rPr>
              <a:t>evidence pack per run</a:t>
            </a:r>
            <a:endParaRPr lang="en-US" sz="1150" dirty="0"/>
          </a:p>
        </p:txBody>
      </p:sp>
      <p:sp>
        <p:nvSpPr>
          <p:cNvPr id="67" name="Text 55"/>
          <p:cNvSpPr txBox="1"/>
          <p:nvPr/>
        </p:nvSpPr>
        <p:spPr>
          <a:xfrm>
            <a:off x="9144000" y="5257800"/>
            <a:ext cx="8915400" cy="411480"/>
          </a:xfrm>
          <a:prstGeom prst="rect">
            <a:avLst/>
          </a:prstGeom>
          <a:noFill/>
          <a:ln/>
        </p:spPr>
        <p:txBody>
          <a:bodyPr wrap="square" lIns="0" tIns="0" rIns="0" bIns="0" rtlCol="0" anchor="t"/>
          <a:lstStyle/>
          <a:p>
            <a:pPr algn="ctr" indent="0" marL="0">
              <a:buNone/>
            </a:pPr>
            <a:r>
              <a:rPr lang="en-US" sz="2000" b="1" u="sng" dirty="0">
                <a:solidFill>
                  <a:srgbClr val="1B2A6B"/>
                </a:solidFill>
                <a:latin typeface="Calibri" pitchFamily="34" charset="0"/>
                <a:ea typeface="Calibri" pitchFamily="34" charset="-122"/>
                <a:cs typeface="Calibri" pitchFamily="34" charset="-120"/>
              </a:rPr>
              <a:t>IMPACT ON THE TARGET AUDIENCE</a:t>
            </a:r>
            <a:endParaRPr lang="en-US" sz="2000" dirty="0"/>
          </a:p>
        </p:txBody>
      </p:sp>
      <p:sp>
        <p:nvSpPr>
          <p:cNvPr id="68" name="Shape 56"/>
          <p:cNvSpPr/>
          <p:nvPr/>
        </p:nvSpPr>
        <p:spPr>
          <a:xfrm>
            <a:off x="9326880" y="5760720"/>
            <a:ext cx="8549640" cy="822960"/>
          </a:xfrm>
          <a:prstGeom prst="roundRect">
            <a:avLst>
              <a:gd name="adj" fmla="val 11111"/>
            </a:avLst>
          </a:prstGeom>
          <a:solidFill>
            <a:srgbClr val="FFFFFF"/>
          </a:solidFill>
          <a:ln w="15875">
            <a:solidFill>
              <a:srgbClr val="D7DBE6"/>
            </a:solidFill>
            <a:prstDash val="solid"/>
          </a:ln>
        </p:spPr>
      </p:sp>
      <p:sp>
        <p:nvSpPr>
          <p:cNvPr id="69" name="Shape 57"/>
          <p:cNvSpPr/>
          <p:nvPr/>
        </p:nvSpPr>
        <p:spPr>
          <a:xfrm>
            <a:off x="9436608" y="6025896"/>
            <a:ext cx="292608" cy="292608"/>
          </a:xfrm>
          <a:prstGeom prst="ellipse">
            <a:avLst/>
          </a:prstGeom>
          <a:solidFill>
            <a:srgbClr val="1B2A6B"/>
          </a:solidFill>
          <a:ln/>
        </p:spPr>
      </p:sp>
      <p:sp>
        <p:nvSpPr>
          <p:cNvPr id="70" name="Text 58"/>
          <p:cNvSpPr txBox="1"/>
          <p:nvPr/>
        </p:nvSpPr>
        <p:spPr>
          <a:xfrm>
            <a:off x="9875520" y="5815584"/>
            <a:ext cx="7863840" cy="347472"/>
          </a:xfrm>
          <a:prstGeom prst="rect">
            <a:avLst/>
          </a:prstGeom>
          <a:noFill/>
          <a:ln/>
        </p:spPr>
        <p:txBody>
          <a:bodyPr wrap="square" lIns="0" tIns="0" rIns="0" bIns="0" rtlCol="0" anchor="t"/>
          <a:lstStyle/>
          <a:p>
            <a:pPr indent="0" marL="0">
              <a:buNone/>
            </a:pPr>
            <a:r>
              <a:rPr lang="en-US" sz="1500" b="1" dirty="0">
                <a:solidFill>
                  <a:srgbClr val="1E2230"/>
                </a:solidFill>
                <a:latin typeface="Calibri" pitchFamily="34" charset="0"/>
                <a:ea typeface="Calibri" pitchFamily="34" charset="-122"/>
                <a:cs typeface="Calibri" pitchFamily="34" charset="-120"/>
              </a:rPr>
              <a:t>Open-source maintainers</a:t>
            </a:r>
            <a:endParaRPr lang="en-US" sz="1500" dirty="0"/>
          </a:p>
        </p:txBody>
      </p:sp>
      <p:sp>
        <p:nvSpPr>
          <p:cNvPr id="71" name="Text 59"/>
          <p:cNvSpPr txBox="1"/>
          <p:nvPr/>
        </p:nvSpPr>
        <p:spPr>
          <a:xfrm>
            <a:off x="9875520" y="6163056"/>
            <a:ext cx="7909560" cy="384048"/>
          </a:xfrm>
          <a:prstGeom prst="rect">
            <a:avLst/>
          </a:prstGeom>
          <a:noFill/>
          <a:ln/>
        </p:spPr>
        <p:txBody>
          <a:bodyPr wrap="square" lIns="0" tIns="0" rIns="0" bIns="0" rtlCol="0" anchor="t"/>
          <a:lstStyle/>
          <a:p>
            <a:pPr indent="0" marL="0">
              <a:buNone/>
            </a:pPr>
            <a:r>
              <a:rPr lang="en-US" sz="1300" dirty="0">
                <a:solidFill>
                  <a:srgbClr val="4A5163"/>
                </a:solidFill>
                <a:latin typeface="Calibri" pitchFamily="34" charset="0"/>
                <a:ea typeface="Calibri" pitchFamily="34" charset="-122"/>
                <a:cs typeface="Calibri" pitchFamily="34" charset="-120"/>
              </a:rPr>
              <a:t>Get a verified pull request with an exploit test instead of an unconfirmed alert.</a:t>
            </a:r>
            <a:endParaRPr lang="en-US" sz="1300" dirty="0"/>
          </a:p>
        </p:txBody>
      </p:sp>
      <p:sp>
        <p:nvSpPr>
          <p:cNvPr id="72" name="Shape 60"/>
          <p:cNvSpPr/>
          <p:nvPr/>
        </p:nvSpPr>
        <p:spPr>
          <a:xfrm>
            <a:off x="9326880" y="6675120"/>
            <a:ext cx="8549640" cy="822960"/>
          </a:xfrm>
          <a:prstGeom prst="roundRect">
            <a:avLst>
              <a:gd name="adj" fmla="val 11111"/>
            </a:avLst>
          </a:prstGeom>
          <a:solidFill>
            <a:srgbClr val="FFFFFF"/>
          </a:solidFill>
          <a:ln w="15875">
            <a:solidFill>
              <a:srgbClr val="D7DBE6"/>
            </a:solidFill>
            <a:prstDash val="solid"/>
          </a:ln>
        </p:spPr>
      </p:sp>
      <p:sp>
        <p:nvSpPr>
          <p:cNvPr id="73" name="Shape 61"/>
          <p:cNvSpPr/>
          <p:nvPr/>
        </p:nvSpPr>
        <p:spPr>
          <a:xfrm>
            <a:off x="9436608" y="6940296"/>
            <a:ext cx="292608" cy="292608"/>
          </a:xfrm>
          <a:prstGeom prst="ellipse">
            <a:avLst/>
          </a:prstGeom>
          <a:solidFill>
            <a:srgbClr val="F28C28"/>
          </a:solidFill>
          <a:ln/>
        </p:spPr>
      </p:sp>
      <p:sp>
        <p:nvSpPr>
          <p:cNvPr id="74" name="Text 62"/>
          <p:cNvSpPr txBox="1"/>
          <p:nvPr/>
        </p:nvSpPr>
        <p:spPr>
          <a:xfrm>
            <a:off x="9875520" y="6729984"/>
            <a:ext cx="7863840" cy="347472"/>
          </a:xfrm>
          <a:prstGeom prst="rect">
            <a:avLst/>
          </a:prstGeom>
          <a:noFill/>
          <a:ln/>
        </p:spPr>
        <p:txBody>
          <a:bodyPr wrap="square" lIns="0" tIns="0" rIns="0" bIns="0" rtlCol="0" anchor="t"/>
          <a:lstStyle/>
          <a:p>
            <a:pPr indent="0" marL="0">
              <a:buNone/>
            </a:pPr>
            <a:r>
              <a:rPr lang="en-US" sz="1500" b="1" dirty="0">
                <a:solidFill>
                  <a:srgbClr val="1E2230"/>
                </a:solidFill>
                <a:latin typeface="Calibri" pitchFamily="34" charset="0"/>
                <a:ea typeface="Calibri" pitchFamily="34" charset="-122"/>
                <a:cs typeface="Calibri" pitchFamily="34" charset="-120"/>
              </a:rPr>
              <a:t>Security / DevSecOps teams</a:t>
            </a:r>
            <a:endParaRPr lang="en-US" sz="1500" dirty="0"/>
          </a:p>
        </p:txBody>
      </p:sp>
      <p:sp>
        <p:nvSpPr>
          <p:cNvPr id="75" name="Text 63"/>
          <p:cNvSpPr txBox="1"/>
          <p:nvPr/>
        </p:nvSpPr>
        <p:spPr>
          <a:xfrm>
            <a:off x="9875520" y="7077456"/>
            <a:ext cx="7909560" cy="384048"/>
          </a:xfrm>
          <a:prstGeom prst="rect">
            <a:avLst/>
          </a:prstGeom>
          <a:noFill/>
          <a:ln/>
        </p:spPr>
        <p:txBody>
          <a:bodyPr wrap="square" lIns="0" tIns="0" rIns="0" bIns="0" rtlCol="0" anchor="t"/>
          <a:lstStyle/>
          <a:p>
            <a:pPr indent="0" marL="0">
              <a:buNone/>
            </a:pPr>
            <a:r>
              <a:rPr lang="en-US" sz="1300" dirty="0">
                <a:solidFill>
                  <a:srgbClr val="4A5163"/>
                </a:solidFill>
                <a:latin typeface="Calibri" pitchFamily="34" charset="0"/>
                <a:ea typeface="Calibri" pitchFamily="34" charset="-122"/>
                <a:cs typeface="Calibri" pitchFamily="34" charset="-120"/>
              </a:rPr>
              <a:t>False positives are cleared with a reason; every fix carries a reviewable evidence pack.</a:t>
            </a:r>
            <a:endParaRPr lang="en-US" sz="1300" dirty="0"/>
          </a:p>
        </p:txBody>
      </p:sp>
      <p:sp>
        <p:nvSpPr>
          <p:cNvPr id="76" name="Shape 64"/>
          <p:cNvSpPr/>
          <p:nvPr/>
        </p:nvSpPr>
        <p:spPr>
          <a:xfrm>
            <a:off x="9326880" y="7589520"/>
            <a:ext cx="8549640" cy="822960"/>
          </a:xfrm>
          <a:prstGeom prst="roundRect">
            <a:avLst>
              <a:gd name="adj" fmla="val 11111"/>
            </a:avLst>
          </a:prstGeom>
          <a:solidFill>
            <a:srgbClr val="FFFFFF"/>
          </a:solidFill>
          <a:ln w="15875">
            <a:solidFill>
              <a:srgbClr val="D7DBE6"/>
            </a:solidFill>
            <a:prstDash val="solid"/>
          </a:ln>
        </p:spPr>
      </p:sp>
      <p:sp>
        <p:nvSpPr>
          <p:cNvPr id="77" name="Shape 65"/>
          <p:cNvSpPr/>
          <p:nvPr/>
        </p:nvSpPr>
        <p:spPr>
          <a:xfrm>
            <a:off x="9436608" y="7854696"/>
            <a:ext cx="292608" cy="292608"/>
          </a:xfrm>
          <a:prstGeom prst="ellipse">
            <a:avLst/>
          </a:prstGeom>
          <a:solidFill>
            <a:srgbClr val="6D4C9F"/>
          </a:solidFill>
          <a:ln/>
        </p:spPr>
      </p:sp>
      <p:sp>
        <p:nvSpPr>
          <p:cNvPr id="78" name="Text 66"/>
          <p:cNvSpPr txBox="1"/>
          <p:nvPr/>
        </p:nvSpPr>
        <p:spPr>
          <a:xfrm>
            <a:off x="9875520" y="7644384"/>
            <a:ext cx="7863840" cy="347472"/>
          </a:xfrm>
          <a:prstGeom prst="rect">
            <a:avLst/>
          </a:prstGeom>
          <a:noFill/>
          <a:ln/>
        </p:spPr>
        <p:txBody>
          <a:bodyPr wrap="square" lIns="0" tIns="0" rIns="0" bIns="0" rtlCol="0" anchor="t"/>
          <a:lstStyle/>
          <a:p>
            <a:pPr indent="0" marL="0">
              <a:buNone/>
            </a:pPr>
            <a:r>
              <a:rPr lang="en-US" sz="1500" b="1" dirty="0">
                <a:solidFill>
                  <a:srgbClr val="1E2230"/>
                </a:solidFill>
                <a:latin typeface="Calibri" pitchFamily="34" charset="0"/>
                <a:ea typeface="Calibri" pitchFamily="34" charset="-122"/>
                <a:cs typeface="Calibri" pitchFamily="34" charset="-120"/>
              </a:rPr>
              <a:t>Students &amp; developers</a:t>
            </a:r>
            <a:endParaRPr lang="en-US" sz="1500" dirty="0"/>
          </a:p>
        </p:txBody>
      </p:sp>
      <p:sp>
        <p:nvSpPr>
          <p:cNvPr id="79" name="Text 67"/>
          <p:cNvSpPr txBox="1"/>
          <p:nvPr/>
        </p:nvSpPr>
        <p:spPr>
          <a:xfrm>
            <a:off x="9875520" y="7991856"/>
            <a:ext cx="7909560" cy="384048"/>
          </a:xfrm>
          <a:prstGeom prst="rect">
            <a:avLst/>
          </a:prstGeom>
          <a:noFill/>
          <a:ln/>
        </p:spPr>
        <p:txBody>
          <a:bodyPr wrap="square" lIns="0" tIns="0" rIns="0" bIns="0" rtlCol="0" anchor="t"/>
          <a:lstStyle/>
          <a:p>
            <a:pPr indent="0" marL="0">
              <a:buNone/>
            </a:pPr>
            <a:r>
              <a:rPr lang="en-US" sz="1300" dirty="0">
                <a:solidFill>
                  <a:srgbClr val="4A5163"/>
                </a:solidFill>
                <a:latin typeface="Calibri" pitchFamily="34" charset="0"/>
                <a:ea typeface="Calibri" pitchFamily="34" charset="-122"/>
                <a:cs typeface="Calibri" pitchFamily="34" charset="-120"/>
              </a:rPr>
              <a:t>See their own bug, the fix side by side, and the CWE behind it, then practise with the quiz.</a:t>
            </a:r>
            <a:endParaRPr lang="en-US" sz="1300" dirty="0"/>
          </a:p>
        </p:txBody>
      </p:sp>
      <p:sp>
        <p:nvSpPr>
          <p:cNvPr id="80" name="Shape 68"/>
          <p:cNvSpPr/>
          <p:nvPr/>
        </p:nvSpPr>
        <p:spPr>
          <a:xfrm>
            <a:off x="9326880" y="8577072"/>
            <a:ext cx="8549640" cy="1417320"/>
          </a:xfrm>
          <a:prstGeom prst="roundRect">
            <a:avLst>
              <a:gd name="adj" fmla="val 5161"/>
            </a:avLst>
          </a:prstGeom>
          <a:solidFill>
            <a:srgbClr val="FFF6D6"/>
          </a:solidFill>
          <a:ln w="15875">
            <a:solidFill>
              <a:srgbClr val="E2C46A"/>
            </a:solidFill>
            <a:prstDash val="solid"/>
          </a:ln>
        </p:spPr>
      </p:sp>
      <p:sp>
        <p:nvSpPr>
          <p:cNvPr id="81" name="Shape 69"/>
          <p:cNvSpPr/>
          <p:nvPr/>
        </p:nvSpPr>
        <p:spPr>
          <a:xfrm>
            <a:off x="9326880" y="8577072"/>
            <a:ext cx="1920240" cy="384048"/>
          </a:xfrm>
          <a:prstGeom prst="roundRect">
            <a:avLst>
              <a:gd name="adj" fmla="val 19048"/>
            </a:avLst>
          </a:prstGeom>
          <a:solidFill>
            <a:srgbClr val="F7C948"/>
          </a:solidFill>
          <a:ln/>
        </p:spPr>
      </p:sp>
      <p:sp>
        <p:nvSpPr>
          <p:cNvPr id="82" name="Text 70"/>
          <p:cNvSpPr txBox="1"/>
          <p:nvPr/>
        </p:nvSpPr>
        <p:spPr>
          <a:xfrm>
            <a:off x="9372600" y="8577072"/>
            <a:ext cx="1874520" cy="384048"/>
          </a:xfrm>
          <a:prstGeom prst="rect">
            <a:avLst/>
          </a:prstGeom>
          <a:noFill/>
          <a:ln/>
        </p:spPr>
        <p:txBody>
          <a:bodyPr wrap="square" lIns="0" tIns="0" rIns="0" bIns="0" rtlCol="0" anchor="ctr"/>
          <a:lstStyle/>
          <a:p>
            <a:pPr algn="ctr" indent="0" marL="0">
              <a:buNone/>
            </a:pPr>
            <a:r>
              <a:rPr lang="en-US" sz="1400" b="1" dirty="0">
                <a:solidFill>
                  <a:srgbClr val="1E2230"/>
                </a:solidFill>
                <a:latin typeface="Calibri" pitchFamily="34" charset="0"/>
                <a:ea typeface="Calibri" pitchFamily="34" charset="-122"/>
                <a:cs typeface="Calibri" pitchFamily="34" charset="-120"/>
              </a:rPr>
              <a:t>FUTURE SCOPE:</a:t>
            </a:r>
            <a:endParaRPr lang="en-US" sz="1400" dirty="0"/>
          </a:p>
        </p:txBody>
      </p:sp>
      <p:sp>
        <p:nvSpPr>
          <p:cNvPr id="83" name="Text 71"/>
          <p:cNvSpPr txBox="1"/>
          <p:nvPr/>
        </p:nvSpPr>
        <p:spPr>
          <a:xfrm>
            <a:off x="9509760" y="9015984"/>
            <a:ext cx="8229600" cy="96012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rgbClr val="1E2230"/>
                </a:solidFill>
                <a:latin typeface="Calibri" pitchFamily="34" charset="0"/>
                <a:ea typeface="Calibri" pitchFamily="34" charset="-122"/>
                <a:cs typeface="Calibri" pitchFamily="34" charset="-120"/>
              </a:rPr>
              <a:t>Container sandbox (Docker, no network) for running exploit tests</a:t>
            </a:r>
            <a:endParaRPr lang="en-US" sz="1400" dirty="0"/>
          </a:p>
          <a:p>
            <a:pPr marL="342900" indent="-342900">
              <a:spcAft>
                <a:spcPts val="200"/>
              </a:spcAft>
              <a:buSzPct val="100000"/>
              <a:buChar char="•"/>
            </a:pPr>
            <a:r>
              <a:rPr lang="en-US" sz="1400" dirty="0">
                <a:solidFill>
                  <a:srgbClr val="1E2230"/>
                </a:solidFill>
                <a:latin typeface="Calibri" pitchFamily="34" charset="0"/>
                <a:ea typeface="Calibri" pitchFamily="34" charset="-122"/>
                <a:cs typeface="Calibri" pitchFamily="34" charset="-120"/>
              </a:rPr>
              <a:t>Java, Go and PHP support; SARIF import from any scanner</a:t>
            </a:r>
            <a:endParaRPr lang="en-US" sz="1400" dirty="0"/>
          </a:p>
          <a:p>
            <a:pPr marL="342900" indent="-342900">
              <a:spcAft>
                <a:spcPts val="200"/>
              </a:spcAft>
              <a:buSzPct val="100000"/>
              <a:buChar char="•"/>
            </a:pPr>
            <a:r>
              <a:rPr lang="en-US" sz="1400" dirty="0">
                <a:solidFill>
                  <a:srgbClr val="1E2230"/>
                </a:solidFill>
                <a:latin typeface="Calibri" pitchFamily="34" charset="0"/>
                <a:ea typeface="Calibri" pitchFamily="34" charset="-122"/>
                <a:cs typeface="Calibri" pitchFamily="34" charset="-120"/>
              </a:rPr>
              <a:t>GitHub App check that blocks merging an unproven fix</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KAIZEN - AI security repair agent</dc:title>
  <dc:subject>PptxGenJS Presentation</dc:subject>
  <dc:creator>Team KAIZEN</dc:creator>
  <cp:lastModifiedBy>Team KAIZEN</cp:lastModifiedBy>
  <cp:revision>1</cp:revision>
  <dcterms:created xsi:type="dcterms:W3CDTF">2026-10-16T02:08:47Z</dcterms:created>
  <dcterms:modified xsi:type="dcterms:W3CDTF">2026-10-16T02:08:47Z</dcterms:modified>
</cp:coreProperties>
</file>